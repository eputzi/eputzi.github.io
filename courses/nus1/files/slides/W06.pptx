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ink/ink1.xml" ContentType="application/inkml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63" r:id="rId4"/>
    <p:sldId id="268" r:id="rId5"/>
    <p:sldId id="264" r:id="rId6"/>
    <p:sldId id="265" r:id="rId7"/>
    <p:sldId id="266" r:id="rId8"/>
    <p:sldId id="270" r:id="rId9"/>
    <p:sldId id="271" r:id="rId10"/>
    <p:sldId id="272" r:id="rId11"/>
    <p:sldId id="267" r:id="rId12"/>
    <p:sldId id="273" r:id="rId13"/>
    <p:sldId id="274" r:id="rId14"/>
    <p:sldId id="275" r:id="rId15"/>
    <p:sldId id="277" r:id="rId16"/>
    <p:sldId id="276" r:id="rId17"/>
    <p:sldId id="278" r:id="rId18"/>
    <p:sldId id="279" r:id="rId19"/>
    <p:sldId id="280" r:id="rId20"/>
    <p:sldId id="281" r:id="rId21"/>
    <p:sldId id="282" r:id="rId22"/>
    <p:sldId id="284" r:id="rId23"/>
    <p:sldId id="283" r:id="rId24"/>
    <p:sldId id="285" r:id="rId25"/>
    <p:sldId id="286" r:id="rId26"/>
    <p:sldId id="287" r:id="rId27"/>
    <p:sldId id="288" r:id="rId28"/>
    <p:sldId id="289" r:id="rId29"/>
    <p:sldId id="290" r:id="rId30"/>
    <p:sldId id="291" r:id="rId31"/>
    <p:sldId id="293" r:id="rId32"/>
    <p:sldId id="294" r:id="rId33"/>
    <p:sldId id="295" r:id="rId34"/>
    <p:sldId id="296" r:id="rId35"/>
    <p:sldId id="297" r:id="rId36"/>
    <p:sldId id="262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16:38:12.0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88 24575,'2'-2'0,"0"1"0,-1 0 0,1-1 0,0 1 0,-1-1 0,1 1 0,-1-1 0,0 0 0,1 1 0,-1-1 0,0 0 0,0 0 0,0 0 0,0 0 0,0-3 0,10-14 0,-7 15 0,0 0 0,0 1 0,1-1 0,-1 1 0,1 0 0,0 0 0,0 1 0,0 0 0,0 0 0,0 0 0,1 0 0,-1 1 0,9-2 0,-12 3 0,0 0 0,0-1 0,1 1 0,-1 0 0,0 0 0,0 0 0,1 1 0,-1-1 0,0 1 0,0-1 0,0 1 0,0-1 0,0 1 0,0 0 0,0 0 0,0 0 0,0 0 0,0 1 0,0-1 0,0 0 0,-1 1 0,1-1 0,-1 1 0,1 0 0,-1 0 0,1-1 0,-1 1 0,0 0 0,0 0 0,0 0 0,0 0 0,0 0 0,-1 0 0,1 0 0,0 4 0,1 5 0,0 1 0,-1-1 0,0 1 0,-1 0 0,-1-1 0,1 1 0,-5 18 0,4-25 0,0-1 0,0 0 0,-1 1 0,1-1 0,-1 0 0,0 0 0,-1 0 0,1 0 0,0 0 0,-1 0 0,0-1 0,0 1 0,0-1 0,0 0 0,-1 0 0,1 0 0,-1 0 0,0-1 0,0 1 0,0-1 0,-7 3 0,-31 12 0,40-16 0,0 0 0,0 0 0,0 0 0,0 0 0,1 0 0,-1 0 0,1 1 0,-1-1 0,1 0 0,-1 1 0,1-1 0,0 1 0,-1 0 0,1-1 0,0 1 0,0 0 0,0 0 0,0-1 0,0 3 0,1-3 0,0 0 0,1 0 0,-1 0 0,0-1 0,0 1 0,1 0 0,-1 0 0,0-1 0,1 1 0,-1 0 0,1-1 0,-1 1 0,1 0 0,-1-1 0,1 1 0,0-1 0,-1 1 0,1-1 0,0 1 0,-1-1 0,1 1 0,0-1 0,0 0 0,-1 1 0,1-1 0,0 0 0,0 0 0,0 0 0,-1 1 0,1-1 0,0 0 0,0 0 0,0 0 0,-1 0 0,1-1 0,0 1 0,0 0 0,1 0 0,32-5 0,-9 0-341,-1 0 0,1 2-1,42 0 1,-49 3-6485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91929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Cover. Pro Woche nur Übungsnummer, Thema und ggf. Website-Link ändern.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62DCA-5E3A-16B4-F0B2-2814C1128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4DD957-5065-5864-1DFD-3A89A39319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C7572A-3DD7-52F9-C12A-384082466C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6B0F93-E70D-EE46-4B89-7F7FF8035D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732424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6B370-71B6-65C9-EBD5-385289E9F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F33176-37E3-839C-A0F3-C1E08DA943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9B3366-4B17-99C6-4A10-292A385858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EFFD00-A239-2C0D-4876-14FDBA2506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4008121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4FEB5-7FE9-8D85-FDB8-7B06C61AF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C18DB8-F7EE-146D-4495-2E2E9957BA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AF7F40-0314-BCCD-CE87-804ECFDAF9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39ECC8-E140-4A72-FBE5-95F5EB2C2F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5226317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5113C-439B-2978-D66B-F5E8D703C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5EDFC5-AEC0-360D-E93D-43936CC83D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ADC18D-C5A1-4F65-3424-C403FC5D38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EF6D23-30CB-15FF-AB32-0CAE4E2888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2187425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93EB4-8045-AAA2-DA07-828D3ECE7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560ECE-7ADD-31B9-3E79-3920DA5425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E83319-0161-A996-C9C9-78A97A14D2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E3B9FF-8C50-F4E2-D181-31DE781A5D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8755153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2209E-F5E2-AC63-527A-61ACA9643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04D4D7-1AA0-21BD-EB1D-4ED48F6681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BF85CA-55E3-D5A6-4185-058F2EE722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796BBB-CC35-F458-5A97-ED203BD117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6020337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74634-8F30-8417-8100-00DBC3C80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819ED0-E928-31C2-513E-BD2CFCF2DD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CBDF9B-F6BE-2698-4159-AA2E0C0B57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30A2A0-A818-F592-98FB-66CDF6D4AF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0594843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0FC16-12E4-44F3-0B59-1322DC76D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3939AF-F3F7-7B00-6648-07C585DFD5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2D24A2-A46B-5DC5-35D9-CAEA55FC11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DA3F0A-0F3B-1ED1-FDA8-8748DFD1AF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967745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9D88D-63D4-0CC7-8A38-ED97F1C76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D6C56F-8599-56BD-14F1-2DFECEE70B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713E5E-BDA4-C462-1406-352FE53A73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5835B3-8F11-6093-49B5-D0FDA627A8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8269613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47696-C2A1-C709-4F36-B886CF30A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C8D78C-8383-D90C-D6C1-6BBB0B9CFC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77126E-CB6F-E8FD-420B-BFCE76C1D2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B41F27-2CC8-ADDA-DE38-D4E47A0E11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2979811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4A851-C675-12B5-9FB5-5A6564ABF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E03842-FDCE-8B99-9991-53CB34A4F8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B841D1-9252-9FC4-7386-11944F7CBB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18F134-92FC-12B7-5718-891D6C3523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9095497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58918-B881-3308-79D7-140A73621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7C0B1D-0D11-3245-28D4-338CA8DCDD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0A030A-2C03-ADDD-1302-5D83E99A66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2E9482-0A89-D9E4-C4B1-5C6AB15A7E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6174426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9A5A6-E793-5509-E67B-2662AF5D8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C6D273-4A48-A161-B356-E42ABB4314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63E6CA-5391-8E56-25C5-46A1986AE9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9D3896-ED42-CD9E-FDC0-A8D724CAEF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4248501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3D705-F9B2-4CB4-6EA2-B3A86E502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DD2F49-DBAF-3F83-1763-34A6277C6D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47B016-27CC-F4CA-80BD-2EE6F05313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D23D77-7C2D-08AF-9264-DEED36F4B7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52483339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C50D2-BBBE-2D3F-217D-9CB45B6F0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AC62BA-B070-0FBD-5DDE-3F6AE8734C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9C1D92-FB01-5E00-EC80-786E6F09AF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D6E67D-0728-BA67-B57F-33187B2636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5694016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03B99-577C-916E-C2DE-E8E0DF513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2F1257-78F1-2702-362F-3E1487AD29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D5C39C-19F7-AA55-47FC-014EBF7988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B46655-30B3-0715-04F5-7F28EA6A15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38419825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30488-686C-768A-F3CD-543943102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BA0621-FBF0-AFD5-0896-CAD2D4B467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F01E71-5CF7-9AC4-5A4F-6AA31302E5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A229BD-52CD-AD47-4340-BDED2AE292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32181045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6CF6F-490F-8EE0-B0A9-5BC68E5AA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6C17D5-2372-7BF4-8D62-B45777CA1D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E16399-2379-9691-26FA-29E8E32EBC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FBD9C9-CCDA-0952-E02C-B984B0F977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28106015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A45EB-E892-0328-A7EB-5A017B214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07707B-F9BA-382D-FA30-0AEFBFCE53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FD42AA-41AE-283E-3E09-B5EF6C4188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11E032-F87E-3D4B-3EFE-05B2A1EC6E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20540722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7FC99-A14C-CEF2-A39F-47554901B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6709A9-42BF-AB69-4A41-D25280FC2D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ADFEAC-4194-E499-2807-E8A7BCB348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D00447-45B5-05BE-786C-CBEFD0B410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63547844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02EFC-C676-4F82-1A77-C4024A18D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50B0C4-FD5E-BC76-DA8C-90AA1D53E6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A4AF76-8F8F-3AC6-48FA-58D3D0D5C6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2026AE-3E16-D23E-725E-E2B7D6456D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1272039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383F6-D9E6-227F-0291-86DFAC1A9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27E5F2-261B-E697-6589-AFE07FB7B5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F2A244-EE32-B3AB-7523-1E4A063545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5305D8-7C72-298E-9A0C-BB954F1F75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52332554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ED820-64CE-06F8-F549-C6FA24977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D33D95-E762-8C71-40D5-ECD6AC39CD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A5F622-F37A-9342-F5F2-D6011FF37F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2328BE-0483-0837-0A36-6C4ABB1A53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79223363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62BF0-3E98-757E-E553-299C4577A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79A54A-3AF4-FEB7-F5DF-D43DF73BC5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DB0F25-388B-A4BC-63DB-C6596AFDFF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6A4146-F241-56BB-B271-E4EE75BCC4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85883765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FDB76-68B2-BE5B-538C-849169E26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062E32-ECB5-FD3F-22CC-4F7DB3801C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4EE420-02F6-03A2-9324-886A04BADD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2F4B12-8506-904A-3192-A07C6F2160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31217685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96FD5-0072-DA75-AFA0-73B37DB77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7EC1E1-7167-3C19-1947-E94020442E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11A947-5556-D820-D03B-34156F9ED6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AF338F-1550-BF75-B280-7789EC474A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5467864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F1B50-00F9-47BC-9EA0-6A5608259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2D6005-E1EA-7BA9-40CF-CD53496748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EEA4EA-969E-E819-4733-D4030CA0C3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58FA9C-4AF2-7726-AD4D-3CED3413FB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86495010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1D9DA-1843-A89B-E164-7ADA34878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0D85FA-8F37-F62D-7EC5-C2123BB2EE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DF2C77-AB32-D6B9-D318-D1DDFF32DA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1AF27A-37EA-D8A2-755D-00787E8D65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90212323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81B96-793E-0C4F-44F7-E48BDBBCB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A2358F-E499-35AB-D550-4C9B7CB008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EE54AD-B819-E629-3D30-1E91107CC9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436F6D-7222-9183-BC7B-FE9632B354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95879092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D9B75-70D6-BCD5-ED76-7CED230D8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603F88-3F46-545A-A6FA-5A4F669A99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7FC39F-01B2-118C-D124-5BB70C5A3D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3559C0-958D-7B2C-9227-14E2F8EC8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50818073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4CBFC-000C-4CF4-7842-382F25A82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42FA8A-BCAC-6C46-2B23-1A0B1B2B0A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13BBDC-5C99-3728-EDFE-80FAA6D436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E80AEC-C459-ABD6-6BCD-0D5454AFDE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77462719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08DB4-B19C-EEE6-BEF1-95A09327C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18E9A3-B7C9-270F-0EED-6357C8DCF5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312F28-6785-5AA5-6CCC-F8D0698364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F0ED6-852E-2E94-4462-719283A3FE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43404517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32325-B1B7-32BB-A71F-03CCAB1D2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8F29C8-0318-E2E0-5F8F-965A8245A8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9F4DC0-42AA-C4B9-91F9-66AD3DFEA2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BFD2D8-3C40-139D-6D2B-632BBBB48D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0438755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Optional: QR-Code oder kurzer Link zum Fragen-Tool.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44F75-CD0C-484A-862E-FDC3036425F5}" type="datetime1">
              <a:rPr lang="de-CH" smtClean="0"/>
              <a:t>21.10.2026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W06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9E4B2-DEC4-4AFA-A330-68888CEB0D09}" type="datetime1">
              <a:rPr lang="de-CH" smtClean="0"/>
              <a:t>21.10.2026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W06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A3A34-8F24-4476-BFDD-77132854689D}" type="datetime1">
              <a:rPr lang="de-CH" smtClean="0"/>
              <a:t>21.10.2026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W06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DBA03-3A41-43C5-A218-45D2FCAA4B86}" type="datetime1">
              <a:rPr lang="de-CH" smtClean="0"/>
              <a:t>21.10.2026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W06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D0D69-C305-441A-B462-18062A0C9C4A}" type="datetime1">
              <a:rPr lang="de-CH" smtClean="0"/>
              <a:t>21.10.2026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W06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4631F-D222-423A-8BDD-71CEE1B5F411}" type="datetime1">
              <a:rPr lang="de-CH" smtClean="0"/>
              <a:t>21.10.2026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W06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FB94-B5B3-421B-9AF3-69435232F058}" type="datetime1">
              <a:rPr lang="de-CH" smtClean="0"/>
              <a:t>21.10.2026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W06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6065C-068D-4239-8E5B-7D101D5D8384}" type="datetime1">
              <a:rPr lang="de-CH" smtClean="0"/>
              <a:t>21.10.2026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W06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A394B-202A-4892-880C-893B88358C23}" type="datetime1">
              <a:rPr lang="de-CH" smtClean="0"/>
              <a:t>21.10.2026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W06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C3607-6FC4-4B5C-903B-B8140AA20FEC}" type="datetime1">
              <a:rPr lang="de-CH" smtClean="0"/>
              <a:t>21.10.2026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W06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864E2-358F-4DA1-B09E-5D0E61F2A806}" type="datetime1">
              <a:rPr lang="de-CH" smtClean="0"/>
              <a:t>21.10.2026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W06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A6555A-4B7A-4ADA-BEB0-647BA1B43D4C}" type="datetime1">
              <a:rPr lang="de-CH" smtClean="0"/>
              <a:t>21.10.2026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90426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Enrico Putzi W06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796732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customXml" Target="../ink/ink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png"/><Relationship Id="rId4" Type="http://schemas.openxmlformats.org/officeDocument/2006/relationships/image" Target="../media/image3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openxmlformats.org/officeDocument/2006/relationships/image" Target="../media/image55.png"/><Relationship Id="rId4" Type="http://schemas.openxmlformats.org/officeDocument/2006/relationships/image" Target="../media/image5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png"/><Relationship Id="rId5" Type="http://schemas.openxmlformats.org/officeDocument/2006/relationships/image" Target="../media/image60.png"/><Relationship Id="rId4" Type="http://schemas.openxmlformats.org/officeDocument/2006/relationships/image" Target="../media/image5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3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530352"/>
            <a:ext cx="2514600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486171" y="597537"/>
            <a:ext cx="730969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50" b="1" dirty="0">
                <a:solidFill>
                  <a:srgbClr val="737373"/>
                </a:solidFill>
                <a:latin typeface="Aptos"/>
              </a:rPr>
              <a:t>ENRICO PUTZI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7955279" cy="1508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300" b="1" dirty="0" err="1">
                <a:solidFill>
                  <a:srgbClr val="171717"/>
                </a:solidFill>
                <a:latin typeface="Aptos"/>
              </a:rPr>
              <a:t>Netzwerke</a:t>
            </a:r>
            <a:r>
              <a:rPr sz="4300" b="1" dirty="0">
                <a:solidFill>
                  <a:srgbClr val="171717"/>
                </a:solidFill>
                <a:latin typeface="Aptos"/>
              </a:rPr>
              <a:t>
und </a:t>
            </a:r>
            <a:r>
              <a:rPr sz="4300" b="1" dirty="0" err="1">
                <a:solidFill>
                  <a:srgbClr val="171717"/>
                </a:solidFill>
                <a:latin typeface="Aptos"/>
              </a:rPr>
              <a:t>Schaltungen</a:t>
            </a:r>
            <a:r>
              <a:rPr sz="4300" b="1" dirty="0">
                <a:solidFill>
                  <a:srgbClr val="171717"/>
                </a:solidFill>
                <a:latin typeface="Aptos"/>
              </a:rPr>
              <a:t>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3255264"/>
            <a:ext cx="1139736" cy="3231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dirty="0" err="1">
                <a:solidFill>
                  <a:srgbClr val="737373"/>
                </a:solidFill>
                <a:latin typeface="Aptos"/>
              </a:rPr>
              <a:t>Übung</a:t>
            </a:r>
            <a:r>
              <a:rPr sz="2100" b="1" dirty="0">
                <a:solidFill>
                  <a:srgbClr val="737373"/>
                </a:solidFill>
                <a:latin typeface="Aptos"/>
              </a:rPr>
              <a:t> </a:t>
            </a:r>
            <a:r>
              <a:rPr lang="de-CH" sz="2100" b="1" dirty="0">
                <a:solidFill>
                  <a:srgbClr val="737373"/>
                </a:solidFill>
                <a:latin typeface="Aptos"/>
              </a:rPr>
              <a:t>06</a:t>
            </a:r>
            <a:endParaRPr sz="210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12648" y="3712463"/>
            <a:ext cx="4849213" cy="2616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1700" b="0" dirty="0">
                <a:solidFill>
                  <a:srgbClr val="737373"/>
                </a:solidFill>
                <a:latin typeface="Aptos"/>
              </a:rPr>
              <a:t>Quellen, Leistungsanpassung und Netzwerkanalyse</a:t>
            </a:r>
            <a:endParaRPr sz="1700" b="0" dirty="0">
              <a:solidFill>
                <a:srgbClr val="737373"/>
              </a:solidFill>
              <a:latin typeface="Aptos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621792" y="4498848"/>
            <a:ext cx="2121408" cy="0"/>
          </a:xfrm>
          <a:prstGeom prst="line">
            <a:avLst/>
          </a:prstGeom>
          <a:ln w="2540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21792" y="4736592"/>
            <a:ext cx="2981585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de-CH" sz="1100" dirty="0">
                <a:solidFill>
                  <a:srgbClr val="737373"/>
                </a:solidFill>
                <a:latin typeface="Aptos"/>
              </a:rPr>
              <a:t>https://eputzi.github.io/courses/nus1/index.html</a:t>
            </a:r>
            <a:endParaRPr sz="1100" b="0" dirty="0">
              <a:solidFill>
                <a:srgbClr val="737373"/>
              </a:solidFill>
              <a:latin typeface="Aptos"/>
            </a:endParaRP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FC2376DB-FD73-E522-DD12-8C3D47FFD6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3435" y="236574"/>
            <a:ext cx="2689505" cy="2689505"/>
          </a:xfrm>
          <a:prstGeom prst="rect">
            <a:avLst/>
          </a:prstGeom>
        </p:spPr>
      </p:pic>
      <p:sp>
        <p:nvSpPr>
          <p:cNvPr id="15" name="TextBox 7">
            <a:extLst>
              <a:ext uri="{FF2B5EF4-FFF2-40B4-BE49-F238E27FC236}">
                <a16:creationId xmlns:a16="http://schemas.microsoft.com/office/drawing/2014/main" id="{568BB238-676F-2AD1-5311-843CEFE0748F}"/>
              </a:ext>
            </a:extLst>
          </p:cNvPr>
          <p:cNvSpPr txBox="1"/>
          <p:nvPr/>
        </p:nvSpPr>
        <p:spPr>
          <a:xfrm>
            <a:off x="10171249" y="2926079"/>
            <a:ext cx="573875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de-CH" sz="1100" dirty="0">
                <a:solidFill>
                  <a:srgbClr val="737373"/>
                </a:solidFill>
                <a:latin typeface="Aptos"/>
              </a:rPr>
              <a:t>Webseite</a:t>
            </a:r>
            <a:endParaRPr sz="1100" b="0" dirty="0">
              <a:solidFill>
                <a:srgbClr val="737373"/>
              </a:solidFill>
              <a:latin typeface="Aptos"/>
            </a:endParaRP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A10E91CE-7B15-F9A8-AE20-F447081B85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3435" y="3246120"/>
            <a:ext cx="2689505" cy="2689505"/>
          </a:xfrm>
          <a:prstGeom prst="rect">
            <a:avLst/>
          </a:prstGeom>
        </p:spPr>
      </p:pic>
      <p:sp>
        <p:nvSpPr>
          <p:cNvPr id="19" name="TextBox 7">
            <a:extLst>
              <a:ext uri="{FF2B5EF4-FFF2-40B4-BE49-F238E27FC236}">
                <a16:creationId xmlns:a16="http://schemas.microsoft.com/office/drawing/2014/main" id="{D71EEF3B-ED6D-524B-767C-8CC0B281E789}"/>
              </a:ext>
            </a:extLst>
          </p:cNvPr>
          <p:cNvSpPr txBox="1"/>
          <p:nvPr/>
        </p:nvSpPr>
        <p:spPr>
          <a:xfrm>
            <a:off x="10249795" y="5850986"/>
            <a:ext cx="416781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de-CH" sz="1100" dirty="0">
                <a:solidFill>
                  <a:srgbClr val="737373"/>
                </a:solidFill>
                <a:latin typeface="Aptos"/>
              </a:rPr>
              <a:t>Fragen</a:t>
            </a:r>
            <a:endParaRPr sz="1100" b="0" dirty="0">
              <a:solidFill>
                <a:srgbClr val="737373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34724" y="542673"/>
            <a:ext cx="288542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Inhalt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4283417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Was machen wir heute?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4400" y="2761488"/>
            <a:ext cx="4393510" cy="15388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CH" sz="2000" b="0" dirty="0">
                <a:solidFill>
                  <a:srgbClr val="171717"/>
                </a:solidFill>
                <a:latin typeface="Aptos"/>
              </a:rPr>
              <a:t>Reale Spannungs- und Stromquellen</a:t>
            </a:r>
            <a:r>
              <a:rPr sz="2000" b="0" dirty="0">
                <a:solidFill>
                  <a:srgbClr val="171717"/>
                </a:solidFill>
                <a:latin typeface="Aptos"/>
              </a:rPr>
              <a:t>
</a:t>
            </a:r>
            <a:r>
              <a:rPr lang="de-CH" sz="2000" b="0" dirty="0">
                <a:solidFill>
                  <a:srgbClr val="171717"/>
                </a:solidFill>
                <a:latin typeface="Aptos"/>
              </a:rPr>
              <a:t>Leistungsanpassung</a:t>
            </a:r>
            <a:r>
              <a:rPr sz="2000" b="0" dirty="0">
                <a:solidFill>
                  <a:srgbClr val="171717"/>
                </a:solidFill>
                <a:latin typeface="Aptos"/>
              </a:rPr>
              <a:t>
</a:t>
            </a:r>
            <a:r>
              <a:rPr lang="de-CH" sz="2000" dirty="0">
                <a:solidFill>
                  <a:srgbClr val="171717"/>
                </a:solidFill>
                <a:latin typeface="Aptos"/>
              </a:rPr>
              <a:t>Netzwerkumwandlung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CH" sz="2000" dirty="0">
                <a:solidFill>
                  <a:srgbClr val="171717"/>
                </a:solidFill>
                <a:latin typeface="Aptos"/>
              </a:rPr>
              <a:t>Überlagerungsprinzip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CH" sz="2000" b="0" dirty="0">
                <a:solidFill>
                  <a:srgbClr val="171717"/>
                </a:solidFill>
                <a:latin typeface="Aptos"/>
              </a:rPr>
              <a:t>Netzwerkanalyse</a:t>
            </a:r>
            <a:endParaRPr sz="2000" b="0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FA1345AC-CE9B-7FE2-5382-D92AEFB1F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E0FE1-AF03-4944-8B59-6F3340FFC6D2}" type="datetime1">
              <a:rPr lang="de-CH" smtClean="0"/>
              <a:t>21.10.2026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5890F6DA-FF1C-B12F-C9A4-D27FAC23D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Enrico Putzi W06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00071AF8-AC7C-5E34-152B-776853FD6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C8081B2-94B4-CCBB-C2BE-58AAF8A233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4092" y="208432"/>
            <a:ext cx="2572109" cy="2553056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A0940231-63B6-80BB-CC9D-09DFDE295B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9816" y="3156368"/>
            <a:ext cx="2538767" cy="2233925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42449994-9566-A58B-A4C3-88607BD820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3364" y="4300371"/>
            <a:ext cx="2762636" cy="10955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D1D3E4-14B6-E74E-8F47-EB8652CD6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25B1A1EE-67A7-218C-88BE-7521B729D2E8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2D4570-A7FD-2923-67A4-D80F8FCEF622}"/>
              </a:ext>
            </a:extLst>
          </p:cNvPr>
          <p:cNvSpPr txBox="1"/>
          <p:nvPr/>
        </p:nvSpPr>
        <p:spPr>
          <a:xfrm>
            <a:off x="893847" y="542673"/>
            <a:ext cx="370294" cy="1308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Theorie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FAB37C-B1F4-C442-5C6B-2C278E003121}"/>
              </a:ext>
            </a:extLst>
          </p:cNvPr>
          <p:cNvSpPr txBox="1"/>
          <p:nvPr/>
        </p:nvSpPr>
        <p:spPr>
          <a:xfrm>
            <a:off x="594360" y="932688"/>
            <a:ext cx="4342792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Reale vs. Ideale Quellen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417472-1392-E920-D4E0-99D2C7769D1F}"/>
              </a:ext>
            </a:extLst>
          </p:cNvPr>
          <p:cNvSpPr txBox="1"/>
          <p:nvPr/>
        </p:nvSpPr>
        <p:spPr>
          <a:xfrm>
            <a:off x="1099370" y="4706762"/>
            <a:ext cx="3332772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2000" dirty="0">
                <a:solidFill>
                  <a:srgbClr val="171717"/>
                </a:solidFill>
                <a:latin typeface="Aptos"/>
              </a:rPr>
              <a:t>Besitzt einen Innenwiderstand</a:t>
            </a:r>
            <a:endParaRPr sz="2000" b="0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116F2CDE-D424-DFFA-C252-2953D0D84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E0FE1-AF03-4944-8B59-6F3340FFC6D2}" type="datetime1">
              <a:rPr lang="de-CH" smtClean="0"/>
              <a:t>21.10.2026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ED54B423-4A1E-442F-AC36-4E7E1EBE5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Enrico Putzi W06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9B462E26-55E7-EBD4-0157-A63479746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E893EB9A-F82C-2C53-C619-E73FADCB33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0431"/>
          <a:stretch>
            <a:fillRect/>
          </a:stretch>
        </p:blipFill>
        <p:spPr>
          <a:xfrm>
            <a:off x="7470130" y="1764509"/>
            <a:ext cx="2405390" cy="2842286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1D9A58EF-DF50-313E-FC35-EBE4F54EE1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3957" y="1574334"/>
            <a:ext cx="2873685" cy="2860065"/>
          </a:xfrm>
          <a:prstGeom prst="rect">
            <a:avLst/>
          </a:prstGeom>
        </p:spPr>
      </p:pic>
      <p:sp>
        <p:nvSpPr>
          <p:cNvPr id="13" name="TextBox 10">
            <a:extLst>
              <a:ext uri="{FF2B5EF4-FFF2-40B4-BE49-F238E27FC236}">
                <a16:creationId xmlns:a16="http://schemas.microsoft.com/office/drawing/2014/main" id="{0CF2DCA9-583C-ED96-F939-644044CDD77A}"/>
              </a:ext>
            </a:extLst>
          </p:cNvPr>
          <p:cNvSpPr txBox="1"/>
          <p:nvPr/>
        </p:nvSpPr>
        <p:spPr>
          <a:xfrm>
            <a:off x="7485250" y="4706762"/>
            <a:ext cx="2390270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2000" dirty="0">
                <a:solidFill>
                  <a:srgbClr val="171717"/>
                </a:solidFill>
                <a:latin typeface="Aptos"/>
              </a:rPr>
              <a:t>Kein Innenwiderstand</a:t>
            </a:r>
            <a:endParaRPr sz="2000" b="0" dirty="0">
              <a:solidFill>
                <a:srgbClr val="171717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4182677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894A71-249B-154E-A312-3F55D14F9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9C88D953-06F4-0250-45CF-CCFA403D755F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A88844-272F-A32C-521F-16C1E61EA633}"/>
              </a:ext>
            </a:extLst>
          </p:cNvPr>
          <p:cNvSpPr txBox="1"/>
          <p:nvPr/>
        </p:nvSpPr>
        <p:spPr>
          <a:xfrm>
            <a:off x="893847" y="542673"/>
            <a:ext cx="370294" cy="1308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Theorie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008461-9601-2154-EB4A-56EDAFE5A33B}"/>
              </a:ext>
            </a:extLst>
          </p:cNvPr>
          <p:cNvSpPr txBox="1"/>
          <p:nvPr/>
        </p:nvSpPr>
        <p:spPr>
          <a:xfrm>
            <a:off x="594360" y="932688"/>
            <a:ext cx="2542363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Reale Quellen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86C350-F575-78A5-2B11-39E0F5C7627C}"/>
              </a:ext>
            </a:extLst>
          </p:cNvPr>
          <p:cNvSpPr txBox="1"/>
          <p:nvPr/>
        </p:nvSpPr>
        <p:spPr>
          <a:xfrm>
            <a:off x="4695916" y="3211269"/>
            <a:ext cx="3903184" cy="9233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2000" dirty="0">
                <a:solidFill>
                  <a:srgbClr val="171717"/>
                </a:solidFill>
                <a:latin typeface="Aptos"/>
              </a:rPr>
              <a:t>Gegeben durch:</a:t>
            </a:r>
            <a:br>
              <a:rPr lang="de-CH" sz="2000" dirty="0">
                <a:solidFill>
                  <a:srgbClr val="171717"/>
                </a:solidFill>
                <a:latin typeface="Aptos"/>
              </a:rPr>
            </a:br>
            <a:r>
              <a:rPr lang="de-CH" sz="2000" dirty="0">
                <a:solidFill>
                  <a:srgbClr val="171717"/>
                </a:solidFill>
                <a:latin typeface="Aptos"/>
              </a:rPr>
              <a:t>Leerlaufspannung (Quellspannung)</a:t>
            </a:r>
            <a:br>
              <a:rPr lang="de-CH" sz="2000" dirty="0">
                <a:solidFill>
                  <a:srgbClr val="171717"/>
                </a:solidFill>
                <a:latin typeface="Aptos"/>
              </a:rPr>
            </a:br>
            <a:r>
              <a:rPr lang="de-CH" sz="2000" dirty="0">
                <a:solidFill>
                  <a:srgbClr val="171717"/>
                </a:solidFill>
                <a:latin typeface="Aptos"/>
              </a:rPr>
              <a:t>Innenwiderstand</a:t>
            </a:r>
            <a:endParaRPr sz="2000" b="0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49009657-E0EA-27D2-F523-A125BB0CD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E0FE1-AF03-4944-8B59-6F3340FFC6D2}" type="datetime1">
              <a:rPr lang="de-CH" smtClean="0"/>
              <a:t>21.10.2026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63B90543-143C-764B-4755-A3BF44D8F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Enrico Putzi W06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1C454B1B-27DF-CE98-9F94-EC264CF65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22A3ACB4-FD9F-0786-1311-61806A34DC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6201" y="2773653"/>
            <a:ext cx="2734854" cy="2721892"/>
          </a:xfrm>
          <a:prstGeom prst="rect">
            <a:avLst/>
          </a:prstGeom>
        </p:spPr>
      </p:pic>
      <p:sp>
        <p:nvSpPr>
          <p:cNvPr id="13" name="TextBox 10">
            <a:extLst>
              <a:ext uri="{FF2B5EF4-FFF2-40B4-BE49-F238E27FC236}">
                <a16:creationId xmlns:a16="http://schemas.microsoft.com/office/drawing/2014/main" id="{9AD02FB2-CC62-E903-A68A-BD70CAFD6927}"/>
              </a:ext>
            </a:extLst>
          </p:cNvPr>
          <p:cNvSpPr txBox="1"/>
          <p:nvPr/>
        </p:nvSpPr>
        <p:spPr>
          <a:xfrm>
            <a:off x="9085450" y="2408865"/>
            <a:ext cx="2043508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2000" dirty="0">
                <a:solidFill>
                  <a:srgbClr val="171717"/>
                </a:solidFill>
                <a:latin typeface="Aptos"/>
              </a:rPr>
              <a:t>Reale Stromquelle</a:t>
            </a:r>
            <a:endParaRPr sz="2000" b="0" dirty="0">
              <a:solidFill>
                <a:srgbClr val="171717"/>
              </a:solidFill>
              <a:latin typeface="Aptos"/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D7EFBDF9-2351-EB84-63AD-C2FD5033EE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7207" y="136525"/>
            <a:ext cx="2551672" cy="2247306"/>
          </a:xfrm>
          <a:prstGeom prst="rect">
            <a:avLst/>
          </a:prstGeom>
        </p:spPr>
      </p:pic>
      <p:sp>
        <p:nvSpPr>
          <p:cNvPr id="9" name="TextBox 10">
            <a:extLst>
              <a:ext uri="{FF2B5EF4-FFF2-40B4-BE49-F238E27FC236}">
                <a16:creationId xmlns:a16="http://schemas.microsoft.com/office/drawing/2014/main" id="{0C1BFC70-7CFC-201A-0FAE-8AD30F8E79EF}"/>
              </a:ext>
            </a:extLst>
          </p:cNvPr>
          <p:cNvSpPr txBox="1"/>
          <p:nvPr/>
        </p:nvSpPr>
        <p:spPr>
          <a:xfrm>
            <a:off x="8961289" y="5464282"/>
            <a:ext cx="2614498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2000" dirty="0">
                <a:solidFill>
                  <a:srgbClr val="171717"/>
                </a:solidFill>
                <a:latin typeface="Aptos"/>
              </a:rPr>
              <a:t>Reale Spannungsquelle</a:t>
            </a:r>
            <a:endParaRPr sz="2000" b="0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4" name="TextBox 10">
            <a:extLst>
              <a:ext uri="{FF2B5EF4-FFF2-40B4-BE49-F238E27FC236}">
                <a16:creationId xmlns:a16="http://schemas.microsoft.com/office/drawing/2014/main" id="{C5703FBC-68EC-3DEC-5F7A-F1686EED4CAD}"/>
              </a:ext>
            </a:extLst>
          </p:cNvPr>
          <p:cNvSpPr txBox="1"/>
          <p:nvPr/>
        </p:nvSpPr>
        <p:spPr>
          <a:xfrm>
            <a:off x="4695916" y="439125"/>
            <a:ext cx="3436133" cy="9233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2000" dirty="0">
                <a:solidFill>
                  <a:srgbClr val="171717"/>
                </a:solidFill>
                <a:latin typeface="Aptos"/>
              </a:rPr>
              <a:t>Gegeben durch:</a:t>
            </a:r>
            <a:br>
              <a:rPr lang="de-CH" sz="2000" dirty="0">
                <a:solidFill>
                  <a:srgbClr val="171717"/>
                </a:solidFill>
                <a:latin typeface="Aptos"/>
              </a:rPr>
            </a:br>
            <a:r>
              <a:rPr lang="de-CH" sz="2000" dirty="0">
                <a:solidFill>
                  <a:srgbClr val="171717"/>
                </a:solidFill>
                <a:latin typeface="Aptos"/>
              </a:rPr>
              <a:t>Kurzschlussstrom (Quellstrom)</a:t>
            </a:r>
            <a:br>
              <a:rPr lang="de-CH" sz="2000" dirty="0">
                <a:solidFill>
                  <a:srgbClr val="171717"/>
                </a:solidFill>
                <a:latin typeface="Aptos"/>
              </a:rPr>
            </a:br>
            <a:r>
              <a:rPr lang="de-CH" sz="2000" dirty="0">
                <a:solidFill>
                  <a:srgbClr val="171717"/>
                </a:solidFill>
                <a:latin typeface="Aptos"/>
              </a:rPr>
              <a:t>Innenwiderstand</a:t>
            </a:r>
            <a:endParaRPr sz="2000" b="0" dirty="0">
              <a:solidFill>
                <a:srgbClr val="171717"/>
              </a:solidFill>
              <a:latin typeface="Aptos"/>
            </a:endParaRPr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D2DF36C0-6B66-AB22-91A0-D0FF1AE23B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6636" y="4382542"/>
            <a:ext cx="1590897" cy="447737"/>
          </a:xfrm>
          <a:prstGeom prst="rect">
            <a:avLst/>
          </a:prstGeom>
        </p:spPr>
      </p:pic>
      <p:sp>
        <p:nvSpPr>
          <p:cNvPr id="21" name="TextBox 10">
            <a:extLst>
              <a:ext uri="{FF2B5EF4-FFF2-40B4-BE49-F238E27FC236}">
                <a16:creationId xmlns:a16="http://schemas.microsoft.com/office/drawing/2014/main" id="{E76A72B3-EA39-44B2-93EF-9DA292B972A9}"/>
              </a:ext>
            </a:extLst>
          </p:cNvPr>
          <p:cNvSpPr txBox="1"/>
          <p:nvPr/>
        </p:nvSpPr>
        <p:spPr>
          <a:xfrm>
            <a:off x="594360" y="2101088"/>
            <a:ext cx="5282728" cy="123110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CH" sz="2000" b="0" dirty="0">
                <a:solidFill>
                  <a:srgbClr val="171717"/>
                </a:solidFill>
                <a:latin typeface="Aptos"/>
              </a:rPr>
              <a:t>Können ineinander </a:t>
            </a:r>
            <a:r>
              <a:rPr lang="de-CH" sz="2000" dirty="0">
                <a:solidFill>
                  <a:srgbClr val="171717"/>
                </a:solidFill>
                <a:latin typeface="Aptos"/>
              </a:rPr>
              <a:t>u</a:t>
            </a:r>
            <a:r>
              <a:rPr lang="de-CH" sz="2000" b="0" dirty="0">
                <a:solidFill>
                  <a:srgbClr val="171717"/>
                </a:solidFill>
                <a:latin typeface="Aptos"/>
              </a:rPr>
              <a:t>mgewandelt werden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CH" sz="2000" dirty="0">
                <a:solidFill>
                  <a:srgbClr val="171717"/>
                </a:solidFill>
                <a:latin typeface="Aptos"/>
              </a:rPr>
              <a:t>Haben identisches Klemmverhalten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CH" sz="2000" dirty="0">
                <a:solidFill>
                  <a:srgbClr val="171717"/>
                </a:solidFill>
                <a:latin typeface="Aptos"/>
              </a:rPr>
              <a:t>Widerstände sind identisch bei Umwandlung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sz="2000" b="0" dirty="0">
              <a:solidFill>
                <a:srgbClr val="171717"/>
              </a:solidFill>
              <a:latin typeface="Aptos"/>
            </a:endParaRPr>
          </a:p>
        </p:txBody>
      </p:sp>
      <p:pic>
        <p:nvPicPr>
          <p:cNvPr id="23" name="Grafik 22">
            <a:extLst>
              <a:ext uri="{FF2B5EF4-FFF2-40B4-BE49-F238E27FC236}">
                <a16:creationId xmlns:a16="http://schemas.microsoft.com/office/drawing/2014/main" id="{B7291F36-2FE8-3E15-14F8-521960B7C6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29629" y="1418868"/>
            <a:ext cx="1638529" cy="49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9241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A0D1C-A366-D313-A496-4E09C187B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42809B8-4F98-FA2F-5471-6F8DA8E68A96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2D55B6-FF56-7440-98F2-EE7B93F29B48}"/>
              </a:ext>
            </a:extLst>
          </p:cNvPr>
          <p:cNvSpPr txBox="1"/>
          <p:nvPr/>
        </p:nvSpPr>
        <p:spPr>
          <a:xfrm>
            <a:off x="893847" y="542673"/>
            <a:ext cx="370294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Theorie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AB352D-8823-9508-4C47-B78C14B2F5E0}"/>
              </a:ext>
            </a:extLst>
          </p:cNvPr>
          <p:cNvSpPr txBox="1"/>
          <p:nvPr/>
        </p:nvSpPr>
        <p:spPr>
          <a:xfrm>
            <a:off x="594360" y="932688"/>
            <a:ext cx="3724802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Leistungsanpassung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649CE73-9DDF-1F35-B4B1-A012E5BD3EE1}"/>
                  </a:ext>
                </a:extLst>
              </p:cNvPr>
              <p:cNvSpPr txBox="1"/>
              <p:nvPr/>
            </p:nvSpPr>
            <p:spPr>
              <a:xfrm>
                <a:off x="912135" y="2585767"/>
                <a:ext cx="5900974" cy="178863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lang="de-CH" sz="2000" dirty="0">
                    <a:solidFill>
                      <a:srgbClr val="171717"/>
                    </a:solidFill>
                    <a:latin typeface="Aptos"/>
                  </a:rPr>
                  <a:t>Wegen Innenwiderstand wird’s jetzt begrenzt</a:t>
                </a:r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lang="de-CH" sz="2000" dirty="0">
                    <a:solidFill>
                      <a:srgbClr val="171717"/>
                    </a:solidFill>
                    <a:latin typeface="Aptos"/>
                  </a:rPr>
                  <a:t>Leistung maximal wenn R</a:t>
                </a:r>
                <a:r>
                  <a:rPr lang="de-CH" sz="2000" baseline="-25000" dirty="0">
                    <a:solidFill>
                      <a:srgbClr val="171717"/>
                    </a:solidFill>
                    <a:latin typeface="Aptos"/>
                  </a:rPr>
                  <a:t>i</a:t>
                </a:r>
                <a:r>
                  <a:rPr lang="de-CH" sz="2000" dirty="0">
                    <a:solidFill>
                      <a:srgbClr val="171717"/>
                    </a:solidFill>
                    <a:latin typeface="Aptos"/>
                  </a:rPr>
                  <a:t> = R</a:t>
                </a:r>
                <a:r>
                  <a:rPr lang="de-CH" sz="2000" baseline="-25000" dirty="0">
                    <a:solidFill>
                      <a:srgbClr val="171717"/>
                    </a:solidFill>
                    <a:latin typeface="Aptos"/>
                  </a:rPr>
                  <a:t>L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de-CH" sz="2000" dirty="0">
                    <a:solidFill>
                      <a:srgbClr val="171717"/>
                    </a:solidFill>
                    <a:latin typeface="Aptos"/>
                  </a:rPr>
                  <a:t>Wirkungsgrad: Wie viel Leistung bekomme ich</a:t>
                </a:r>
                <a:br>
                  <a:rPr lang="de-CH" sz="2000" dirty="0">
                    <a:solidFill>
                      <a:srgbClr val="171717"/>
                    </a:solidFill>
                    <a:latin typeface="Aptos"/>
                  </a:rPr>
                </a:br>
                <a:r>
                  <a:rPr lang="de-CH" sz="2000" dirty="0">
                    <a:solidFill>
                      <a:srgbClr val="171717"/>
                    </a:solidFill>
                    <a:latin typeface="Aptos"/>
                  </a:rPr>
                  <a:t>geteilt durch investierte Leistung: </a:t>
                </a:r>
                <a14:m>
                  <m:oMath xmlns:m="http://schemas.openxmlformats.org/officeDocument/2006/math">
                    <m:r>
                      <a:rPr lang="de-CH" sz="2000">
                        <a:solidFill>
                          <a:srgbClr val="171717"/>
                        </a:solidFill>
                        <a:latin typeface="Cambria Math" panose="02040503050406030204" pitchFamily="18" charset="0"/>
                      </a:rPr>
                      <m:t>𝜂</m:t>
                    </m:r>
                    <m:r>
                      <a:rPr lang="de-CH" sz="2000">
                        <a:solidFill>
                          <a:srgbClr val="17171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CH" sz="2000" i="1">
                            <a:solidFill>
                              <a:srgbClr val="17171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CH" sz="2000">
                                <a:solidFill>
                                  <a:srgbClr val="17171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CH" sz="2000">
                                <a:solidFill>
                                  <a:srgbClr val="17171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de-CH" sz="2000">
                                <a:solidFill>
                                  <a:srgbClr val="171717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e-CH" sz="2000">
                                <a:solidFill>
                                  <a:srgbClr val="17171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CH" sz="2000">
                                <a:solidFill>
                                  <a:srgbClr val="17171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de-CH" sz="2000" i="0">
                                <a:solidFill>
                                  <a:srgbClr val="171717"/>
                                </a:solidFill>
                                <a:latin typeface="Aptos"/>
                              </a:rPr>
                              <m:t>ges</m:t>
                            </m:r>
                          </m:sub>
                        </m:sSub>
                      </m:den>
                    </m:f>
                    <m:r>
                      <a:rPr lang="de-CH" sz="2000">
                        <a:solidFill>
                          <a:srgbClr val="17171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CH" sz="2000" i="1">
                            <a:solidFill>
                              <a:srgbClr val="17171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CH" sz="2000">
                                <a:solidFill>
                                  <a:srgbClr val="17171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CH" sz="2000">
                                <a:solidFill>
                                  <a:srgbClr val="17171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de-CH" sz="2000">
                                <a:solidFill>
                                  <a:srgbClr val="171717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e-CH" sz="2000">
                                <a:solidFill>
                                  <a:srgbClr val="17171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CH" sz="2000">
                                <a:solidFill>
                                  <a:srgbClr val="17171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de-CH" sz="2000">
                                <a:solidFill>
                                  <a:srgbClr val="17171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de-CH" sz="2000">
                            <a:solidFill>
                              <a:srgbClr val="17171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de-CH" sz="2000">
                                <a:solidFill>
                                  <a:srgbClr val="17171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CH" sz="2000">
                                <a:solidFill>
                                  <a:srgbClr val="17171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de-CH" sz="2000">
                                <a:solidFill>
                                  <a:srgbClr val="171717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den>
                    </m:f>
                  </m:oMath>
                </a14:m>
                <a:br>
                  <a:rPr lang="de-CH" sz="2000" dirty="0">
                    <a:solidFill>
                      <a:srgbClr val="171717"/>
                    </a:solidFill>
                    <a:latin typeface="Aptos"/>
                  </a:rPr>
                </a:br>
                <a:endParaRPr sz="2000" dirty="0">
                  <a:solidFill>
                    <a:srgbClr val="171717"/>
                  </a:solidFill>
                  <a:latin typeface="Aptos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649CE73-9DDF-1F35-B4B1-A012E5BD3E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135" y="2585767"/>
                <a:ext cx="5900974" cy="1788631"/>
              </a:xfrm>
              <a:prstGeom prst="rect">
                <a:avLst/>
              </a:prstGeom>
              <a:blipFill>
                <a:blip r:embed="rId3"/>
                <a:stretch>
                  <a:fillRect l="-2479" t="-4422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52544CEC-A928-5033-5606-95FE2D984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E0FE1-AF03-4944-8B59-6F3340FFC6D2}" type="datetime1">
              <a:rPr lang="de-CH" smtClean="0"/>
              <a:t>21.10.2026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BE98EA32-A188-1DE9-26CE-FFB436B94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Enrico Putzi W06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DFE5F1CE-7D36-04A9-908A-95FC1884F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3F336AF8-7B46-63D5-A72F-9CA7130008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8331" y="542673"/>
            <a:ext cx="4639322" cy="3667637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6AAE9DC1-4799-753F-DC38-8B1A68E5EA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92" y="1574334"/>
            <a:ext cx="1943371" cy="981212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327777FC-F66E-8F44-D085-21D93A6880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41064" y="4101379"/>
            <a:ext cx="2738656" cy="2527990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A35087A0-4E87-FA9F-802A-ABBBCE111F8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31895" y="4082494"/>
            <a:ext cx="2609169" cy="2402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15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C7E56-C040-B519-2DCF-0CBF5BD5D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549F3D66-5A29-70B4-DB8D-5B6D2F22F201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F6D2DC-DBDA-9C9A-4E22-8117D488610E}"/>
              </a:ext>
            </a:extLst>
          </p:cNvPr>
          <p:cNvSpPr txBox="1"/>
          <p:nvPr/>
        </p:nvSpPr>
        <p:spPr>
          <a:xfrm>
            <a:off x="893847" y="542673"/>
            <a:ext cx="370294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Theorie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3132BB-EE12-E786-3B79-0851F8C1BDC2}"/>
              </a:ext>
            </a:extLst>
          </p:cNvPr>
          <p:cNvSpPr txBox="1"/>
          <p:nvPr/>
        </p:nvSpPr>
        <p:spPr>
          <a:xfrm>
            <a:off x="594360" y="932688"/>
            <a:ext cx="4053738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Netzwerkumwandlung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209AC5-5C10-E8D9-7585-E0EAA4BEB9B7}"/>
              </a:ext>
            </a:extLst>
          </p:cNvPr>
          <p:cNvSpPr txBox="1"/>
          <p:nvPr/>
        </p:nvSpPr>
        <p:spPr>
          <a:xfrm>
            <a:off x="597306" y="1629198"/>
            <a:ext cx="5654177" cy="15388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CH" sz="2000" b="0" dirty="0">
                <a:solidFill>
                  <a:srgbClr val="171717"/>
                </a:solidFill>
                <a:latin typeface="Aptos"/>
              </a:rPr>
              <a:t>Wir können Netzwerke in einfachere umwandeln</a:t>
            </a:r>
            <a:br>
              <a:rPr lang="de-CH" sz="2000" b="0" dirty="0">
                <a:solidFill>
                  <a:srgbClr val="171717"/>
                </a:solidFill>
                <a:latin typeface="Aptos"/>
              </a:rPr>
            </a:br>
            <a:r>
              <a:rPr lang="de-CH" sz="2000" b="0" dirty="0">
                <a:solidFill>
                  <a:srgbClr val="171717"/>
                </a:solidFill>
                <a:latin typeface="Aptos"/>
              </a:rPr>
              <a:t>ähnlich wie mit Ersatzwiderstandsberechnung</a:t>
            </a:r>
            <a:br>
              <a:rPr lang="de-CH" sz="2000" b="0" dirty="0">
                <a:solidFill>
                  <a:srgbClr val="171717"/>
                </a:solidFill>
                <a:latin typeface="Aptos"/>
              </a:rPr>
            </a:br>
            <a:r>
              <a:rPr lang="de-CH" sz="2000" b="0" dirty="0">
                <a:solidFill>
                  <a:srgbClr val="171717"/>
                </a:solidFill>
                <a:latin typeface="Aptos"/>
              </a:rPr>
              <a:t>jetzt einfach zusätzlich mit Quellen</a:t>
            </a:r>
            <a:br>
              <a:rPr lang="de-CH" sz="2000" b="0" dirty="0">
                <a:solidFill>
                  <a:srgbClr val="171717"/>
                </a:solidFill>
                <a:latin typeface="Aptos"/>
              </a:rPr>
            </a:br>
            <a:br>
              <a:rPr lang="de-CH" sz="2000" dirty="0">
                <a:solidFill>
                  <a:srgbClr val="171717"/>
                </a:solidFill>
                <a:latin typeface="Aptos"/>
              </a:rPr>
            </a:br>
            <a:endParaRPr sz="2000" b="0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5F8710AF-B5A6-65F5-FC14-A17A43A61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E0FE1-AF03-4944-8B59-6F3340FFC6D2}" type="datetime1">
              <a:rPr lang="de-CH" smtClean="0"/>
              <a:t>21.10.2026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3EB6604E-9325-53C1-6DB5-04E84349A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Enrico Putzi W06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56CE1226-ACBC-8848-70E8-E225A9AD7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665D8387-C880-9980-BE2B-7B2A03FC8F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8701" y="361108"/>
            <a:ext cx="4029637" cy="1143160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14F90418-EFA8-493A-1D32-5025266D3270}"/>
              </a:ext>
            </a:extLst>
          </p:cNvPr>
          <p:cNvSpPr txBox="1"/>
          <p:nvPr/>
        </p:nvSpPr>
        <p:spPr>
          <a:xfrm>
            <a:off x="804672" y="2682716"/>
            <a:ext cx="57318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>
                <a:solidFill>
                  <a:srgbClr val="171717"/>
                </a:solidFill>
                <a:latin typeface="Aptos"/>
              </a:rPr>
              <a:t>1. Leerlaufspannung oder Kurzschlussstrom bestimmen</a:t>
            </a:r>
            <a:br>
              <a:rPr lang="de-CH" dirty="0">
                <a:solidFill>
                  <a:srgbClr val="171717"/>
                </a:solidFill>
                <a:latin typeface="Aptos"/>
              </a:rPr>
            </a:br>
            <a:r>
              <a:rPr lang="de-CH" dirty="0">
                <a:solidFill>
                  <a:srgbClr val="171717"/>
                </a:solidFill>
                <a:latin typeface="Aptos"/>
              </a:rPr>
              <a:t>2. Innenwiderstand berechnen</a:t>
            </a:r>
            <a:endParaRPr lang="de-CH" dirty="0"/>
          </a:p>
        </p:txBody>
      </p:sp>
      <p:pic>
        <p:nvPicPr>
          <p:cNvPr id="12" name="Grafik 10" descr="Spannungsquelle mit Spannungsteiler">
            <a:extLst>
              <a:ext uri="{FF2B5EF4-FFF2-40B4-BE49-F238E27FC236}">
                <a16:creationId xmlns:a16="http://schemas.microsoft.com/office/drawing/2014/main" id="{D4D5A132-E012-059B-F99C-C3ED525A5B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3795399"/>
            <a:ext cx="4838589" cy="2350000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A19B9C30-07CC-FC4E-B4D3-05E1E0005D8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645"/>
          <a:stretch>
            <a:fillRect/>
          </a:stretch>
        </p:blipFill>
        <p:spPr>
          <a:xfrm>
            <a:off x="5907024" y="3883045"/>
            <a:ext cx="4956508" cy="1924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1688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262FB-BAC9-43B5-2785-EEC42CD43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AD89D086-9F03-9BB0-F6EE-D44846C1FDE6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402B1F-6426-F754-8D27-E78D859734B0}"/>
              </a:ext>
            </a:extLst>
          </p:cNvPr>
          <p:cNvSpPr txBox="1"/>
          <p:nvPr/>
        </p:nvSpPr>
        <p:spPr>
          <a:xfrm>
            <a:off x="873811" y="542673"/>
            <a:ext cx="410369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Aufgabe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67BA22-B43B-71C3-3578-DA4D45381F3D}"/>
              </a:ext>
            </a:extLst>
          </p:cNvPr>
          <p:cNvSpPr txBox="1"/>
          <p:nvPr/>
        </p:nvSpPr>
        <p:spPr>
          <a:xfrm>
            <a:off x="594360" y="932688"/>
            <a:ext cx="5133328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Umwandlung in Stromquelle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529C83EC-4E66-B136-06EB-66958E8B2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E0FE1-AF03-4944-8B59-6F3340FFC6D2}" type="datetime1">
              <a:rPr lang="de-CH" smtClean="0"/>
              <a:t>21.10.2026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E7C379D9-1815-C808-9404-3234B9425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Enrico Putzi W06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5EB37AF5-3C36-1CA1-20B2-6398AAFBB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9C12A588-F712-0AA3-E716-14137392501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04163" y="1412875"/>
                <a:ext cx="5256000" cy="4860000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/>
                  <a:buNone/>
                </a:pPr>
                <a:r>
                  <a:rPr lang="de-CH" sz="1600" dirty="0"/>
                  <a:t>Eine ideale Spannungsquelle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CH" sz="1600" i="1" smtClean="0">
                        <a:latin typeface="Cambria Math" panose="02040503050406030204" pitchFamily="18" charset="0"/>
                      </a:rPr>
                      <m:t>U</m:t>
                    </m:r>
                  </m:oMath>
                </a14:m>
                <a:r>
                  <a:rPr lang="de-CH" sz="1600" dirty="0"/>
                  <a:t> ist an einen Spannungsteiler mit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CH" sz="1600" dirty="0"/>
                  <a:t> und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CH" sz="1600" dirty="0"/>
                  <a:t> angeschlossen (oben).</a:t>
                </a:r>
              </a:p>
              <a:p>
                <a:pPr marL="0" indent="0">
                  <a:buFont typeface="Arial"/>
                  <a:buNone/>
                </a:pPr>
                <a:r>
                  <a:rPr lang="de-CH" sz="1600" dirty="0"/>
                  <a:t>Das Netzwerk soll durch eine Ersatzstromquelle (unten) ersetzt werden, die sich bezüglich der Klemmen A und B identisch verhält.</a:t>
                </a:r>
              </a:p>
              <a:p>
                <a:pPr marL="0" indent="0">
                  <a:buFont typeface="Arial"/>
                  <a:buNone/>
                </a:pPr>
                <a:endParaRPr lang="de-CH" sz="600" dirty="0"/>
              </a:p>
              <a:p>
                <a:pPr marL="0" indent="0">
                  <a:buFont typeface="Arial"/>
                  <a:buNone/>
                </a:pPr>
                <a:r>
                  <a:rPr lang="de-CH" sz="1600" dirty="0"/>
                  <a:t>Berechnet den Strom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CH" sz="1600" i="1" smtClean="0">
                        <a:latin typeface="Cambria Math" panose="02040503050406030204" pitchFamily="18" charset="0"/>
                      </a:rPr>
                      <m:t>I</m:t>
                    </m:r>
                  </m:oMath>
                </a14:m>
                <a:r>
                  <a:rPr lang="de-CH" sz="1600" dirty="0"/>
                  <a:t> und den Innenwiderstand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de-CH" sz="1600" dirty="0"/>
                  <a:t> der Ersatzstromquelle.</a:t>
                </a: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9C12A588-F712-0AA3-E716-1413739250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4163" y="1412875"/>
                <a:ext cx="5256000" cy="4860000"/>
              </a:xfrm>
              <a:prstGeom prst="rect">
                <a:avLst/>
              </a:prstGeom>
              <a:blipFill>
                <a:blip r:embed="rId3"/>
                <a:stretch>
                  <a:fillRect l="-696" t="-376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Grafik 10" descr="Spannungsquelle mit Spannungsteiler">
            <a:extLst>
              <a:ext uri="{FF2B5EF4-FFF2-40B4-BE49-F238E27FC236}">
                <a16:creationId xmlns:a16="http://schemas.microsoft.com/office/drawing/2014/main" id="{B39FDF4A-86F2-147C-B671-882B22A639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543" y="1412875"/>
            <a:ext cx="4838589" cy="2350000"/>
          </a:xfrm>
          <a:prstGeom prst="rect">
            <a:avLst/>
          </a:prstGeom>
        </p:spPr>
      </p:pic>
      <p:pic>
        <p:nvPicPr>
          <p:cNvPr id="7" name="Grafik 11" descr="Gesuchte Ersatzstromquelle">
            <a:extLst>
              <a:ext uri="{FF2B5EF4-FFF2-40B4-BE49-F238E27FC236}">
                <a16:creationId xmlns:a16="http://schemas.microsoft.com/office/drawing/2014/main" id="{E11DDB1F-5750-4E79-C96E-6DA6541849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543" y="3922875"/>
            <a:ext cx="4838589" cy="23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308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3D54579-5C4B-2DA5-4572-FFD18320E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FEC18C6-1A38-5CC7-2E90-B634FB3B11AD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E67B14-5965-BC0E-7FDE-5D2DDD9565D0}"/>
              </a:ext>
            </a:extLst>
          </p:cNvPr>
          <p:cNvSpPr txBox="1"/>
          <p:nvPr/>
        </p:nvSpPr>
        <p:spPr>
          <a:xfrm>
            <a:off x="873811" y="542673"/>
            <a:ext cx="410369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Aufgabe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824B7F-BF49-73FA-8982-6E93A1906812}"/>
              </a:ext>
            </a:extLst>
          </p:cNvPr>
          <p:cNvSpPr txBox="1"/>
          <p:nvPr/>
        </p:nvSpPr>
        <p:spPr>
          <a:xfrm>
            <a:off x="594360" y="932688"/>
            <a:ext cx="5133328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Umwandlung in Stromquelle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E92995DE-362E-D38E-C027-321DAFC17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E0FE1-AF03-4944-8B59-6F3340FFC6D2}" type="datetime1">
              <a:rPr lang="de-CH" smtClean="0"/>
              <a:t>21.10.2026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38C341B0-8159-1805-8726-03D632ACF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Enrico Putzi W06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60D7F61B-247F-665D-3F6E-85D0DABF2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5C76D3B8-ABF0-E463-EEDE-CC6C5639286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04163" y="1412875"/>
                <a:ext cx="5256000" cy="4860000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/>
                  <a:buNone/>
                </a:pPr>
                <a:r>
                  <a:rPr lang="de-CH" b="1" u="sng" dirty="0"/>
                  <a:t>Schlüsselkonzepte</a:t>
                </a:r>
              </a:p>
              <a:p>
                <a:pPr marL="0" indent="0">
                  <a:buFont typeface="Arial"/>
                  <a:buNone/>
                </a:pPr>
                <a:r>
                  <a:rPr lang="de-CH" sz="1600" dirty="0"/>
                  <a:t>Reale Spannungs- und Stromquellen und deren Ersatzschaltbilder (Kap. 3.6)</a:t>
                </a:r>
              </a:p>
              <a:p>
                <a:pPr marL="0" indent="0">
                  <a:buFont typeface="Arial"/>
                  <a:buNone/>
                </a:pPr>
                <a:endParaRPr lang="de-CH" sz="1000" dirty="0"/>
              </a:p>
              <a:p>
                <a:r>
                  <a:rPr lang="de-CH" sz="1600" dirty="0"/>
                  <a:t>Kurzschlussstrom: Klemmen A und B kurzschliessen (unten).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CH" sz="1600" dirty="0"/>
                  <a:t> ist überbrückt, die ganze Spannung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CH" sz="1600" i="1" smtClean="0">
                        <a:latin typeface="Cambria Math" panose="02040503050406030204" pitchFamily="18" charset="0"/>
                      </a:rPr>
                      <m:t>U</m:t>
                    </m:r>
                  </m:oMath>
                </a14:m>
                <a:r>
                  <a:rPr lang="de-CH" sz="1600" dirty="0"/>
                  <a:t> liegt 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CH" sz="1600" dirty="0"/>
                  <a:t>:</a:t>
                </a:r>
              </a:p>
              <a:p>
                <a:pPr marL="0" indent="0" algn="ctr">
                  <a:buFont typeface="Arial"/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de-CH" sz="1600" i="1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K</m:t>
                          </m:r>
                        </m:sub>
                      </m:sSub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U</m:t>
                          </m:r>
                        </m:num>
                        <m:den>
                          <m:sSub>
                            <m:sSubPr>
                              <m:ctrl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de-CH" sz="1600" dirty="0"/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5C76D3B8-ABF0-E463-EEDE-CC6C563928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4163" y="1412875"/>
                <a:ext cx="5256000" cy="4860000"/>
              </a:xfrm>
              <a:prstGeom prst="rect">
                <a:avLst/>
              </a:prstGeom>
              <a:blipFill>
                <a:blip r:embed="rId3"/>
                <a:stretch>
                  <a:fillRect l="-3016" t="-1631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Grafik 10" descr="Spannungsquelle mit Spannungsteiler">
            <a:extLst>
              <a:ext uri="{FF2B5EF4-FFF2-40B4-BE49-F238E27FC236}">
                <a16:creationId xmlns:a16="http://schemas.microsoft.com/office/drawing/2014/main" id="{585FB095-3501-073D-E453-8506EF16F6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543" y="1412875"/>
            <a:ext cx="4838589" cy="2350000"/>
          </a:xfrm>
          <a:prstGeom prst="rect">
            <a:avLst/>
          </a:prstGeom>
        </p:spPr>
      </p:pic>
      <p:pic>
        <p:nvPicPr>
          <p:cNvPr id="10" name="Grafik 11" descr="Klemmen kurzgeschlossen">
            <a:extLst>
              <a:ext uri="{FF2B5EF4-FFF2-40B4-BE49-F238E27FC236}">
                <a16:creationId xmlns:a16="http://schemas.microsoft.com/office/drawing/2014/main" id="{501C3A64-DA82-A6F1-FD9E-7EC603B057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543" y="3922875"/>
            <a:ext cx="4838589" cy="23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099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4C7A68B-5E11-A5BF-EFC1-50CA17910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409B87A-DDAD-F56F-7DDD-BA9C06BC9F47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A51BB6-7015-80B6-8727-BEED9319AA6A}"/>
              </a:ext>
            </a:extLst>
          </p:cNvPr>
          <p:cNvSpPr txBox="1"/>
          <p:nvPr/>
        </p:nvSpPr>
        <p:spPr>
          <a:xfrm>
            <a:off x="873811" y="542673"/>
            <a:ext cx="410369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Aufgabe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675747-422F-255F-0066-135C3F5BF903}"/>
              </a:ext>
            </a:extLst>
          </p:cNvPr>
          <p:cNvSpPr txBox="1"/>
          <p:nvPr/>
        </p:nvSpPr>
        <p:spPr>
          <a:xfrm>
            <a:off x="594360" y="932688"/>
            <a:ext cx="5133328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Umwandlung in Stromquelle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26F9B5EB-C77A-9239-373E-612349133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E0FE1-AF03-4944-8B59-6F3340FFC6D2}" type="datetime1">
              <a:rPr lang="de-CH" smtClean="0"/>
              <a:t>21.10.2026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8255E800-31B9-6E71-84A3-008136F7A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Enrico Putzi W06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636E8A22-1A48-A104-C6F1-21D07692B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216AAC6C-CD8F-ED1C-7D52-61CA678A10B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04163" y="1412875"/>
                <a:ext cx="5256000" cy="4860000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de-CH" sz="1600" dirty="0"/>
                  <a:t>Innenwiderstand: Quelle ausschalten, d.h. die Spannungsquelle durch einen Kurzschluss ersetzen (unten).</a:t>
                </a:r>
              </a:p>
              <a:p>
                <a:r>
                  <a:rPr lang="de-CH" sz="1600" dirty="0"/>
                  <a:t>Von den Klemmen aus gesehen sind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CH" sz="1600" dirty="0"/>
                  <a:t> und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CH" sz="1600" dirty="0"/>
                  <a:t> parallel:</a:t>
                </a:r>
              </a:p>
              <a:p>
                <a:pPr marL="0" indent="0" algn="ctr">
                  <a:buFont typeface="Arial"/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∥ </m:t>
                      </m:r>
                      <m:sSub>
                        <m:sSub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de-CH" sz="1600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216AAC6C-CD8F-ED1C-7D52-61CA678A10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4163" y="1412875"/>
                <a:ext cx="5256000" cy="4860000"/>
              </a:xfrm>
              <a:prstGeom prst="rect">
                <a:avLst/>
              </a:prstGeom>
              <a:blipFill>
                <a:blip r:embed="rId3"/>
                <a:stretch>
                  <a:fillRect l="-464" t="-376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Grafik 10" descr="Spannungsquelle mit Spannungsteiler">
            <a:extLst>
              <a:ext uri="{FF2B5EF4-FFF2-40B4-BE49-F238E27FC236}">
                <a16:creationId xmlns:a16="http://schemas.microsoft.com/office/drawing/2014/main" id="{625DF6F2-39AB-BD88-A97C-AEECE1DE59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543" y="1412875"/>
            <a:ext cx="4838589" cy="2350000"/>
          </a:xfrm>
          <a:prstGeom prst="rect">
            <a:avLst/>
          </a:prstGeom>
        </p:spPr>
      </p:pic>
      <p:pic>
        <p:nvPicPr>
          <p:cNvPr id="7" name="Grafik 11" descr="Quelle ausgeschaltet">
            <a:extLst>
              <a:ext uri="{FF2B5EF4-FFF2-40B4-BE49-F238E27FC236}">
                <a16:creationId xmlns:a16="http://schemas.microsoft.com/office/drawing/2014/main" id="{C76E8DDC-889E-3F27-2FBB-C2D4154683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543" y="3922875"/>
            <a:ext cx="4838589" cy="23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252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771F62E-267C-2F90-E3B9-358F6031A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5A448A7-E584-D4B2-D3FB-982D15F4A139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0A6CFE-9407-DC8C-2DD2-00E7BEECD7F1}"/>
              </a:ext>
            </a:extLst>
          </p:cNvPr>
          <p:cNvSpPr txBox="1"/>
          <p:nvPr/>
        </p:nvSpPr>
        <p:spPr>
          <a:xfrm>
            <a:off x="873811" y="542673"/>
            <a:ext cx="410369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Aufgabe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AA211B-107A-CAD8-9753-694D8C5AD8B4}"/>
              </a:ext>
            </a:extLst>
          </p:cNvPr>
          <p:cNvSpPr txBox="1"/>
          <p:nvPr/>
        </p:nvSpPr>
        <p:spPr>
          <a:xfrm>
            <a:off x="594360" y="932688"/>
            <a:ext cx="5133328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Umwandlung in Stromquelle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B465A30D-CB77-F0B9-59C2-EFFA3647C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E0FE1-AF03-4944-8B59-6F3340FFC6D2}" type="datetime1">
              <a:rPr lang="de-CH" smtClean="0"/>
              <a:t>21.10.2026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3CCF028E-7709-AC9A-BDC3-E4661A268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Enrico Putzi W06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C37F6E2C-6736-CEA4-CC8B-10C089AE8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438608B8-0A49-60B2-7985-C7EBF9B13E8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04163" y="1412875"/>
                <a:ext cx="5256000" cy="4860000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de-CH" sz="1600" dirty="0"/>
                  <a:t>Ersatzstromquelle (unten) mit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CH" sz="1600" i="1" smtClean="0">
                        <a:latin typeface="Cambria Math" panose="02040503050406030204" pitchFamily="18" charset="0"/>
                      </a:rPr>
                      <m:t>I</m:t>
                    </m:r>
                    <m:r>
                      <a:rPr lang="de-CH" sz="160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CH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U</m:t>
                        </m:r>
                      </m:num>
                      <m:den>
                        <m:sSub>
                          <m:sSubPr>
                            <m:ctrlPr>
                              <a:rPr lang="de-CH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CH" sz="1600" i="1" smtClean="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a:rPr lang="de-CH" sz="160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de-CH" sz="1600" dirty="0"/>
                  <a:t> und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de-CH" sz="160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CH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CH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CH" sz="1600" i="1" smtClean="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a:rPr lang="de-CH" sz="160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de-CH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CH" sz="1600" i="1" smtClean="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a:rPr lang="de-CH" sz="160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e-CH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CH" sz="1600" i="1" smtClean="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a:rPr lang="de-CH" sz="160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de-CH" sz="160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de-CH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CH" sz="1600" i="1" smtClean="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a:rPr lang="de-CH" sz="160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endParaRPr lang="de-CH" sz="1600" dirty="0"/>
              </a:p>
              <a:p>
                <a:pPr marL="0" indent="0">
                  <a:buFont typeface="Arial"/>
                  <a:buNone/>
                </a:pPr>
                <a:r>
                  <a:rPr lang="de-CH" sz="1600" dirty="0"/>
                  <a:t>Wie gross ist die Leerlaufspannung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L</m:t>
                        </m:r>
                      </m:sub>
                    </m:sSub>
                  </m:oMath>
                </a14:m>
                <a:r>
                  <a:rPr lang="de-CH" sz="1600" dirty="0"/>
                  <a:t> an den Klemmen?</a:t>
                </a:r>
              </a:p>
              <a:p>
                <a:r>
                  <a:rPr lang="de-CH" sz="1600" dirty="0"/>
                  <a:t>In beiden Netzwerken gleich:</a:t>
                </a:r>
              </a:p>
              <a:p>
                <a:pPr marL="0" indent="0" algn="ctr">
                  <a:buFont typeface="Arial"/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L</m:t>
                          </m:r>
                        </m:sub>
                      </m:sSub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⋅ </m:t>
                      </m:r>
                      <m:r>
                        <m:rPr>
                          <m:sty m:val="p"/>
                        </m:rPr>
                        <a:rPr lang="de-CH" sz="1600" i="1" smtClean="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⋅ </m:t>
                      </m:r>
                      <m:r>
                        <m:rPr>
                          <m:sty m:val="p"/>
                        </m:rPr>
                        <a:rPr lang="de-CH" sz="1600" i="1" smtClean="0">
                          <a:latin typeface="Cambria Math" panose="02040503050406030204" pitchFamily="18" charset="0"/>
                        </a:rPr>
                        <m:t>I</m:t>
                      </m:r>
                    </m:oMath>
                  </m:oMathPara>
                </a14:m>
                <a:endParaRPr lang="de-CH" sz="1600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438608B8-0A49-60B2-7985-C7EBF9B13E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4163" y="1412875"/>
                <a:ext cx="5256000" cy="4860000"/>
              </a:xfrm>
              <a:prstGeom prst="rect">
                <a:avLst/>
              </a:prstGeom>
              <a:blipFill>
                <a:blip r:embed="rId3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Grafik 10" descr="Spannungsquelle mit Spannungsteiler">
            <a:extLst>
              <a:ext uri="{FF2B5EF4-FFF2-40B4-BE49-F238E27FC236}">
                <a16:creationId xmlns:a16="http://schemas.microsoft.com/office/drawing/2014/main" id="{CFF6A24C-9F73-D736-792C-4F824C5665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543" y="1412875"/>
            <a:ext cx="4838589" cy="2350000"/>
          </a:xfrm>
          <a:prstGeom prst="rect">
            <a:avLst/>
          </a:prstGeom>
        </p:spPr>
      </p:pic>
      <p:pic>
        <p:nvPicPr>
          <p:cNvPr id="7" name="Grafik 11" descr="Ersatzstromquelle">
            <a:extLst>
              <a:ext uri="{FF2B5EF4-FFF2-40B4-BE49-F238E27FC236}">
                <a16:creationId xmlns:a16="http://schemas.microsoft.com/office/drawing/2014/main" id="{0A544582-386D-5383-C2C5-7FAA666D51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543" y="3922875"/>
            <a:ext cx="4838589" cy="23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075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6332E-2FD5-6FB3-F842-A40538C2A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6A35AC10-3FF1-0107-E12B-BC0C04EFEFD2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C6FF47-FA38-1F1E-EEC4-D6BFB6C6A053}"/>
              </a:ext>
            </a:extLst>
          </p:cNvPr>
          <p:cNvSpPr txBox="1"/>
          <p:nvPr/>
        </p:nvSpPr>
        <p:spPr>
          <a:xfrm>
            <a:off x="893847" y="542673"/>
            <a:ext cx="370294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Theorie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A8F552-D001-4EDA-05CC-4D8D064A2093}"/>
              </a:ext>
            </a:extLst>
          </p:cNvPr>
          <p:cNvSpPr txBox="1"/>
          <p:nvPr/>
        </p:nvSpPr>
        <p:spPr>
          <a:xfrm>
            <a:off x="594360" y="932688"/>
            <a:ext cx="5040034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Stern-Dreieck-Umwandlung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722BD3-A3CD-8DA4-239A-F6E552056E11}"/>
              </a:ext>
            </a:extLst>
          </p:cNvPr>
          <p:cNvSpPr txBox="1"/>
          <p:nvPr/>
        </p:nvSpPr>
        <p:spPr>
          <a:xfrm>
            <a:off x="914400" y="2761488"/>
            <a:ext cx="3712170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CH" sz="2000" dirty="0">
                <a:solidFill>
                  <a:srgbClr val="171717"/>
                </a:solidFill>
                <a:latin typeface="Aptos"/>
              </a:rPr>
              <a:t>In Formelsammlung schreiben</a:t>
            </a: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241547DA-BA66-56DA-E7FC-C62404312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E0FE1-AF03-4944-8B59-6F3340FFC6D2}" type="datetime1">
              <a:rPr lang="de-CH" smtClean="0"/>
              <a:t>21.10.2026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EAD60A2B-9FDC-02BB-2385-780CD769F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Enrico Putzi W06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3D8FA414-720F-6BFA-942A-F3B3250C1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  <p:pic>
        <p:nvPicPr>
          <p:cNvPr id="7" name="Grafik 6" descr="Stern-Dreieck-Tranformation - diesteckdose.net">
            <a:extLst>
              <a:ext uri="{FF2B5EF4-FFF2-40B4-BE49-F238E27FC236}">
                <a16:creationId xmlns:a16="http://schemas.microsoft.com/office/drawing/2014/main" id="{0FA7A2A3-A852-96E3-25E3-2268E63D87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1720" y="1042416"/>
            <a:ext cx="5732481" cy="477316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Freihand 8">
                <a:extLst>
                  <a:ext uri="{FF2B5EF4-FFF2-40B4-BE49-F238E27FC236}">
                    <a16:creationId xmlns:a16="http://schemas.microsoft.com/office/drawing/2014/main" id="{9ECE0728-9728-9915-1C6F-0E638E76480B}"/>
                  </a:ext>
                </a:extLst>
              </p14:cNvPr>
              <p14:cNvContentPartPr/>
              <p14:nvPr/>
            </p14:nvContentPartPr>
            <p14:xfrm>
              <a:off x="6118860" y="4189920"/>
              <a:ext cx="90720" cy="107640"/>
            </p14:xfrm>
          </p:contentPart>
        </mc:Choice>
        <mc:Fallback xmlns="">
          <p:pic>
            <p:nvPicPr>
              <p:cNvPr id="9" name="Freihand 8">
                <a:extLst>
                  <a:ext uri="{FF2B5EF4-FFF2-40B4-BE49-F238E27FC236}">
                    <a16:creationId xmlns:a16="http://schemas.microsoft.com/office/drawing/2014/main" id="{9ECE0728-9728-9915-1C6F-0E638E76480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112740" y="4183800"/>
                <a:ext cx="102960" cy="119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437696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8A542-1767-ABDE-C6C1-D371E3EA7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085983E-70B9-C37F-DF95-896A1BA0512D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74C382-7776-B9B1-2382-39225E1B369F}"/>
              </a:ext>
            </a:extLst>
          </p:cNvPr>
          <p:cNvSpPr txBox="1"/>
          <p:nvPr/>
        </p:nvSpPr>
        <p:spPr>
          <a:xfrm>
            <a:off x="893847" y="542673"/>
            <a:ext cx="370294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Theorie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6034F1-945C-6A56-6F84-CBBE9954F780}"/>
              </a:ext>
            </a:extLst>
          </p:cNvPr>
          <p:cNvSpPr txBox="1"/>
          <p:nvPr/>
        </p:nvSpPr>
        <p:spPr>
          <a:xfrm>
            <a:off x="594360" y="932688"/>
            <a:ext cx="3893630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Überlagerungsprinzip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EEA1DE-93F1-57CC-0958-9895E72E7415}"/>
              </a:ext>
            </a:extLst>
          </p:cNvPr>
          <p:cNvSpPr txBox="1"/>
          <p:nvPr/>
        </p:nvSpPr>
        <p:spPr>
          <a:xfrm>
            <a:off x="852411" y="2075688"/>
            <a:ext cx="6143670" cy="15388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CH" sz="2000" dirty="0">
                <a:solidFill>
                  <a:srgbClr val="171717"/>
                </a:solidFill>
                <a:latin typeface="Aptos"/>
              </a:rPr>
              <a:t>Immer nur eine Quelle aktiv, die anderen deaktivieren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CH" sz="2000" dirty="0">
                <a:solidFill>
                  <a:srgbClr val="171717"/>
                </a:solidFill>
                <a:latin typeface="Aptos"/>
              </a:rPr>
              <a:t>Widerstände sind lineare Bauteile (Kondensatoren</a:t>
            </a:r>
            <a:br>
              <a:rPr lang="de-CH" sz="2000" dirty="0">
                <a:solidFill>
                  <a:srgbClr val="171717"/>
                </a:solidFill>
                <a:latin typeface="Aptos"/>
              </a:rPr>
            </a:br>
            <a:r>
              <a:rPr lang="de-CH" sz="2000" dirty="0">
                <a:solidFill>
                  <a:srgbClr val="171717"/>
                </a:solidFill>
                <a:latin typeface="Aptos"/>
              </a:rPr>
              <a:t>und Spulen auch)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CH" sz="2000" dirty="0">
                <a:solidFill>
                  <a:srgbClr val="171717"/>
                </a:solidFill>
                <a:latin typeface="Aptos"/>
              </a:rPr>
              <a:t>Leistungen nie addieren, da nicht linear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de-CH" sz="2000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CA9088FE-C939-93B7-A7A1-E8E678A0D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E0FE1-AF03-4944-8B59-6F3340FFC6D2}" type="datetime1">
              <a:rPr lang="de-CH" smtClean="0"/>
              <a:t>21.10.2026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BAF2B0C9-FE30-C5CF-99B2-6E65514A0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Enrico Putzi W06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644B2FE7-7E5E-657F-8C52-CB2353E51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  <p:pic>
        <p:nvPicPr>
          <p:cNvPr id="6" name="Grafik 10" descr="Netzwerk mit zwei Quellen">
            <a:extLst>
              <a:ext uri="{FF2B5EF4-FFF2-40B4-BE49-F238E27FC236}">
                <a16:creationId xmlns:a16="http://schemas.microsoft.com/office/drawing/2014/main" id="{33DD1A87-426F-4F7F-B653-A76ED6DA22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6081" y="932688"/>
            <a:ext cx="5040000" cy="2600846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F53EE724-AADF-A4D5-361F-F4709B5FF01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45"/>
          <a:stretch>
            <a:fillRect/>
          </a:stretch>
        </p:blipFill>
        <p:spPr>
          <a:xfrm>
            <a:off x="4562856" y="39579"/>
            <a:ext cx="2999232" cy="1164425"/>
          </a:xfrm>
          <a:prstGeom prst="rect">
            <a:avLst/>
          </a:prstGeom>
        </p:spPr>
      </p:pic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4623A083-9316-46B4-0D3F-FC8DA3DF189F}"/>
              </a:ext>
            </a:extLst>
          </p:cNvPr>
          <p:cNvCxnSpPr>
            <a:cxnSpLocks/>
          </p:cNvCxnSpPr>
          <p:nvPr/>
        </p:nvCxnSpPr>
        <p:spPr>
          <a:xfrm flipV="1">
            <a:off x="6062472" y="1295966"/>
            <a:ext cx="0" cy="6699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71187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01193-0C20-1F98-865F-193B80700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E2E3B1E-A522-D5D5-09CB-11F7F6A13B45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EEABE0-2A2E-58A5-C9A6-9FCA4B356DA9}"/>
              </a:ext>
            </a:extLst>
          </p:cNvPr>
          <p:cNvSpPr txBox="1"/>
          <p:nvPr/>
        </p:nvSpPr>
        <p:spPr>
          <a:xfrm>
            <a:off x="893847" y="542673"/>
            <a:ext cx="370294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Theorie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35DBBE-C237-EDF0-E4C8-79328FBB38F5}"/>
              </a:ext>
            </a:extLst>
          </p:cNvPr>
          <p:cNvSpPr txBox="1"/>
          <p:nvPr/>
        </p:nvSpPr>
        <p:spPr>
          <a:xfrm>
            <a:off x="594360" y="932688"/>
            <a:ext cx="5378588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How to Überlagerungsprinzip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3D2B0E-2ED6-574D-0E3C-1BEE53EB28DC}"/>
              </a:ext>
            </a:extLst>
          </p:cNvPr>
          <p:cNvSpPr txBox="1"/>
          <p:nvPr/>
        </p:nvSpPr>
        <p:spPr>
          <a:xfrm>
            <a:off x="852411" y="2075688"/>
            <a:ext cx="5867835" cy="41242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de-CH" sz="2000" dirty="0"/>
              <a:t>1. Nur eine Quelle betrachten, alle anderen Quellen ausschalten.</a:t>
            </a:r>
          </a:p>
          <a:p>
            <a:r>
              <a:rPr lang="de-CH" sz="2000" dirty="0"/>
              <a:t>2. Die gesuchten Spannungen und Ströme für diese aktive Quelle berechnen.</a:t>
            </a:r>
          </a:p>
          <a:p>
            <a:r>
              <a:rPr lang="de-CH" sz="2000" dirty="0"/>
              <a:t>3. Das Vorgehen für alle weiteren Quellen im Netzwerk wiederholen.</a:t>
            </a:r>
          </a:p>
          <a:p>
            <a:r>
              <a:rPr lang="de-CH" sz="2000" dirty="0"/>
              <a:t>4. Alle Teillösungen addieren: Das ergibt die Gesamtlösung.</a:t>
            </a:r>
          </a:p>
          <a:p>
            <a:endParaRPr lang="de-CH" sz="800" dirty="0"/>
          </a:p>
          <a:p>
            <a:r>
              <a:rPr lang="de-CH" sz="2000" b="1" dirty="0"/>
              <a:t>Wichtig:</a:t>
            </a:r>
            <a:endParaRPr lang="de-CH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CH" sz="2000" dirty="0"/>
              <a:t>Funktioniert nur bei linearen Netzwerken.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CH" sz="2000" dirty="0"/>
              <a:t>Funktioniert </a:t>
            </a:r>
            <a:r>
              <a:rPr lang="de-CH" sz="2000" b="1" dirty="0"/>
              <a:t>nicht</a:t>
            </a:r>
            <a:r>
              <a:rPr lang="de-CH" sz="2000" dirty="0"/>
              <a:t> für Leistungen, denn die Leistung hängt nicht linear von Strom und Spannung ab.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de-CH" sz="2000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4F1A565E-75AE-6084-C036-F18D09B91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E0FE1-AF03-4944-8B59-6F3340FFC6D2}" type="datetime1">
              <a:rPr lang="de-CH" smtClean="0"/>
              <a:t>21.10.2026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16F5CC06-20FF-4FD0-4D19-B10DDCFB3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Enrico Putzi W06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EB380381-C74B-14D2-3224-FD932AA1C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  <p:pic>
        <p:nvPicPr>
          <p:cNvPr id="6" name="Grafik 10" descr="Netzwerk mit zwei Quellen">
            <a:extLst>
              <a:ext uri="{FF2B5EF4-FFF2-40B4-BE49-F238E27FC236}">
                <a16:creationId xmlns:a16="http://schemas.microsoft.com/office/drawing/2014/main" id="{41665B8F-8969-5605-0835-DFF069E923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246" y="828154"/>
            <a:ext cx="5040000" cy="2600846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48B67880-A90C-BAF4-AB8D-929F07498F9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45"/>
          <a:stretch>
            <a:fillRect/>
          </a:stretch>
        </p:blipFill>
        <p:spPr>
          <a:xfrm>
            <a:off x="7271916" y="3689990"/>
            <a:ext cx="4488330" cy="1742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6386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B2BA1-D463-C2DC-F7F5-3E3D1F68B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E4F4727-5D4D-1E0C-4CB5-5C8A8F80EDB6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C77718-46D6-A755-B15A-D3FC5A65520A}"/>
              </a:ext>
            </a:extLst>
          </p:cNvPr>
          <p:cNvSpPr txBox="1"/>
          <p:nvPr/>
        </p:nvSpPr>
        <p:spPr>
          <a:xfrm>
            <a:off x="893847" y="542673"/>
            <a:ext cx="370294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Theorie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7229AF-F86F-63D2-D37E-AB4484273E0C}"/>
              </a:ext>
            </a:extLst>
          </p:cNvPr>
          <p:cNvSpPr txBox="1"/>
          <p:nvPr/>
        </p:nvSpPr>
        <p:spPr>
          <a:xfrm>
            <a:off x="594360" y="932688"/>
            <a:ext cx="5378588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How to Überlagerungsprinzip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58E01059-DBB4-EC0F-B17E-ECD3882DC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E0FE1-AF03-4944-8B59-6F3340FFC6D2}" type="datetime1">
              <a:rPr lang="de-CH" smtClean="0"/>
              <a:t>21.10.2026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CC4F52FD-66B8-B7B1-C9E6-CA627AC30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Enrico Putzi W06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A616F0E3-C3B8-D075-7A8C-FBDE717E1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  <p:pic>
        <p:nvPicPr>
          <p:cNvPr id="6" name="Grafik 10" descr="Netzwerk mit zwei Quellen">
            <a:extLst>
              <a:ext uri="{FF2B5EF4-FFF2-40B4-BE49-F238E27FC236}">
                <a16:creationId xmlns:a16="http://schemas.microsoft.com/office/drawing/2014/main" id="{65F2DA0E-0CF2-9338-59A6-F9F6065567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0902" y="1707953"/>
            <a:ext cx="6670196" cy="3442094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8D58F89A-FFA0-2AE8-BBA9-8A9B1F333069}"/>
              </a:ext>
            </a:extLst>
          </p:cNvPr>
          <p:cNvSpPr txBox="1"/>
          <p:nvPr/>
        </p:nvSpPr>
        <p:spPr>
          <a:xfrm>
            <a:off x="594360" y="1574334"/>
            <a:ext cx="3343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/>
              <a:t>Strom durch die Spannungsquelle</a:t>
            </a:r>
          </a:p>
        </p:txBody>
      </p:sp>
    </p:spTree>
    <p:extLst>
      <p:ext uri="{BB962C8B-B14F-4D97-AF65-F5344CB8AC3E}">
        <p14:creationId xmlns:p14="http://schemas.microsoft.com/office/powerpoint/2010/main" val="31475683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59DD5-B3F1-8940-9BE0-1C3DC2177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2E5154C-554B-B990-9CA5-C96B230B5F9E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D2E236-6EDB-395B-CA8E-28B52468FA66}"/>
              </a:ext>
            </a:extLst>
          </p:cNvPr>
          <p:cNvSpPr txBox="1"/>
          <p:nvPr/>
        </p:nvSpPr>
        <p:spPr>
          <a:xfrm>
            <a:off x="873811" y="542673"/>
            <a:ext cx="410369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Aufgabe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B73261-240B-8455-5798-36E02A1446C0}"/>
              </a:ext>
            </a:extLst>
          </p:cNvPr>
          <p:cNvSpPr txBox="1"/>
          <p:nvPr/>
        </p:nvSpPr>
        <p:spPr>
          <a:xfrm>
            <a:off x="594360" y="932688"/>
            <a:ext cx="6303970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Aufgabe zum Überlagerungsprinzip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2CEC7F5B-69E3-BB04-1EA1-4AB71DE02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E0FE1-AF03-4944-8B59-6F3340FFC6D2}" type="datetime1">
              <a:rPr lang="de-CH" smtClean="0"/>
              <a:t>21.10.2026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28A28A52-3A2C-8ADD-AC74-CE2FC6FE3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Enrico Putzi W06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768FE247-4803-237B-E82E-9EB06266F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A2B1BFE1-7A7D-B94B-D026-3606AB4714F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04163" y="1412875"/>
                <a:ext cx="5256000" cy="4860000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/>
                  <a:buNone/>
                </a:pPr>
                <a:r>
                  <a:rPr lang="de-CH" sz="1600" dirty="0"/>
                  <a:t>Gegeben ist das nebenstehende Netzwerk mit der Stromquelle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CH" sz="1600" i="1" smtClean="0">
                        <a:latin typeface="Cambria Math" panose="02040503050406030204" pitchFamily="18" charset="0"/>
                      </a:rPr>
                      <m:t>I</m:t>
                    </m:r>
                  </m:oMath>
                </a14:m>
                <a:r>
                  <a:rPr lang="de-CH" sz="1600" dirty="0"/>
                  <a:t>, der Spannungsquelle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CH" sz="1600" i="1" smtClean="0">
                        <a:latin typeface="Cambria Math" panose="02040503050406030204" pitchFamily="18" charset="0"/>
                      </a:rPr>
                      <m:t>U</m:t>
                    </m:r>
                  </m:oMath>
                </a14:m>
                <a:r>
                  <a:rPr lang="de-CH" sz="1600" dirty="0"/>
                  <a:t> und den Widerständen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CH" sz="16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CH" sz="1600" dirty="0"/>
                  <a:t> und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de-CH" sz="1600" dirty="0"/>
                  <a:t>.</a:t>
                </a:r>
              </a:p>
              <a:p>
                <a:pPr marL="0" indent="0">
                  <a:buFont typeface="Arial"/>
                  <a:buNone/>
                </a:pPr>
                <a:endParaRPr lang="de-CH" sz="600" dirty="0"/>
              </a:p>
              <a:p>
                <a:pPr marL="0" indent="0">
                  <a:buFont typeface="Arial"/>
                  <a:buNone/>
                </a:pPr>
                <a:r>
                  <a:rPr lang="de-CH" sz="1600" dirty="0"/>
                  <a:t>Berechnet die Leerlaufspannung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de-CH" sz="160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de-CH" sz="1600" dirty="0"/>
                  <a:t> an den Klemmen mit dem Überlagerungsprinzip.</a:t>
                </a: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A2B1BFE1-7A7D-B94B-D026-3606AB4714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4163" y="1412875"/>
                <a:ext cx="5256000" cy="4860000"/>
              </a:xfrm>
              <a:prstGeom prst="rect">
                <a:avLst/>
              </a:prstGeom>
              <a:blipFill>
                <a:blip r:embed="rId3"/>
                <a:stretch>
                  <a:fillRect l="-696" t="-376" r="-1276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Grafik 10" descr="Netzwerk mit Strom- und Spannungsquelle">
            <a:extLst>
              <a:ext uri="{FF2B5EF4-FFF2-40B4-BE49-F238E27FC236}">
                <a16:creationId xmlns:a16="http://schemas.microsoft.com/office/drawing/2014/main" id="{A6A88772-0009-63AC-D5B2-91FBF312FB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779" y="1412875"/>
            <a:ext cx="4440117" cy="23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8322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7734ADD-A485-4FDE-D3F9-E88CE9271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22F8427-01CC-6460-AF43-B809703230D7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1E588E-0C05-3566-452B-88212FCEE456}"/>
              </a:ext>
            </a:extLst>
          </p:cNvPr>
          <p:cNvSpPr txBox="1"/>
          <p:nvPr/>
        </p:nvSpPr>
        <p:spPr>
          <a:xfrm>
            <a:off x="873811" y="542673"/>
            <a:ext cx="410369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Aufgabe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348398-B817-1ECA-C0A6-92DA366238F0}"/>
              </a:ext>
            </a:extLst>
          </p:cNvPr>
          <p:cNvSpPr txBox="1"/>
          <p:nvPr/>
        </p:nvSpPr>
        <p:spPr>
          <a:xfrm>
            <a:off x="594360" y="932688"/>
            <a:ext cx="6303970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Aufgabe zum Überlagerungsprinzip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955DD1EF-755C-4838-E3A6-8BCAA46C6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E0FE1-AF03-4944-8B59-6F3340FFC6D2}" type="datetime1">
              <a:rPr lang="de-CH" smtClean="0"/>
              <a:t>21.10.2026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8A21B437-2EE7-5338-FA68-F76C925A4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Enrico Putzi W06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D74841F2-F724-D197-E2BC-AACFB1161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1163C1F4-1F8C-666B-F085-F0BFC157DB6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04163" y="1412875"/>
                <a:ext cx="5256000" cy="4860000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de-CH" sz="1600" dirty="0"/>
                  <a:t>Ansatz: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de-CH" sz="160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de-CH" sz="160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CH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de-CH" sz="160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  <m:r>
                      <a:rPr lang="de-CH" sz="160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CH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de-CH" sz="160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b</m:t>
                        </m:r>
                      </m:sub>
                    </m:sSub>
                  </m:oMath>
                </a14:m>
                <a:r>
                  <a:rPr lang="de-CH" sz="1600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de-CH" sz="160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de-CH" sz="1600" dirty="0"/>
                  <a:t>: nur die Stromquelle ist aktiv,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de-CH" sz="160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b</m:t>
                        </m:r>
                      </m:sub>
                    </m:sSub>
                  </m:oMath>
                </a14:m>
                <a:r>
                  <a:rPr lang="de-CH" sz="1600" dirty="0"/>
                  <a:t>: nur die Spannungsquelle ist aktiv)</a:t>
                </a:r>
              </a:p>
              <a:p>
                <a:r>
                  <a:rPr lang="de-CH" sz="1600" b="1" dirty="0"/>
                  <a:t>Teil a:</a:t>
                </a:r>
                <a:r>
                  <a:rPr lang="de-CH" sz="1600" dirty="0"/>
                  <a:t> Spannungsquelle ausschalten (Kurzschluss).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de-CH" sz="160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de-CH" sz="1600" dirty="0"/>
                  <a:t> ist die Spannung 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de-CH" sz="1600" dirty="0"/>
                  <a:t>.</a:t>
                </a:r>
              </a:p>
              <a:p>
                <a:r>
                  <a:rPr lang="de-CH" sz="1600" dirty="0"/>
                  <a:t>Stromteiler: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CH" sz="1600" i="1" smtClean="0">
                        <a:latin typeface="Cambria Math" panose="02040503050406030204" pitchFamily="18" charset="0"/>
                      </a:rPr>
                      <m:t>I</m:t>
                    </m:r>
                  </m:oMath>
                </a14:m>
                <a:r>
                  <a:rPr lang="de-CH" sz="1600" dirty="0"/>
                  <a:t> teilt sich auf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CH" sz="1600" dirty="0"/>
                  <a:t> und die Serieschaltung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de-CH" sz="16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CH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CH" sz="1600" i="1" smtClean="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a:rPr lang="de-CH" sz="160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de-CH" sz="160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de-CH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CH" sz="1600" i="1" smtClean="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a:rPr lang="de-CH" sz="160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r>
                  <a:rPr lang="de-CH" sz="1600" dirty="0"/>
                  <a:t> auf:</a:t>
                </a:r>
              </a:p>
              <a:p>
                <a:pPr marL="0" indent="0" algn="ctr">
                  <a:buFont typeface="Arial"/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e>
                            <m:sub>
                              <m: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m:rPr>
                                  <m:sty m:val="p"/>
                                </m:r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</m:den>
                      </m:f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CH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de-CH" sz="1600" i="1" smtClean="0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a:rPr lang="de-CH" sz="160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de-CH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de-CH" sz="1600" i="1" smtClean="0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a:rPr lang="de-CH" sz="160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de-CH" sz="1600" dirty="0"/>
              </a:p>
              <a:p>
                <a:pPr marL="0" indent="0" algn="ctr">
                  <a:buFont typeface="Arial"/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⋅ </m:t>
                      </m:r>
                      <m:r>
                        <m:rPr>
                          <m:sty m:val="p"/>
                        </m:rPr>
                        <a:rPr lang="de-CH" sz="1600" i="1" smtClean="0">
                          <a:latin typeface="Cambria Math" panose="02040503050406030204" pitchFamily="18" charset="0"/>
                        </a:rPr>
                        <m:t>I</m:t>
                      </m:r>
                    </m:oMath>
                  </m:oMathPara>
                </a14:m>
                <a:endParaRPr lang="de-CH" sz="1600" dirty="0"/>
              </a:p>
              <a:p>
                <a:r>
                  <a:rPr lang="de-CH" sz="1600" dirty="0"/>
                  <a:t>Ohm’sches Gesetz 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de-CH" sz="1600" dirty="0"/>
                  <a:t>:</a:t>
                </a:r>
              </a:p>
              <a:p>
                <a:pPr marL="0" indent="0" algn="ctr">
                  <a:buFont typeface="Arial"/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⋅ </m:t>
                      </m:r>
                      <m:sSub>
                        <m:sSub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⋅ </m:t>
                      </m:r>
                      <m:r>
                        <m:rPr>
                          <m:sty m:val="p"/>
                        </m:rPr>
                        <a:rPr lang="de-CH" sz="1600" i="1" smtClean="0">
                          <a:latin typeface="Cambria Math" panose="02040503050406030204" pitchFamily="18" charset="0"/>
                        </a:rPr>
                        <m:t>I</m:t>
                      </m:r>
                    </m:oMath>
                  </m:oMathPara>
                </a14:m>
                <a:endParaRPr lang="de-CH" sz="1600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1163C1F4-1F8C-666B-F085-F0BFC157DB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4163" y="1412875"/>
                <a:ext cx="5256000" cy="4860000"/>
              </a:xfrm>
              <a:prstGeom prst="rect">
                <a:avLst/>
              </a:prstGeom>
              <a:blipFill>
                <a:blip r:embed="rId3"/>
                <a:stretch>
                  <a:fillRect l="-464" t="-376" r="-1044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Grafik 10" descr="Netzwerk mit Strom- und Spannungsquelle">
            <a:extLst>
              <a:ext uri="{FF2B5EF4-FFF2-40B4-BE49-F238E27FC236}">
                <a16:creationId xmlns:a16="http://schemas.microsoft.com/office/drawing/2014/main" id="{DB90E557-0C29-1AEE-4245-63EB55735B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779" y="1412875"/>
            <a:ext cx="4440117" cy="2350000"/>
          </a:xfrm>
          <a:prstGeom prst="rect">
            <a:avLst/>
          </a:prstGeom>
        </p:spPr>
      </p:pic>
      <p:pic>
        <p:nvPicPr>
          <p:cNvPr id="9" name="Grafik 11" descr="Nur Stromquelle aktiv">
            <a:extLst>
              <a:ext uri="{FF2B5EF4-FFF2-40B4-BE49-F238E27FC236}">
                <a16:creationId xmlns:a16="http://schemas.microsoft.com/office/drawing/2014/main" id="{C94D88CF-620B-34F8-E0C9-132BE11EFC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1779" y="3922875"/>
            <a:ext cx="4440117" cy="23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381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83AC815-F157-F2AE-3D35-07D984B2F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23E0E6E-474D-5BD5-FA4B-232BE134115F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B81F61-04B2-C30E-D36D-AD48CAB6B2CA}"/>
              </a:ext>
            </a:extLst>
          </p:cNvPr>
          <p:cNvSpPr txBox="1"/>
          <p:nvPr/>
        </p:nvSpPr>
        <p:spPr>
          <a:xfrm>
            <a:off x="873811" y="542673"/>
            <a:ext cx="410369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Aufgabe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EC4AC9-BA4F-9698-3F39-985E74A040A2}"/>
              </a:ext>
            </a:extLst>
          </p:cNvPr>
          <p:cNvSpPr txBox="1"/>
          <p:nvPr/>
        </p:nvSpPr>
        <p:spPr>
          <a:xfrm>
            <a:off x="594360" y="932688"/>
            <a:ext cx="6303970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Aufgabe zum Überlagerungsprinzip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8A829DEA-38C8-4B44-1CDA-643CF5F33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E0FE1-AF03-4944-8B59-6F3340FFC6D2}" type="datetime1">
              <a:rPr lang="de-CH" smtClean="0"/>
              <a:t>21.10.2026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0731164D-26BA-2AC8-CD48-6A11E286C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Enrico Putzi W06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E1103B68-7366-2EF9-00E4-57387553A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0C070FD8-737B-9C54-AAAE-7E142F0BEE2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04163" y="1412875"/>
                <a:ext cx="5256000" cy="4860000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de-CH" sz="1600" b="1" dirty="0"/>
                  <a:t>Teil b:</a:t>
                </a:r>
                <a:r>
                  <a:rPr lang="de-CH" sz="1600" dirty="0"/>
                  <a:t> Stromquelle ausschalten (Leerlauf).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de-CH" sz="16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CH" sz="1600" dirty="0"/>
                  <a:t> und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CH" sz="1600" dirty="0"/>
                  <a:t> sind in Serie an der Spannungsquelle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CH" sz="1600" i="1" smtClean="0">
                        <a:latin typeface="Cambria Math" panose="02040503050406030204" pitchFamily="18" charset="0"/>
                      </a:rPr>
                      <m:t>U</m:t>
                    </m:r>
                  </m:oMath>
                </a14:m>
                <a:r>
                  <a:rPr lang="de-CH" sz="1600" dirty="0"/>
                  <a:t>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de-CH" sz="160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b</m:t>
                        </m:r>
                      </m:sub>
                    </m:sSub>
                  </m:oMath>
                </a14:m>
                <a:r>
                  <a:rPr lang="de-CH" sz="1600" dirty="0"/>
                  <a:t> ist die Spannung über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CH" sz="1600" dirty="0"/>
                  <a:t> und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CH" sz="1600" dirty="0"/>
                  <a:t>. Spannungsteiler:</a:t>
                </a:r>
              </a:p>
              <a:p>
                <a:pPr marL="0" indent="0" algn="ctr">
                  <a:buFont typeface="Arial"/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⋅ </m:t>
                      </m:r>
                      <m:r>
                        <m:rPr>
                          <m:sty m:val="p"/>
                        </m:rPr>
                        <a:rPr lang="de-CH" sz="1600" i="1" smtClean="0">
                          <a:latin typeface="Cambria Math" panose="02040503050406030204" pitchFamily="18" charset="0"/>
                        </a:rPr>
                        <m:t>U</m:t>
                      </m:r>
                    </m:oMath>
                  </m:oMathPara>
                </a14:m>
                <a:endParaRPr lang="de-CH" sz="1600" dirty="0"/>
              </a:p>
              <a:p>
                <a:r>
                  <a:rPr lang="de-CH" sz="1600" dirty="0"/>
                  <a:t>Überlagerung:</a:t>
                </a:r>
              </a:p>
              <a:p>
                <a:pPr marL="0" indent="0" algn="ctr">
                  <a:buFont typeface="Arial"/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</m:oMath>
                  </m:oMathPara>
                </a14:m>
                <a:endParaRPr lang="de-CH" sz="1600" dirty="0"/>
              </a:p>
              <a:p>
                <a:pPr marL="0" indent="0" algn="ctr">
                  <a:buFont typeface="Arial"/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⋅ </m:t>
                          </m:r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CH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de-CH" sz="1600" i="1" smtClean="0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a:rPr lang="de-CH" sz="160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de-CH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de-CH" sz="1600" i="1" smtClean="0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a:rPr lang="de-CH" sz="160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⋅ </m:t>
                          </m:r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U</m:t>
                          </m:r>
                        </m:num>
                        <m:den>
                          <m:sSub>
                            <m:sSubPr>
                              <m:ctrl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br>
                  <a:rPr lang="de-CH" sz="1600" dirty="0"/>
                </a:br>
                <a:endParaRPr lang="de-CH" sz="1600" dirty="0"/>
              </a:p>
              <a:p>
                <a:pPr marL="0" indent="0" algn="ctr">
                  <a:buFont typeface="Arial"/>
                  <a:buNone/>
                </a:pPr>
                <a:endParaRPr lang="de-CH" sz="1600" dirty="0"/>
              </a:p>
              <a:p>
                <a:pPr marL="0" indent="0">
                  <a:buFont typeface="Arial"/>
                  <a:buNone/>
                </a:pPr>
                <a:r>
                  <a:rPr lang="de-CH" sz="1600" dirty="0"/>
                  <a:t>Wie würden wir jetzt noch damit eine Ersatzspannungsquelle machen?</a:t>
                </a:r>
              </a:p>
              <a:p>
                <a:pPr marL="0" indent="0">
                  <a:buFont typeface="Arial"/>
                  <a:buNone/>
                </a:pPr>
                <a:endParaRPr lang="de-CH" sz="1600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0C070FD8-737B-9C54-AAAE-7E142F0BEE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4163" y="1412875"/>
                <a:ext cx="5256000" cy="4860000"/>
              </a:xfrm>
              <a:prstGeom prst="rect">
                <a:avLst/>
              </a:prstGeom>
              <a:blipFill>
                <a:blip r:embed="rId3"/>
                <a:stretch>
                  <a:fillRect l="-696" t="-376" r="-812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Grafik 10" descr="Netzwerk mit Strom- und Spannungsquelle">
            <a:extLst>
              <a:ext uri="{FF2B5EF4-FFF2-40B4-BE49-F238E27FC236}">
                <a16:creationId xmlns:a16="http://schemas.microsoft.com/office/drawing/2014/main" id="{3CF17D55-BA85-11E9-8E30-E1F9C85072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779" y="1412875"/>
            <a:ext cx="4440117" cy="2350000"/>
          </a:xfrm>
          <a:prstGeom prst="rect">
            <a:avLst/>
          </a:prstGeom>
        </p:spPr>
      </p:pic>
      <p:pic>
        <p:nvPicPr>
          <p:cNvPr id="10" name="Grafik 11" descr="Nur Spannungsquelle aktiv">
            <a:extLst>
              <a:ext uri="{FF2B5EF4-FFF2-40B4-BE49-F238E27FC236}">
                <a16:creationId xmlns:a16="http://schemas.microsoft.com/office/drawing/2014/main" id="{A0402820-32CE-94E5-55D8-82C8BE04B0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1779" y="3922875"/>
            <a:ext cx="4440117" cy="23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215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78CDF-AEBB-1FAF-7A6C-A07FC3899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20DFA7A-DB8C-E964-56A5-A9DD80509E9A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147A8B-6CD0-CBB2-8940-DD38606EF67B}"/>
              </a:ext>
            </a:extLst>
          </p:cNvPr>
          <p:cNvSpPr txBox="1"/>
          <p:nvPr/>
        </p:nvSpPr>
        <p:spPr>
          <a:xfrm>
            <a:off x="893847" y="542673"/>
            <a:ext cx="370294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Theorie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0F2ADB-4F18-2AC4-DECB-3D2578AE2BAF}"/>
              </a:ext>
            </a:extLst>
          </p:cNvPr>
          <p:cNvSpPr txBox="1"/>
          <p:nvPr/>
        </p:nvSpPr>
        <p:spPr>
          <a:xfrm>
            <a:off x="594360" y="932688"/>
            <a:ext cx="3111557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Netzwerkanalyse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CC09C95D-D7D4-E162-6CC9-12FBF1C7B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E0FE1-AF03-4944-8B59-6F3340FFC6D2}" type="datetime1">
              <a:rPr lang="de-CH" smtClean="0"/>
              <a:t>21.10.2026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ACB804EC-7133-921B-0113-75118DE50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Enrico Putzi W06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8E9F33B3-BAAB-2604-5CE3-873488167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A300D236-9F43-C478-B42E-F5A591B930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0426" y="1727264"/>
            <a:ext cx="4963218" cy="3153215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39F70C9C-9112-A075-F694-AA4CAF45B2BD}"/>
              </a:ext>
            </a:extLst>
          </p:cNvPr>
          <p:cNvSpPr txBox="1"/>
          <p:nvPr/>
        </p:nvSpPr>
        <p:spPr>
          <a:xfrm>
            <a:off x="943276" y="1963554"/>
            <a:ext cx="5850769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sz="2000" dirty="0"/>
              <a:t>Aufstellen von Knoten- und Maschengleichungen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sz="2000" dirty="0"/>
              <a:t>So viele Unbekannte wie Zweige </a:t>
            </a:r>
            <a:r>
              <a:rPr lang="de-CH" sz="2000" dirty="0">
                <a:sym typeface="Wingdings" panose="05000000000000000000" pitchFamily="2" charset="2"/>
              </a:rPr>
              <a:t> z Gleichungen</a:t>
            </a:r>
            <a:br>
              <a:rPr lang="de-CH" sz="2000" dirty="0">
                <a:sym typeface="Wingdings" panose="05000000000000000000" pitchFamily="2" charset="2"/>
              </a:rPr>
            </a:br>
            <a:r>
              <a:rPr lang="de-CH" sz="2000" dirty="0">
                <a:sym typeface="Wingdings" panose="05000000000000000000" pitchFamily="2" charset="2"/>
              </a:rPr>
              <a:t>benötigt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sz="2000" dirty="0">
                <a:sym typeface="Wingdings" panose="05000000000000000000" pitchFamily="2" charset="2"/>
              </a:rPr>
              <a:t>Aufstellung mithilfe der Maschen und Knotenregeln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sz="2000" dirty="0">
                <a:sym typeface="Wingdings" panose="05000000000000000000" pitchFamily="2" charset="2"/>
              </a:rPr>
              <a:t>Maschen- und Knotenpotentialverfahren sind für </a:t>
            </a:r>
            <a:br>
              <a:rPr lang="de-CH" sz="2000" dirty="0">
                <a:sym typeface="Wingdings" panose="05000000000000000000" pitchFamily="2" charset="2"/>
              </a:rPr>
            </a:br>
            <a:r>
              <a:rPr lang="de-CH" sz="2000" dirty="0">
                <a:sym typeface="Wingdings" panose="05000000000000000000" pitchFamily="2" charset="2"/>
              </a:rPr>
              <a:t>NUS 1 nicht wichtig. Aber für NUS 2 schon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CH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CH" sz="2000" dirty="0"/>
          </a:p>
        </p:txBody>
      </p:sp>
    </p:spTree>
    <p:extLst>
      <p:ext uri="{BB962C8B-B14F-4D97-AF65-F5344CB8AC3E}">
        <p14:creationId xmlns:p14="http://schemas.microsoft.com/office/powerpoint/2010/main" val="38158578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7D78D-7A53-59CE-28A9-FE42AD23B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7867CA4-0DA0-AA5F-F508-032F02981ACC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115101-1196-EFCF-7632-73B0A2AD6F13}"/>
              </a:ext>
            </a:extLst>
          </p:cNvPr>
          <p:cNvSpPr txBox="1"/>
          <p:nvPr/>
        </p:nvSpPr>
        <p:spPr>
          <a:xfrm>
            <a:off x="893847" y="542673"/>
            <a:ext cx="370294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Theorie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54FA94-6569-572F-F8AC-1E980C585D6E}"/>
              </a:ext>
            </a:extLst>
          </p:cNvPr>
          <p:cNvSpPr txBox="1"/>
          <p:nvPr/>
        </p:nvSpPr>
        <p:spPr>
          <a:xfrm>
            <a:off x="594360" y="932688"/>
            <a:ext cx="3506409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Knotengleichungen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0BEFFD29-20EB-DCC1-83F4-A2D9661B9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E0FE1-AF03-4944-8B59-6F3340FFC6D2}" type="datetime1">
              <a:rPr lang="de-CH" smtClean="0"/>
              <a:t>21.10.2026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7ADF023F-337F-E71E-D675-EE13AE8DD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Enrico Putzi W06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3BA975A5-1696-B12F-FCA3-E48A81E33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19</a:t>
            </a:fld>
            <a:endParaRPr lang="en-US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27592E5C-3A21-6F26-4A39-1CB00E9335A3}"/>
              </a:ext>
            </a:extLst>
          </p:cNvPr>
          <p:cNvSpPr txBox="1"/>
          <p:nvPr/>
        </p:nvSpPr>
        <p:spPr>
          <a:xfrm>
            <a:off x="594360" y="1574334"/>
            <a:ext cx="472885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de-CH" dirty="0"/>
              <a:t>Richtungen festlegen</a:t>
            </a:r>
          </a:p>
          <a:p>
            <a:pPr marL="342900" indent="-342900">
              <a:buAutoNum type="arabicPeriod"/>
            </a:pPr>
            <a:r>
              <a:rPr lang="de-CH" dirty="0"/>
              <a:t>Knotengleichungen aufstellen</a:t>
            </a:r>
            <a:br>
              <a:rPr lang="de-CH" dirty="0"/>
            </a:br>
            <a:r>
              <a:rPr lang="de-CH" dirty="0"/>
              <a:t>k Knoten dann k-1 unabhängige Gleichungen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08136693-F6E8-D81E-6E50-471F12A102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7709" y="1874314"/>
            <a:ext cx="5677692" cy="3667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5790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99528-8CEB-095D-F2C7-3A2F746EE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A9FCB194-E7A6-44C4-6916-5FED6A2E07D1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EB27D2-755F-898F-C6B8-4DA3F502ACEE}"/>
              </a:ext>
            </a:extLst>
          </p:cNvPr>
          <p:cNvSpPr txBox="1"/>
          <p:nvPr/>
        </p:nvSpPr>
        <p:spPr>
          <a:xfrm>
            <a:off x="893847" y="542673"/>
            <a:ext cx="370294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Theorie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9BE684-F7A6-9E73-779F-A238F3669D6B}"/>
              </a:ext>
            </a:extLst>
          </p:cNvPr>
          <p:cNvSpPr txBox="1"/>
          <p:nvPr/>
        </p:nvSpPr>
        <p:spPr>
          <a:xfrm>
            <a:off x="594360" y="932688"/>
            <a:ext cx="5095882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Maschengleichungen finden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E59C5943-1FCB-D003-4EDC-2AD866F6C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E0FE1-AF03-4944-8B59-6F3340FFC6D2}" type="datetime1">
              <a:rPr lang="de-CH" smtClean="0"/>
              <a:t>21.10.2026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F768DD35-6A7B-0643-33D5-C37702CAE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Enrico Putzi W06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F187A1F6-DB8E-40FF-B545-20B9529BE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20</a:t>
            </a:fld>
            <a:endParaRPr lang="en-US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27991786-2832-808F-7679-D96214487431}"/>
              </a:ext>
            </a:extLst>
          </p:cNvPr>
          <p:cNvSpPr txBox="1"/>
          <p:nvPr/>
        </p:nvSpPr>
        <p:spPr>
          <a:xfrm>
            <a:off x="594360" y="1574334"/>
            <a:ext cx="63128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dirty="0"/>
              <a:t>Uns fehlen noch m=z-(k-1) Gleichungen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dirty="0"/>
              <a:t>Entweder Vollständiger Baum oder Auftrennung der Maschen 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5306B513-A4B0-2793-3388-8EB95F6BF8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870" y="2453504"/>
            <a:ext cx="2857899" cy="2048161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0E8C76CD-595C-5F91-DCEB-ABE0249A7A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760" y="4519159"/>
            <a:ext cx="4234118" cy="1239537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DD5828D7-D4EA-DE9A-B0C1-D436BAC111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2546" y="3074720"/>
            <a:ext cx="6944694" cy="1971950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1D70EC92-D768-D392-31D2-03DC5A02EC1C}"/>
              </a:ext>
            </a:extLst>
          </p:cNvPr>
          <p:cNvSpPr txBox="1"/>
          <p:nvPr/>
        </p:nvSpPr>
        <p:spPr>
          <a:xfrm>
            <a:off x="7571232" y="329184"/>
            <a:ext cx="326307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/>
              <a:t>z = Anzahl Unbekannte</a:t>
            </a:r>
          </a:p>
          <a:p>
            <a:r>
              <a:rPr lang="de-CH" dirty="0"/>
              <a:t>k = Anzahl Knoten</a:t>
            </a:r>
          </a:p>
          <a:p>
            <a:r>
              <a:rPr lang="de-CH" dirty="0"/>
              <a:t>m = Anzahl Maschengleichungen</a:t>
            </a:r>
          </a:p>
        </p:txBody>
      </p:sp>
    </p:spTree>
    <p:extLst>
      <p:ext uri="{BB962C8B-B14F-4D97-AF65-F5344CB8AC3E}">
        <p14:creationId xmlns:p14="http://schemas.microsoft.com/office/powerpoint/2010/main" val="11616693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8E6B7-CD49-E972-8361-52304C16D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86BC0FC-0445-C60F-5A15-35ACA47BD380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DB22C5-95BA-2209-D9CF-E94B62527584}"/>
              </a:ext>
            </a:extLst>
          </p:cNvPr>
          <p:cNvSpPr txBox="1"/>
          <p:nvPr/>
        </p:nvSpPr>
        <p:spPr>
          <a:xfrm>
            <a:off x="893847" y="542673"/>
            <a:ext cx="370294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Theorie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55247D-58BD-A95B-48A5-05CCF97A63F8}"/>
              </a:ext>
            </a:extLst>
          </p:cNvPr>
          <p:cNvSpPr txBox="1"/>
          <p:nvPr/>
        </p:nvSpPr>
        <p:spPr>
          <a:xfrm>
            <a:off x="594360" y="932688"/>
            <a:ext cx="3518464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Vollständiger Baum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6163EEEA-B1D6-13F4-B7BD-ED1E22463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E0FE1-AF03-4944-8B59-6F3340FFC6D2}" type="datetime1">
              <a:rPr lang="de-CH" smtClean="0"/>
              <a:t>21.10.2026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0158706B-A079-990E-1B3F-5EC3A69FA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Enrico Putzi W06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00B66C67-1FE6-2C61-1E95-A7C4B0A4A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21</a:t>
            </a:fld>
            <a:endParaRPr lang="en-US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DFEFE4ED-4752-3D14-AA94-EAD45317C400}"/>
              </a:ext>
            </a:extLst>
          </p:cNvPr>
          <p:cNvSpPr txBox="1"/>
          <p:nvPr/>
        </p:nvSpPr>
        <p:spPr>
          <a:xfrm>
            <a:off x="594360" y="1574334"/>
            <a:ext cx="679621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de-CH" dirty="0"/>
              <a:t>Alle Knoten verbinden, ohne einen geschlossenen Pfad zu erzeugen</a:t>
            </a:r>
          </a:p>
          <a:p>
            <a:pPr marL="342900" indent="-342900">
              <a:buAutoNum type="arabicPeriod"/>
            </a:pPr>
            <a:r>
              <a:rPr lang="de-CH" dirty="0"/>
              <a:t>Jeweils Verbindungen setzen, damit der Pfad geschlossen wird</a:t>
            </a:r>
          </a:p>
          <a:p>
            <a:pPr marL="342900" indent="-342900">
              <a:buAutoNum type="arabicPeriod"/>
            </a:pPr>
            <a:r>
              <a:rPr lang="de-CH" dirty="0"/>
              <a:t>Verbindung wieder entfernen und über andere Stelle verbinden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BDA3B5F6-C54D-D62A-9721-BCDB85EB9C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847" y="2654832"/>
            <a:ext cx="4944165" cy="1971950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6F1FC5C4-2957-8A43-AEC5-C76BEEAECD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1937" y="2743200"/>
            <a:ext cx="6317799" cy="176027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945AEF5B-2544-9473-C520-867DFA10C8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1695" y="4591838"/>
            <a:ext cx="3105583" cy="952633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6801909D-4AA9-3BB1-AB64-BA7757F4ED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7994" y="4591838"/>
            <a:ext cx="3753374" cy="952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3362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45773-DC1A-6F21-1436-CF0CD0950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A4DC7083-A348-510B-388B-0BD7B4C9A62D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1F4A01-25BA-3999-3C41-EAFB70E1C467}"/>
              </a:ext>
            </a:extLst>
          </p:cNvPr>
          <p:cNvSpPr txBox="1"/>
          <p:nvPr/>
        </p:nvSpPr>
        <p:spPr>
          <a:xfrm>
            <a:off x="893847" y="542673"/>
            <a:ext cx="370294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Theorie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D6416C-0AB9-ED2F-20A0-49DDFF84B381}"/>
              </a:ext>
            </a:extLst>
          </p:cNvPr>
          <p:cNvSpPr txBox="1"/>
          <p:nvPr/>
        </p:nvSpPr>
        <p:spPr>
          <a:xfrm>
            <a:off x="594360" y="932688"/>
            <a:ext cx="4660315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Auftrennung der Maschen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46BB7536-BE8A-C60F-3A85-28196AE67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E0FE1-AF03-4944-8B59-6F3340FFC6D2}" type="datetime1">
              <a:rPr lang="de-CH" smtClean="0"/>
              <a:t>21.10.2026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A105D46A-7F8B-9E7A-CB35-B2A45F1CD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Enrico Putzi W06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411B45E2-3493-E19B-2D64-217A5F5B1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22</a:t>
            </a:fld>
            <a:endParaRPr lang="en-US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09F2086F-0E36-9BF6-63FA-0BEE8E4360AA}"/>
              </a:ext>
            </a:extLst>
          </p:cNvPr>
          <p:cNvSpPr txBox="1"/>
          <p:nvPr/>
        </p:nvSpPr>
        <p:spPr>
          <a:xfrm>
            <a:off x="594360" y="1574334"/>
            <a:ext cx="483664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de-CH" dirty="0"/>
              <a:t>Masche finden</a:t>
            </a:r>
          </a:p>
          <a:p>
            <a:pPr marL="342900" indent="-342900">
              <a:buAutoNum type="arabicPeriod"/>
            </a:pPr>
            <a:r>
              <a:rPr lang="de-CH" dirty="0"/>
              <a:t>Maschengleichung aufstellen</a:t>
            </a:r>
          </a:p>
          <a:p>
            <a:pPr marL="342900" indent="-342900">
              <a:buAutoNum type="arabicPeriod"/>
            </a:pPr>
            <a:r>
              <a:rPr lang="de-CH" dirty="0"/>
              <a:t>Einen Zweig der Masche löschen</a:t>
            </a:r>
          </a:p>
          <a:p>
            <a:pPr marL="342900" indent="-342900">
              <a:buAutoNum type="arabicPeriod"/>
            </a:pPr>
            <a:r>
              <a:rPr lang="de-CH" dirty="0"/>
              <a:t>Wiederholen bis man m=z-(k-1) Maschen hat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CD2C2A70-E680-56A2-81E7-E552BB1447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4486" y="3441032"/>
            <a:ext cx="6773220" cy="197195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0E1DC70C-1587-0CEE-2AF3-70DF56396F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1345" y="401616"/>
            <a:ext cx="3024376" cy="2016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2773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3CED8-4FD4-07D5-25A7-F5636EBE8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C46395CC-7D1F-90F8-5ADF-CF74B038D82A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2A6C92-33B5-4F13-187E-71BF5F0E81F7}"/>
              </a:ext>
            </a:extLst>
          </p:cNvPr>
          <p:cNvSpPr txBox="1"/>
          <p:nvPr/>
        </p:nvSpPr>
        <p:spPr>
          <a:xfrm>
            <a:off x="873811" y="542673"/>
            <a:ext cx="410369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Aufgabe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ACFB00-12F8-6CC3-22C0-34D0FE8F0B51}"/>
              </a:ext>
            </a:extLst>
          </p:cNvPr>
          <p:cNvSpPr txBox="1"/>
          <p:nvPr/>
        </p:nvSpPr>
        <p:spPr>
          <a:xfrm>
            <a:off x="594360" y="932688"/>
            <a:ext cx="5169236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Aufgabe zu Netzwerkanalyse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5B1ED1A4-5D85-3035-8E75-52E66C287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E0FE1-AF03-4944-8B59-6F3340FFC6D2}" type="datetime1">
              <a:rPr lang="de-CH" smtClean="0"/>
              <a:t>21.10.2026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C98DB0CC-7A1D-7E57-AAAD-82AFABA7E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Enrico Putzi W06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6CCA71BA-3D4C-7241-6F5B-229A15118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312994C3-605F-E651-2597-B7A5D7D829C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04163" y="1412875"/>
                <a:ext cx="5256000" cy="4860000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/>
                  <a:buNone/>
                </a:pPr>
                <a:r>
                  <a:rPr lang="de-CH" sz="1600" dirty="0"/>
                  <a:t>Gegeben ist das nebenstehende Widerstandsnetzwerk mit zwei idealen Spannungsquellen. Die Zählrichtungen der Ströme sind vorgegeben.</a:t>
                </a:r>
              </a:p>
              <a:p>
                <a:pPr marL="0" indent="0">
                  <a:buFont typeface="Arial"/>
                  <a:buNone/>
                </a:pPr>
                <a:endParaRPr lang="de-CH" sz="600" dirty="0"/>
              </a:p>
              <a:p>
                <a:r>
                  <a:rPr lang="de-CH" sz="1600" dirty="0"/>
                  <a:t>Wie viele Knoten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CH" sz="1600" i="1" smtClean="0">
                        <a:latin typeface="Cambria Math" panose="02040503050406030204" pitchFamily="18" charset="0"/>
                      </a:rPr>
                      <m:t>k</m:t>
                    </m:r>
                  </m:oMath>
                </a14:m>
                <a:r>
                  <a:rPr lang="de-CH" sz="1600" dirty="0"/>
                  <a:t> und Zweige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CH" sz="1600" i="1" smtClean="0"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lang="de-CH" sz="1600" dirty="0"/>
                  <a:t> besitzt das Netzwerk?</a:t>
                </a:r>
              </a:p>
              <a:p>
                <a:r>
                  <a:rPr lang="de-CH" sz="1600" dirty="0"/>
                  <a:t>Wie viele Unbekannte liegen vor?</a:t>
                </a:r>
              </a:p>
              <a:p>
                <a:r>
                  <a:rPr lang="de-CH" sz="1600" dirty="0"/>
                  <a:t>Wie viele linear unabhängige Knoten- und Maschengleichungen werden benötigt?</a:t>
                </a:r>
              </a:p>
              <a:p>
                <a:r>
                  <a:rPr lang="de-CH" sz="1600" dirty="0"/>
                  <a:t>Wählt einen Bezugsknoten und nummeriert die Knoten.</a:t>
                </a:r>
              </a:p>
            </p:txBody>
          </p:sp>
        </mc:Choice>
        <mc:Fallback xmlns="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312994C3-605F-E651-2597-B7A5D7D829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4163" y="1412875"/>
                <a:ext cx="5256000" cy="4860000"/>
              </a:xfrm>
              <a:prstGeom prst="rect">
                <a:avLst/>
              </a:prstGeom>
              <a:blipFill>
                <a:blip r:embed="rId3"/>
                <a:stretch>
                  <a:fillRect l="-696" t="-376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Grafik 10">
            <a:extLst>
              <a:ext uri="{FF2B5EF4-FFF2-40B4-BE49-F238E27FC236}">
                <a16:creationId xmlns:a16="http://schemas.microsoft.com/office/drawing/2014/main" id="{271AB3D6-7855-4A3D-BFF1-3DA62F90DD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1838" y="1567076"/>
            <a:ext cx="5040000" cy="2041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0640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1B30344-2564-D248-7E51-C1D6EDB72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B3204E4-E0AF-9180-8FBB-F7638093C8D9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710D12-4136-25B7-313B-7D8526EEB51F}"/>
              </a:ext>
            </a:extLst>
          </p:cNvPr>
          <p:cNvSpPr txBox="1"/>
          <p:nvPr/>
        </p:nvSpPr>
        <p:spPr>
          <a:xfrm>
            <a:off x="873811" y="542673"/>
            <a:ext cx="410369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Aufgabe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5192DC-E14F-142E-BF26-82ED498211A6}"/>
              </a:ext>
            </a:extLst>
          </p:cNvPr>
          <p:cNvSpPr txBox="1"/>
          <p:nvPr/>
        </p:nvSpPr>
        <p:spPr>
          <a:xfrm>
            <a:off x="594360" y="932688"/>
            <a:ext cx="5169236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Aufgabe zu Netzwerkanalyse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35047278-7A78-0FAF-FC3D-F1573F9D4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E0FE1-AF03-4944-8B59-6F3340FFC6D2}" type="datetime1">
              <a:rPr lang="de-CH" smtClean="0"/>
              <a:t>21.10.2026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AD6E0B16-06B9-3F33-CE2E-2ED0CEC76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Enrico Putzi W06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841C4D0B-6FB2-EA1D-C86C-6FBAF3498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263D3313-BBB5-C4F0-6626-A4E020F654E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04163" y="1412875"/>
                <a:ext cx="5256000" cy="4860000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CH" sz="1600" i="1" smtClean="0">
                        <a:latin typeface="Cambria Math" panose="02040503050406030204" pitchFamily="18" charset="0"/>
                      </a:rPr>
                      <m:t>k</m:t>
                    </m:r>
                  </m:oMath>
                </a14:m>
                <a:r>
                  <a:rPr lang="de-CH" sz="1600" dirty="0"/>
                  <a:t> = 4 Knoten: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de-CH" sz="160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de-CH" sz="1600" dirty="0"/>
                  <a:t> (Bezugsknoten),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de-CH" sz="160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CH" sz="16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de-CH" sz="160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CH" sz="1600" dirty="0"/>
                  <a:t> und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de-CH" sz="160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de-CH" sz="1600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CH" sz="1600" i="1" smtClean="0"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lang="de-CH" sz="1600" dirty="0"/>
                  <a:t> = 6 Zweige: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q</m:t>
                        </m:r>
                        <m:r>
                          <a:rPr lang="de-CH" sz="160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CH" sz="16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CH" sz="16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CH" sz="16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de-CH" sz="16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de-CH" sz="1600" dirty="0"/>
                  <a:t> sowie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de-CH" sz="1600" dirty="0"/>
                  <a:t> in Serie mit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q</m:t>
                        </m:r>
                        <m:r>
                          <a:rPr lang="de-CH" sz="160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de-CH" sz="1600" dirty="0"/>
              </a:p>
              <a:p>
                <a:r>
                  <a:rPr lang="de-CH" sz="1600" dirty="0"/>
                  <a:t>Unbekannte: pro Zweig ein Strom und eine Spannung. Die Quellenspannungen sind bekannt, und mit dem Ohm’schen Gesetz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CH" sz="1600" i="1" smtClean="0">
                        <a:latin typeface="Cambria Math" panose="02040503050406030204" pitchFamily="18" charset="0"/>
                      </a:rPr>
                      <m:t>U</m:t>
                    </m:r>
                    <m:r>
                      <a:rPr lang="de-CH" sz="16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de-CH" sz="1600" i="1" smtClean="0">
                        <a:latin typeface="Cambria Math" panose="02040503050406030204" pitchFamily="18" charset="0"/>
                      </a:rPr>
                      <m:t>R</m:t>
                    </m:r>
                    <m:r>
                      <a:rPr lang="de-CH" sz="1600" i="1" smtClean="0">
                        <a:latin typeface="Cambria Math" panose="02040503050406030204" pitchFamily="18" charset="0"/>
                      </a:rPr>
                      <m:t>⋅ </m:t>
                    </m:r>
                    <m:r>
                      <m:rPr>
                        <m:sty m:val="p"/>
                      </m:rPr>
                      <a:rPr lang="de-CH" sz="1600" i="1" smtClean="0">
                        <a:latin typeface="Cambria Math" panose="02040503050406030204" pitchFamily="18" charset="0"/>
                      </a:rPr>
                      <m:t>I</m:t>
                    </m:r>
                  </m:oMath>
                </a14:m>
                <a:r>
                  <a:rPr lang="de-CH" sz="1600" dirty="0"/>
                  <a:t> lassen sich die Spannungen an den Widerständen durch die Ströme ausdrücken. Es bleiben die 6 Zweigströme.</a:t>
                </a:r>
              </a:p>
              <a:p>
                <a:r>
                  <a:rPr lang="de-CH" sz="1600" dirty="0"/>
                  <a:t>Knotengleichungen: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CH" sz="1600" i="1" smtClean="0">
                        <a:latin typeface="Cambria Math" panose="02040503050406030204" pitchFamily="18" charset="0"/>
                      </a:rPr>
                      <m:t>k</m:t>
                    </m:r>
                    <m:r>
                      <a:rPr lang="de-CH" sz="160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de-CH" sz="1600" dirty="0"/>
                  <a:t> = 3 (die vierte ist linear abhängig)</a:t>
                </a:r>
              </a:p>
              <a:p>
                <a:r>
                  <a:rPr lang="de-CH" sz="1600" dirty="0"/>
                  <a:t>Maschengleichungen: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CH" sz="1600" i="1" smtClean="0">
                        <a:latin typeface="Cambria Math" panose="02040503050406030204" pitchFamily="18" charset="0"/>
                      </a:rPr>
                      <m:t>m</m:t>
                    </m:r>
                    <m:r>
                      <a:rPr lang="de-CH" sz="16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de-CH" sz="1600" i="1" smtClean="0">
                        <a:latin typeface="Cambria Math" panose="02040503050406030204" pitchFamily="18" charset="0"/>
                      </a:rPr>
                      <m:t>z</m:t>
                    </m:r>
                    <m:r>
                      <a:rPr lang="de-CH" sz="1600" i="1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de-CH" sz="16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de-CH" sz="160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de-CH" sz="1600" dirty="0"/>
                  <a:t> = 6 − 3 = 3</a:t>
                </a: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263D3313-BBB5-C4F0-6626-A4E020F654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4163" y="1412875"/>
                <a:ext cx="5256000" cy="4860000"/>
              </a:xfrm>
              <a:prstGeom prst="rect">
                <a:avLst/>
              </a:prstGeom>
              <a:blipFill>
                <a:blip r:embed="rId3"/>
                <a:stretch>
                  <a:fillRect l="-464" t="-376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Grafik 10" descr="Netzwerk mit nummerierten Knoten">
            <a:extLst>
              <a:ext uri="{FF2B5EF4-FFF2-40B4-BE49-F238E27FC236}">
                <a16:creationId xmlns:a16="http://schemas.microsoft.com/office/drawing/2014/main" id="{135F30EC-8D33-C507-16D8-E06CB4AFED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838" y="1566910"/>
            <a:ext cx="5040000" cy="2041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305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E7073-0721-CC7D-80E7-D827DA37C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C614025E-669A-5629-07AA-0FE07B1A1B43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04D80D-4CC1-3436-D1F0-85E250E19662}"/>
              </a:ext>
            </a:extLst>
          </p:cNvPr>
          <p:cNvSpPr txBox="1"/>
          <p:nvPr/>
        </p:nvSpPr>
        <p:spPr>
          <a:xfrm>
            <a:off x="873811" y="542673"/>
            <a:ext cx="410369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Aufgabe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C44BE1-6B9D-73F1-5AC2-FE62DDF8AF79}"/>
              </a:ext>
            </a:extLst>
          </p:cNvPr>
          <p:cNvSpPr txBox="1"/>
          <p:nvPr/>
        </p:nvSpPr>
        <p:spPr>
          <a:xfrm>
            <a:off x="594360" y="932688"/>
            <a:ext cx="5169236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Aufgabe zu Netzwerkanalyse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E43E47A4-017B-C826-8BB8-3FA2E6185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E0FE1-AF03-4944-8B59-6F3340FFC6D2}" type="datetime1">
              <a:rPr lang="de-CH" smtClean="0"/>
              <a:t>21.10.2026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CDB5D09B-D86A-99A8-3F9D-51D2E2518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Enrico Putzi W06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D26F6895-5056-8AFD-51A1-7A0F79CAA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25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FD18A43-E0AA-2F30-A946-08C29A917A87}"/>
              </a:ext>
            </a:extLst>
          </p:cNvPr>
          <p:cNvSpPr txBox="1">
            <a:spLocks/>
          </p:cNvSpPr>
          <p:nvPr/>
        </p:nvSpPr>
        <p:spPr>
          <a:xfrm>
            <a:off x="6204163" y="1412875"/>
            <a:ext cx="5256000" cy="48600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CH" sz="1600" dirty="0"/>
              <a:t>Stellt die linear unabhängigen Knotengleichungen auf.</a:t>
            </a:r>
          </a:p>
        </p:txBody>
      </p:sp>
      <p:pic>
        <p:nvPicPr>
          <p:cNvPr id="6" name="Grafik 10" descr="Netzwerk mit nummerierten Knoten">
            <a:extLst>
              <a:ext uri="{FF2B5EF4-FFF2-40B4-BE49-F238E27FC236}">
                <a16:creationId xmlns:a16="http://schemas.microsoft.com/office/drawing/2014/main" id="{CADD6E34-951C-7DFB-9783-89CB6C9A92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838" y="1566910"/>
            <a:ext cx="5040000" cy="2041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8372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621712B-7900-AABD-C00C-95A6111FD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059BA7E-2F15-6E3C-3C85-3033B1C28B98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667F64-4104-9B13-D5B4-874DD31CB386}"/>
              </a:ext>
            </a:extLst>
          </p:cNvPr>
          <p:cNvSpPr txBox="1"/>
          <p:nvPr/>
        </p:nvSpPr>
        <p:spPr>
          <a:xfrm>
            <a:off x="873811" y="542673"/>
            <a:ext cx="410369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Aufgabe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9E3A2F-7DFF-9740-2B96-063E7AE16AEB}"/>
              </a:ext>
            </a:extLst>
          </p:cNvPr>
          <p:cNvSpPr txBox="1"/>
          <p:nvPr/>
        </p:nvSpPr>
        <p:spPr>
          <a:xfrm>
            <a:off x="594360" y="932688"/>
            <a:ext cx="5169236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Aufgabe zu Netzwerkanalyse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D1056B97-A2A6-D63F-A436-3D9905BB1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E0FE1-AF03-4944-8B59-6F3340FFC6D2}" type="datetime1">
              <a:rPr lang="de-CH" smtClean="0"/>
              <a:t>21.10.2026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D6F6D920-8CA4-40A7-3FF4-634BFD003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Enrico Putzi W06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A25ACDC5-43F5-493A-9670-E1E554921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99976406-B990-B91F-6010-312EF0B3222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04163" y="1412875"/>
                <a:ext cx="5256000" cy="4860000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de-CH" sz="1600" dirty="0"/>
                  <a:t>Netzwerkgraph: nur Knoten und Zweige, ohne Bauteile. Die Zählrichtungen der Ströme werden aus dem Netzwerk übernommen.</a:t>
                </a:r>
              </a:p>
              <a:p>
                <a:r>
                  <a:rPr lang="de-CH" sz="1600" dirty="0"/>
                  <a:t>Knotengleichungen für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de-CH" sz="160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CH" sz="16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de-CH" sz="160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CH" sz="1600" dirty="0"/>
                  <a:t> und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de-CH" sz="160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de-CH" sz="1600" dirty="0"/>
                  <a:t> (zufliessende Ströme positiv, abfliessende negativ):</a:t>
                </a:r>
              </a:p>
              <a:p>
                <a:pPr marL="0" indent="0" algn="ctr">
                  <a:buFont typeface="Arial"/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:   −</m:t>
                      </m:r>
                      <m:sSub>
                        <m:sSub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q</m:t>
                          </m:r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de-CH" sz="1600" dirty="0"/>
              </a:p>
              <a:p>
                <a:pPr marL="0" indent="0" algn="ctr">
                  <a:buFont typeface="Arial"/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:   </m:t>
                      </m:r>
                      <m:sSub>
                        <m:sSub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q</m:t>
                          </m:r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de-CH" sz="1600" dirty="0"/>
              </a:p>
              <a:p>
                <a:pPr marL="0" indent="0" algn="ctr">
                  <a:buFont typeface="Arial"/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:   </m:t>
                      </m:r>
                      <m:sSub>
                        <m:sSub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de-CH" sz="1600" dirty="0"/>
              </a:p>
              <a:p>
                <a:pPr marL="0" indent="0">
                  <a:buFont typeface="Arial"/>
                  <a:buNone/>
                </a:pPr>
                <a:r>
                  <a:rPr lang="de-CH" sz="1600" dirty="0"/>
                  <a:t>Warum wird die Gleichung für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de-CH" sz="160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de-CH" sz="1600" dirty="0"/>
                  <a:t> nicht benötigt?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de-CH" sz="160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de-CH" sz="16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de-CH" sz="160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CH" sz="160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CH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de-CH" sz="160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de-CH" sz="160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de-CH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de-CH" sz="160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de-CH" sz="160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de-CH" sz="1600" dirty="0"/>
                  <a:t> ist die (negative) Summe der anderen drei Gleichungen und liefert keine neue Information.</a:t>
                </a: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99976406-B990-B91F-6010-312EF0B322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4163" y="1412875"/>
                <a:ext cx="5256000" cy="4860000"/>
              </a:xfrm>
              <a:prstGeom prst="rect">
                <a:avLst/>
              </a:prstGeom>
              <a:blipFill>
                <a:blip r:embed="rId3"/>
                <a:stretch>
                  <a:fillRect l="-696" t="-376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Grafik 10" descr="Netzwerk mit nummerierten Knoten">
            <a:extLst>
              <a:ext uri="{FF2B5EF4-FFF2-40B4-BE49-F238E27FC236}">
                <a16:creationId xmlns:a16="http://schemas.microsoft.com/office/drawing/2014/main" id="{7A0E2D73-6D52-2BC7-B140-005270A29B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838" y="1566910"/>
            <a:ext cx="5040000" cy="2041929"/>
          </a:xfrm>
          <a:prstGeom prst="rect">
            <a:avLst/>
          </a:prstGeom>
        </p:spPr>
      </p:pic>
      <p:pic>
        <p:nvPicPr>
          <p:cNvPr id="7" name="Grafik 11" descr="Netzwerkgraph mit Zählrichtungen">
            <a:extLst>
              <a:ext uri="{FF2B5EF4-FFF2-40B4-BE49-F238E27FC236}">
                <a16:creationId xmlns:a16="http://schemas.microsoft.com/office/drawing/2014/main" id="{B3A10CAE-77AF-A5D1-36DE-B896E82A81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838" y="4076910"/>
            <a:ext cx="5040000" cy="2041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83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36DD1-E8E0-0CE8-90C8-85DDFFF28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3C0CCB9-D4C5-B23B-C8E8-D29FC8E70D6B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86AB1C-CADC-7017-95CE-B9742F8D0E67}"/>
              </a:ext>
            </a:extLst>
          </p:cNvPr>
          <p:cNvSpPr txBox="1"/>
          <p:nvPr/>
        </p:nvSpPr>
        <p:spPr>
          <a:xfrm>
            <a:off x="873811" y="542673"/>
            <a:ext cx="410369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Aufgabe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A041D5-34FA-61E9-F371-EFEBCFAF5AEF}"/>
              </a:ext>
            </a:extLst>
          </p:cNvPr>
          <p:cNvSpPr txBox="1"/>
          <p:nvPr/>
        </p:nvSpPr>
        <p:spPr>
          <a:xfrm>
            <a:off x="594360" y="932688"/>
            <a:ext cx="5169236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Aufgabe zu Netzwerkanalyse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1C41EE3E-1600-A2B6-5831-A4A57A2A0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E0FE1-AF03-4944-8B59-6F3340FFC6D2}" type="datetime1">
              <a:rPr lang="de-CH" smtClean="0"/>
              <a:t>21.10.2026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8DC0FE87-6FA4-3709-6527-C63516058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Enrico Putzi W06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DB89FD5D-A0AF-3278-3781-00AC3C805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27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D7B36F2-6C43-AED2-12CE-D0271648F5FF}"/>
              </a:ext>
            </a:extLst>
          </p:cNvPr>
          <p:cNvSpPr txBox="1">
            <a:spLocks/>
          </p:cNvSpPr>
          <p:nvPr/>
        </p:nvSpPr>
        <p:spPr>
          <a:xfrm>
            <a:off x="6204163" y="1412875"/>
            <a:ext cx="5256000" cy="48600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de-CH" sz="1600" dirty="0"/>
              <a:t>Die Zählpfeile der Spannungen sind in der Grafik vorgegeben.</a:t>
            </a:r>
          </a:p>
          <a:p>
            <a:pPr marL="0" indent="0">
              <a:buFont typeface="Arial"/>
              <a:buNone/>
            </a:pPr>
            <a:endParaRPr lang="de-CH" sz="600" dirty="0"/>
          </a:p>
          <a:p>
            <a:pPr marL="0" indent="0">
              <a:buFont typeface="Arial"/>
              <a:buNone/>
            </a:pPr>
            <a:r>
              <a:rPr lang="de-CH" sz="1600" dirty="0"/>
              <a:t>Stellt die Maschengleichungen mit dem Verfahren des </a:t>
            </a:r>
            <a:r>
              <a:rPr lang="de-CH" sz="1600" b="1" dirty="0"/>
              <a:t>vollständigen Baumes</a:t>
            </a:r>
            <a:r>
              <a:rPr lang="de-CH" sz="1600" dirty="0"/>
              <a:t> auf.</a:t>
            </a:r>
          </a:p>
        </p:txBody>
      </p:sp>
      <p:pic>
        <p:nvPicPr>
          <p:cNvPr id="6" name="Grafik 10" descr="Netzwerk mit Knoten und Spannungszählpfeilen">
            <a:extLst>
              <a:ext uri="{FF2B5EF4-FFF2-40B4-BE49-F238E27FC236}">
                <a16:creationId xmlns:a16="http://schemas.microsoft.com/office/drawing/2014/main" id="{2F22DC89-0E79-5DEB-F1B2-B664DD8256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838" y="1566910"/>
            <a:ext cx="5040000" cy="2041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9608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EE4061C-1737-9BFD-D26D-873D61C89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C2563676-0AA5-4723-5AF3-91FCF108BB00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6515AD-71F0-71AA-799B-86DB8A937F7D}"/>
              </a:ext>
            </a:extLst>
          </p:cNvPr>
          <p:cNvSpPr txBox="1"/>
          <p:nvPr/>
        </p:nvSpPr>
        <p:spPr>
          <a:xfrm>
            <a:off x="873811" y="542673"/>
            <a:ext cx="410369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Aufgabe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876F3D-1225-75EF-7911-BD519092D03B}"/>
              </a:ext>
            </a:extLst>
          </p:cNvPr>
          <p:cNvSpPr txBox="1"/>
          <p:nvPr/>
        </p:nvSpPr>
        <p:spPr>
          <a:xfrm>
            <a:off x="594360" y="932688"/>
            <a:ext cx="5169236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Aufgabe zu Netzwerkanalyse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769E81F3-576D-5E7F-4034-6D441BB8C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E0FE1-AF03-4944-8B59-6F3340FFC6D2}" type="datetime1">
              <a:rPr lang="de-CH" smtClean="0"/>
              <a:t>21.10.2026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A0E184AB-84DD-1B99-FD0B-368B8AD9A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Enrico Putzi W06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42600A0B-ABDD-4480-6407-9ED72726B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4B487F66-A3E8-15BF-D43A-BDBCB52465E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04163" y="1412875"/>
                <a:ext cx="5256000" cy="4860000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de-CH" sz="1600" dirty="0"/>
                  <a:t>Vollständiger Baum: Alle Knoten so über Zweige verbinden, dass keine geschlossene Masche entsteht (hier eine mögliche Wahl).</a:t>
                </a:r>
              </a:p>
              <a:p>
                <a:r>
                  <a:rPr lang="de-CH" sz="1600" dirty="0"/>
                  <a:t>Die nicht im Baum enthaltenen Zweige sind die Verbindungszweige: hier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CH" sz="16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de-CH" sz="1600" dirty="0"/>
                  <a:t> und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CH" sz="1600" dirty="0"/>
                  <a:t>.</a:t>
                </a:r>
              </a:p>
              <a:p>
                <a:r>
                  <a:rPr lang="de-CH" sz="1600" dirty="0"/>
                  <a:t>Anzahl Verbindungszweige = Anzahl Maschengleichungen = 3</a:t>
                </a:r>
              </a:p>
              <a:p>
                <a:r>
                  <a:rPr lang="de-CH" sz="1600" dirty="0"/>
                  <a:t>Jede Masche enthält genau einen Verbindungszweig und wird sonst über den Baum geschlossen. So sind alle Maschengleichungen linear unabhängig.</a:t>
                </a: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4B487F66-A3E8-15BF-D43A-BDBCB52465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4163" y="1412875"/>
                <a:ext cx="5256000" cy="4860000"/>
              </a:xfrm>
              <a:prstGeom prst="rect">
                <a:avLst/>
              </a:prstGeom>
              <a:blipFill>
                <a:blip r:embed="rId3"/>
                <a:stretch>
                  <a:fillRect l="-464" t="-376" r="-232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Grafik 10" descr="Netzwerk mit Knoten und Spannungszählpfeilen">
            <a:extLst>
              <a:ext uri="{FF2B5EF4-FFF2-40B4-BE49-F238E27FC236}">
                <a16:creationId xmlns:a16="http://schemas.microsoft.com/office/drawing/2014/main" id="{951F6BE5-44C2-2F05-CAA8-B00169734C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838" y="1566910"/>
            <a:ext cx="5040000" cy="2041929"/>
          </a:xfrm>
          <a:prstGeom prst="rect">
            <a:avLst/>
          </a:prstGeom>
        </p:spPr>
      </p:pic>
      <p:pic>
        <p:nvPicPr>
          <p:cNvPr id="7" name="Grafik 11" descr="Vollständiger Baum">
            <a:extLst>
              <a:ext uri="{FF2B5EF4-FFF2-40B4-BE49-F238E27FC236}">
                <a16:creationId xmlns:a16="http://schemas.microsoft.com/office/drawing/2014/main" id="{2336AA2A-CA99-F297-B74D-1B9141FC5D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838" y="4076910"/>
            <a:ext cx="5040000" cy="2041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130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56FE48B-9EB1-618D-20A6-FA7014E96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EAEC887-78BC-2F5C-4081-CB290CC3936F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957F3B-A560-7148-1E76-EB117F044E9E}"/>
              </a:ext>
            </a:extLst>
          </p:cNvPr>
          <p:cNvSpPr txBox="1"/>
          <p:nvPr/>
        </p:nvSpPr>
        <p:spPr>
          <a:xfrm>
            <a:off x="873811" y="542673"/>
            <a:ext cx="410369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Aufgabe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C28147-7444-2B56-AB74-766FEDDCC171}"/>
              </a:ext>
            </a:extLst>
          </p:cNvPr>
          <p:cNvSpPr txBox="1"/>
          <p:nvPr/>
        </p:nvSpPr>
        <p:spPr>
          <a:xfrm>
            <a:off x="594360" y="932688"/>
            <a:ext cx="5169236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Aufgabe zu Netzwerkanalyse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47E1A8CF-EBAB-6416-A554-E1BB90574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E0FE1-AF03-4944-8B59-6F3340FFC6D2}" type="datetime1">
              <a:rPr lang="de-CH" smtClean="0"/>
              <a:t>21.10.2026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BC2B4D3F-681F-4891-9B65-8FE68A2EA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Enrico Putzi W06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0DAC8144-D109-CDAB-60F1-CB394EB2C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A511C64E-45F2-954A-8BC7-9D131012461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04163" y="1412875"/>
                <a:ext cx="5256000" cy="4860000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de-CH" sz="1600" dirty="0"/>
                  <a:t>Umlaufsinn im Uhrzeigersinn: Spannungen in Umlaufrichtung positiv, entgegen der Umlaufrichtung negativ.</a:t>
                </a:r>
              </a:p>
              <a:p>
                <a:pPr marL="0" indent="0" algn="ctr">
                  <a:buFont typeface="Arial"/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b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:   </m:t>
                      </m:r>
                      <m:sSub>
                        <m:sSub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q</m:t>
                          </m:r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de-CH" sz="1600" dirty="0"/>
              </a:p>
              <a:p>
                <a:pPr marL="0" indent="0" algn="ctr">
                  <a:buFont typeface="Arial"/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b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:   −</m:t>
                      </m:r>
                      <m:sSub>
                        <m:sSub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q</m:t>
                          </m:r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de-CH" sz="1600" dirty="0"/>
              </a:p>
              <a:p>
                <a:pPr marL="0" indent="0" algn="ctr">
                  <a:buFont typeface="Arial"/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b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:   </m:t>
                      </m:r>
                      <m:sSub>
                        <m:sSub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q</m:t>
                          </m:r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q</m:t>
                          </m:r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de-CH" sz="1600" dirty="0"/>
              </a:p>
              <a:p>
                <a:r>
                  <a:rPr lang="de-CH" sz="1600" dirty="0"/>
                  <a:t>Mit dem Ohm’schen Gesetz die Spannungen durch die Ströme ersetzen:</a:t>
                </a:r>
              </a:p>
              <a:p>
                <a:pPr marL="0" indent="0" algn="ctr">
                  <a:buFont typeface="Arial"/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q</m:t>
                          </m:r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CH" sz="1600" dirty="0"/>
              </a:p>
              <a:p>
                <a:pPr marL="0" indent="0" algn="ctr">
                  <a:buFont typeface="Arial"/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sSub>
                        <m:sSub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sSub>
                        <m:sSub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q</m:t>
                          </m:r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CH" sz="1600" dirty="0"/>
              </a:p>
              <a:p>
                <a:pPr marL="0" indent="0" algn="ctr">
                  <a:buFont typeface="Arial"/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sSub>
                        <m:sSub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q</m:t>
                          </m:r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q</m:t>
                          </m:r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CH" sz="1600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A511C64E-45F2-954A-8BC7-9D13101246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4163" y="1412875"/>
                <a:ext cx="5256000" cy="4860000"/>
              </a:xfrm>
              <a:prstGeom prst="rect">
                <a:avLst/>
              </a:prstGeom>
              <a:blipFill>
                <a:blip r:embed="rId3"/>
                <a:stretch>
                  <a:fillRect l="-464" t="-376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Grafik 10" descr="Masche M1">
            <a:extLst>
              <a:ext uri="{FF2B5EF4-FFF2-40B4-BE49-F238E27FC236}">
                <a16:creationId xmlns:a16="http://schemas.microsoft.com/office/drawing/2014/main" id="{EFFC0E18-A228-2FD9-C78D-DAAAC2F878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6600" y="1412875"/>
            <a:ext cx="3850476" cy="1560000"/>
          </a:xfrm>
          <a:prstGeom prst="rect">
            <a:avLst/>
          </a:prstGeom>
        </p:spPr>
      </p:pic>
      <p:pic>
        <p:nvPicPr>
          <p:cNvPr id="7" name="Grafik 11" descr="Masche M2">
            <a:extLst>
              <a:ext uri="{FF2B5EF4-FFF2-40B4-BE49-F238E27FC236}">
                <a16:creationId xmlns:a16="http://schemas.microsoft.com/office/drawing/2014/main" id="{94C893E3-317C-388B-1195-E7C2DF2014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6600" y="3032875"/>
            <a:ext cx="3850476" cy="1560000"/>
          </a:xfrm>
          <a:prstGeom prst="rect">
            <a:avLst/>
          </a:prstGeom>
        </p:spPr>
      </p:pic>
      <p:pic>
        <p:nvPicPr>
          <p:cNvPr id="8" name="Grafik 12" descr="Masche M3">
            <a:extLst>
              <a:ext uri="{FF2B5EF4-FFF2-40B4-BE49-F238E27FC236}">
                <a16:creationId xmlns:a16="http://schemas.microsoft.com/office/drawing/2014/main" id="{E033F5E1-26E0-35F3-40B6-B883C2B842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6600" y="4652875"/>
            <a:ext cx="3850476" cy="15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007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39470-8D8A-E827-DA9F-21C9DFE38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50974DE2-A19D-2C1F-EDD7-886AE4CEC1BC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F0F3A2-E58D-BEE3-A2EB-85406752B17F}"/>
              </a:ext>
            </a:extLst>
          </p:cNvPr>
          <p:cNvSpPr txBox="1"/>
          <p:nvPr/>
        </p:nvSpPr>
        <p:spPr>
          <a:xfrm>
            <a:off x="873811" y="542673"/>
            <a:ext cx="410369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Aufgabe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68EA46-E233-19D1-475C-6E5F8101B63B}"/>
              </a:ext>
            </a:extLst>
          </p:cNvPr>
          <p:cNvSpPr txBox="1"/>
          <p:nvPr/>
        </p:nvSpPr>
        <p:spPr>
          <a:xfrm>
            <a:off x="594360" y="932688"/>
            <a:ext cx="5169236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Aufgabe zu Netzwerkanalyse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C7C55FCF-B86B-11FF-628D-C19D43DF8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E0FE1-AF03-4944-8B59-6F3340FFC6D2}" type="datetime1">
              <a:rPr lang="de-CH" smtClean="0"/>
              <a:t>21.10.2026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03A9805B-B06C-F9AB-3900-09B7A8168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Enrico Putzi W06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A9000EBD-358C-D97B-6B2A-01F30AFCE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30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7220B58-0718-B80A-13C8-7911E1C25A1C}"/>
              </a:ext>
            </a:extLst>
          </p:cNvPr>
          <p:cNvSpPr txBox="1">
            <a:spLocks/>
          </p:cNvSpPr>
          <p:nvPr/>
        </p:nvSpPr>
        <p:spPr>
          <a:xfrm>
            <a:off x="6204163" y="1412875"/>
            <a:ext cx="5256000" cy="48600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de-CH" sz="1600" dirty="0"/>
              <a:t>Stellt die Maschengleichungen mit dem Verfahren der </a:t>
            </a:r>
            <a:r>
              <a:rPr lang="de-CH" sz="1600" b="1" dirty="0"/>
              <a:t>Auftrennung der Maschen</a:t>
            </a:r>
            <a:r>
              <a:rPr lang="de-CH" sz="1600" dirty="0"/>
              <a:t> auf.</a:t>
            </a:r>
          </a:p>
        </p:txBody>
      </p:sp>
      <p:pic>
        <p:nvPicPr>
          <p:cNvPr id="6" name="Grafik 10" descr="Netzwerk mit Knoten und Spannungszählpfeilen">
            <a:extLst>
              <a:ext uri="{FF2B5EF4-FFF2-40B4-BE49-F238E27FC236}">
                <a16:creationId xmlns:a16="http://schemas.microsoft.com/office/drawing/2014/main" id="{A4FA23D1-EFFF-94C9-BFE4-65EBAE588A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838" y="1566910"/>
            <a:ext cx="5040000" cy="2041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5599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6F3039C-5F8D-D812-14A5-D79E1FE9B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4359898-5B50-8461-993B-2D6062A18332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36BDDE-F649-B2EF-87A9-C934BBBD8253}"/>
              </a:ext>
            </a:extLst>
          </p:cNvPr>
          <p:cNvSpPr txBox="1"/>
          <p:nvPr/>
        </p:nvSpPr>
        <p:spPr>
          <a:xfrm>
            <a:off x="873811" y="542673"/>
            <a:ext cx="410369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Aufgabe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C41486-AC10-5AFD-F81B-BF142D9AEEE5}"/>
              </a:ext>
            </a:extLst>
          </p:cNvPr>
          <p:cNvSpPr txBox="1"/>
          <p:nvPr/>
        </p:nvSpPr>
        <p:spPr>
          <a:xfrm>
            <a:off x="594360" y="932688"/>
            <a:ext cx="5169236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Aufgabe zu Netzwerkanalyse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9D7B3489-5046-94E3-9C60-8BC167013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E0FE1-AF03-4944-8B59-6F3340FFC6D2}" type="datetime1">
              <a:rPr lang="de-CH" smtClean="0"/>
              <a:t>21.10.2026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0C4A2D68-5444-173C-C868-9C82EC015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Enrico Putzi W06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1F25D01E-1BD8-9597-41EE-E247EFF5B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6AA5426B-F7DE-3583-7091-365F5BE4396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04163" y="1412875"/>
                <a:ext cx="5256000" cy="4860000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de-CH" sz="1600" dirty="0"/>
                  <a:t>Eine beliebige Masche wählen und die Gleichung aufstellen. Danach die Masche an einem Zweig auftrennen: Dieser Zweig darf in den weiteren Maschen nicht mehr vorkommen.</a:t>
                </a:r>
              </a:p>
              <a:p>
                <a:pPr marL="0" indent="0" algn="ctr">
                  <a:buFont typeface="Arial"/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b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:   </m:t>
                      </m:r>
                      <m:sSub>
                        <m:sSub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de-CH" sz="1600" dirty="0"/>
              </a:p>
              <a:p>
                <a:pPr marL="0" indent="0">
                  <a:buFont typeface="Arial"/>
                  <a:buNone/>
                </a:pPr>
                <a:r>
                  <a:rPr lang="de-CH" sz="1200" i="1" dirty="0"/>
                  <a:t>Danach den Zweig mit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200" i="1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20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CH" sz="1200" i="1" dirty="0"/>
                  <a:t> auftrennen.</a:t>
                </a:r>
                <a:endParaRPr lang="de-CH" sz="1200" dirty="0"/>
              </a:p>
              <a:p>
                <a:pPr marL="0" indent="0" algn="ctr">
                  <a:buFont typeface="Arial"/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b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:   </m:t>
                      </m:r>
                      <m:sSub>
                        <m:sSub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q</m:t>
                          </m:r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de-CH" sz="1600" dirty="0"/>
              </a:p>
              <a:p>
                <a:pPr marL="0" indent="0">
                  <a:buFont typeface="Arial"/>
                  <a:buNone/>
                </a:pPr>
                <a:r>
                  <a:rPr lang="de-CH" sz="1200" i="1" dirty="0"/>
                  <a:t>Danach den Zweig mit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200" i="1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20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de-CH" sz="1200" i="1" dirty="0"/>
                  <a:t> auftrennen.</a:t>
                </a:r>
                <a:endParaRPr lang="de-CH" sz="1200" dirty="0"/>
              </a:p>
              <a:p>
                <a:pPr marL="0" indent="0" algn="ctr">
                  <a:buFont typeface="Arial"/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b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:   </m:t>
                      </m:r>
                      <m:sSub>
                        <m:sSub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q</m:t>
                          </m:r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q</m:t>
                          </m:r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de-CH" sz="1600" dirty="0"/>
              </a:p>
              <a:p>
                <a:pPr marL="0" indent="0">
                  <a:buFont typeface="Arial"/>
                  <a:buNone/>
                </a:pPr>
                <a:r>
                  <a:rPr lang="de-CH" sz="1600" dirty="0"/>
                  <a:t>Die beiden Verfahren liefern unterschiedliche Gleichungssysteme. Ist das ein Problem?</a:t>
                </a:r>
              </a:p>
              <a:p>
                <a:r>
                  <a:rPr lang="de-CH" sz="1600" dirty="0"/>
                  <a:t>Nein: Beide Systeme sind linear unabhängig und führen zusammen mit den Knotengleichungen auf dieselben Ströme und Spannungen.</a:t>
                </a: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6AA5426B-F7DE-3583-7091-365F5BE439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4163" y="1412875"/>
                <a:ext cx="5256000" cy="4860000"/>
              </a:xfrm>
              <a:prstGeom prst="rect">
                <a:avLst/>
              </a:prstGeom>
              <a:blipFill>
                <a:blip r:embed="rId3"/>
                <a:stretch>
                  <a:fillRect l="-696" t="-376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Grafik 10" descr="Masche M1">
            <a:extLst>
              <a:ext uri="{FF2B5EF4-FFF2-40B4-BE49-F238E27FC236}">
                <a16:creationId xmlns:a16="http://schemas.microsoft.com/office/drawing/2014/main" id="{8571210C-1536-4A82-0B92-F79ABFB1DF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6600" y="1412875"/>
            <a:ext cx="3850476" cy="1560000"/>
          </a:xfrm>
          <a:prstGeom prst="rect">
            <a:avLst/>
          </a:prstGeom>
        </p:spPr>
      </p:pic>
      <p:pic>
        <p:nvPicPr>
          <p:cNvPr id="7" name="Grafik 11" descr="Masche M2">
            <a:extLst>
              <a:ext uri="{FF2B5EF4-FFF2-40B4-BE49-F238E27FC236}">
                <a16:creationId xmlns:a16="http://schemas.microsoft.com/office/drawing/2014/main" id="{F8BC295C-EC5D-7753-3230-4BF975C67C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6600" y="3032875"/>
            <a:ext cx="3850476" cy="1560000"/>
          </a:xfrm>
          <a:prstGeom prst="rect">
            <a:avLst/>
          </a:prstGeom>
        </p:spPr>
      </p:pic>
      <p:pic>
        <p:nvPicPr>
          <p:cNvPr id="8" name="Grafik 12" descr="Masche M3">
            <a:extLst>
              <a:ext uri="{FF2B5EF4-FFF2-40B4-BE49-F238E27FC236}">
                <a16:creationId xmlns:a16="http://schemas.microsoft.com/office/drawing/2014/main" id="{BD00F00B-7B13-6F4E-34BD-F2E296D553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6600" y="4652875"/>
            <a:ext cx="3850476" cy="15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694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F2DE0-2E5E-609F-2F8A-0D9F334BA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2D6F05C-293C-7EF9-09D2-5394C3FDA3DB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F406CC-A28A-E74A-D3D7-3ED476559A40}"/>
              </a:ext>
            </a:extLst>
          </p:cNvPr>
          <p:cNvSpPr txBox="1"/>
          <p:nvPr/>
        </p:nvSpPr>
        <p:spPr>
          <a:xfrm>
            <a:off x="873811" y="542673"/>
            <a:ext cx="410369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Aufgabe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72CDB9-5E1E-20E7-7617-25F784E90100}"/>
              </a:ext>
            </a:extLst>
          </p:cNvPr>
          <p:cNvSpPr txBox="1"/>
          <p:nvPr/>
        </p:nvSpPr>
        <p:spPr>
          <a:xfrm>
            <a:off x="594360" y="932688"/>
            <a:ext cx="3144515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 err="1">
                <a:solidFill>
                  <a:srgbClr val="171717"/>
                </a:solidFill>
                <a:latin typeface="Aptos"/>
              </a:rPr>
              <a:t>Moodle</a:t>
            </a:r>
            <a:r>
              <a:rPr lang="de-CH" sz="3100" b="1" dirty="0">
                <a:solidFill>
                  <a:srgbClr val="171717"/>
                </a:solidFill>
                <a:latin typeface="Aptos"/>
              </a:rPr>
              <a:t> Aufgaben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24D1410D-5128-1E6C-D8A1-AF5105BE5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E0FE1-AF03-4944-8B59-6F3340FFC6D2}" type="datetime1">
              <a:rPr lang="de-CH" smtClean="0"/>
              <a:t>21.10.2026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9B1635BE-78D5-7AE3-7115-A25AA3715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Enrico Putzi W06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A74EE7A0-0405-BC35-6E82-5C5820C0A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441CFCB7-0DCF-DA29-DC89-3AA5BCE6F3E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04163" y="1412875"/>
                <a:ext cx="5256000" cy="4860000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/>
                  <a:buNone/>
                </a:pPr>
                <a:r>
                  <a:rPr lang="de-CH" sz="1600" dirty="0"/>
                  <a:t>Bestimmt die Spannungen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de-CH" sz="160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CH" sz="16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de-CH" sz="160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CH" sz="1600" dirty="0"/>
                  <a:t> und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de-CH" sz="160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de-CH" sz="1600" dirty="0"/>
                  <a:t>.</a:t>
                </a: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441CFCB7-0DCF-DA29-DC89-3AA5BCE6F3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4163" y="1412875"/>
                <a:ext cx="5256000" cy="4860000"/>
              </a:xfrm>
              <a:prstGeom prst="rect">
                <a:avLst/>
              </a:prstGeom>
              <a:blipFill>
                <a:blip r:embed="rId3"/>
                <a:stretch>
                  <a:fillRect l="-696" t="-376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Grafik 10" descr="Moodle-Aufgabe 1">
            <a:extLst>
              <a:ext uri="{FF2B5EF4-FFF2-40B4-BE49-F238E27FC236}">
                <a16:creationId xmlns:a16="http://schemas.microsoft.com/office/drawing/2014/main" id="{4A1E8FCC-8D38-8D15-63D2-4D17DF65C2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838" y="2227621"/>
            <a:ext cx="5040000" cy="3230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0299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AD2EDA8-46AD-2803-7BC9-4D427A810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501AE523-720F-FB93-29F5-7C9C37CEEAD2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B717C0-7364-9122-627C-6CBE1F099E91}"/>
              </a:ext>
            </a:extLst>
          </p:cNvPr>
          <p:cNvSpPr txBox="1"/>
          <p:nvPr/>
        </p:nvSpPr>
        <p:spPr>
          <a:xfrm>
            <a:off x="873811" y="542673"/>
            <a:ext cx="410369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Aufgabe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1E3962-60BE-4686-497C-A8F757CAF3CD}"/>
              </a:ext>
            </a:extLst>
          </p:cNvPr>
          <p:cNvSpPr txBox="1"/>
          <p:nvPr/>
        </p:nvSpPr>
        <p:spPr>
          <a:xfrm>
            <a:off x="594360" y="932688"/>
            <a:ext cx="3144515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 err="1">
                <a:solidFill>
                  <a:srgbClr val="171717"/>
                </a:solidFill>
                <a:latin typeface="Aptos"/>
              </a:rPr>
              <a:t>Moodle</a:t>
            </a:r>
            <a:r>
              <a:rPr lang="de-CH" sz="3100" b="1" dirty="0">
                <a:solidFill>
                  <a:srgbClr val="171717"/>
                </a:solidFill>
                <a:latin typeface="Aptos"/>
              </a:rPr>
              <a:t> Aufgaben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813483B6-1294-6CA2-C137-B8024FFBE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E0FE1-AF03-4944-8B59-6F3340FFC6D2}" type="datetime1">
              <a:rPr lang="de-CH" smtClean="0"/>
              <a:t>21.10.2026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3F5B39A8-48CA-4CDD-90E7-C3A406A40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Enrico Putzi W06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50193CC9-92A8-4283-FF95-C2B43D37E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98BDD5B6-D56E-4915-638F-54F4822F954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04163" y="1412875"/>
                <a:ext cx="5256000" cy="4860000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de-CH" sz="1600" dirty="0"/>
                  <a:t>Masche links (112 V, 12 V,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de-CH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CH" sz="1600" dirty="0"/>
                  <a:t>, 10 V):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de-CH" sz="1600" i="1">
                          <a:latin typeface="Cambria Math" panose="02040503050406030204" pitchFamily="18" charset="0"/>
                        </a:rPr>
                        <m:t>112 </m:t>
                      </m:r>
                      <m:r>
                        <m:rPr>
                          <m:sty m:val="p"/>
                        </m:rPr>
                        <a:rPr lang="de-CH" sz="1600" i="1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de-CH" sz="1600" i="1">
                          <a:latin typeface="Cambria Math" panose="02040503050406030204" pitchFamily="18" charset="0"/>
                        </a:rPr>
                        <m:t>=12 </m:t>
                      </m:r>
                      <m:r>
                        <m:rPr>
                          <m:sty m:val="p"/>
                        </m:rPr>
                        <a:rPr lang="de-CH" sz="1600" i="1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de-CH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CH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de-CH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CH" sz="1600" i="1">
                          <a:latin typeface="Cambria Math" panose="02040503050406030204" pitchFamily="18" charset="0"/>
                        </a:rPr>
                        <m:t>+10 </m:t>
                      </m:r>
                      <m:r>
                        <m:rPr>
                          <m:sty m:val="p"/>
                        </m:rPr>
                        <a:rPr lang="de-CH" sz="1600" i="1">
                          <a:latin typeface="Cambria Math" panose="02040503050406030204" pitchFamily="18" charset="0"/>
                        </a:rPr>
                        <m:t>V</m:t>
                      </m:r>
                    </m:oMath>
                  </m:oMathPara>
                </a14:m>
                <a:endParaRPr lang="de-CH" sz="16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CH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de-CH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CH" sz="1600" i="1">
                          <a:latin typeface="Cambria Math" panose="02040503050406030204" pitchFamily="18" charset="0"/>
                        </a:rPr>
                        <m:t>=112 </m:t>
                      </m:r>
                      <m:r>
                        <m:rPr>
                          <m:sty m:val="p"/>
                        </m:rPr>
                        <a:rPr lang="de-CH" sz="1600" i="1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de-CH" sz="1600" i="1">
                          <a:latin typeface="Cambria Math" panose="02040503050406030204" pitchFamily="18" charset="0"/>
                        </a:rPr>
                        <m:t>−12 </m:t>
                      </m:r>
                      <m:r>
                        <m:rPr>
                          <m:sty m:val="p"/>
                        </m:rPr>
                        <a:rPr lang="de-CH" sz="1600" i="1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de-CH" sz="1600" i="1">
                          <a:latin typeface="Cambria Math" panose="02040503050406030204" pitchFamily="18" charset="0"/>
                        </a:rPr>
                        <m:t>−10 </m:t>
                      </m:r>
                      <m:r>
                        <m:rPr>
                          <m:sty m:val="p"/>
                        </m:rPr>
                        <a:rPr lang="de-CH" sz="1600" i="1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de-CH" sz="1600" i="1">
                          <a:latin typeface="Cambria Math" panose="02040503050406030204" pitchFamily="18" charset="0"/>
                        </a:rPr>
                        <m:t>=90 </m:t>
                      </m:r>
                      <m:r>
                        <m:rPr>
                          <m:sty m:val="p"/>
                        </m:rPr>
                        <a:rPr lang="de-CH" sz="1600" i="1">
                          <a:latin typeface="Cambria Math" panose="02040503050406030204" pitchFamily="18" charset="0"/>
                        </a:rPr>
                        <m:t>V</m:t>
                      </m:r>
                    </m:oMath>
                  </m:oMathPara>
                </a14:m>
                <a:endParaRPr lang="de-CH" sz="1600" dirty="0"/>
              </a:p>
              <a:p>
                <a:r>
                  <a:rPr lang="de-CH" sz="1600" dirty="0"/>
                  <a:t>Masche Mitte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de-CH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CH" sz="1600" dirty="0"/>
                  <a:t>, 16 V oben,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de-CH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CH" sz="1600" dirty="0"/>
                  <a:t>):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CH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de-CH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CH" sz="1600" i="1">
                          <a:latin typeface="Cambria Math" panose="02040503050406030204" pitchFamily="18" charset="0"/>
                        </a:rPr>
                        <m:t>=16 </m:t>
                      </m:r>
                      <m:r>
                        <m:rPr>
                          <m:sty m:val="p"/>
                        </m:rPr>
                        <a:rPr lang="de-CH" sz="1600" i="1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de-CH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CH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de-CH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CH" sz="16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CH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de-CH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CH" sz="1600" i="1">
                          <a:latin typeface="Cambria Math" panose="02040503050406030204" pitchFamily="18" charset="0"/>
                        </a:rPr>
                        <m:t>=90 </m:t>
                      </m:r>
                      <m:r>
                        <m:rPr>
                          <m:sty m:val="p"/>
                        </m:rPr>
                        <a:rPr lang="de-CH" sz="1600" i="1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de-CH" sz="1600" i="1">
                          <a:latin typeface="Cambria Math" panose="02040503050406030204" pitchFamily="18" charset="0"/>
                        </a:rPr>
                        <m:t>−16 </m:t>
                      </m:r>
                      <m:r>
                        <m:rPr>
                          <m:sty m:val="p"/>
                        </m:rPr>
                        <a:rPr lang="de-CH" sz="1600" i="1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de-CH" sz="1600" i="1">
                          <a:latin typeface="Cambria Math" panose="02040503050406030204" pitchFamily="18" charset="0"/>
                        </a:rPr>
                        <m:t>=74 </m:t>
                      </m:r>
                      <m:r>
                        <m:rPr>
                          <m:sty m:val="p"/>
                        </m:rPr>
                        <a:rPr lang="de-CH" sz="1600" i="1">
                          <a:latin typeface="Cambria Math" panose="02040503050406030204" pitchFamily="18" charset="0"/>
                        </a:rPr>
                        <m:t>V</m:t>
                      </m:r>
                    </m:oMath>
                  </m:oMathPara>
                </a14:m>
                <a:endParaRPr lang="de-CH" sz="1600" dirty="0"/>
              </a:p>
              <a:p>
                <a:r>
                  <a:rPr lang="de-CH" sz="1600" dirty="0"/>
                  <a:t>Masche rechts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de-CH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CH" sz="16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de-CH" sz="16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de-CH" sz="1600" dirty="0"/>
                  <a:t>, 16 V unten):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CH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de-CH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CH" sz="1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CH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de-CH" sz="16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de-CH" sz="1600" i="1">
                          <a:latin typeface="Cambria Math" panose="02040503050406030204" pitchFamily="18" charset="0"/>
                        </a:rPr>
                        <m:t>+16 </m:t>
                      </m:r>
                      <m:r>
                        <m:rPr>
                          <m:sty m:val="p"/>
                        </m:rPr>
                        <a:rPr lang="de-CH" sz="1600" i="1">
                          <a:latin typeface="Cambria Math" panose="02040503050406030204" pitchFamily="18" charset="0"/>
                        </a:rPr>
                        <m:t>V</m:t>
                      </m:r>
                    </m:oMath>
                  </m:oMathPara>
                </a14:m>
                <a:endParaRPr lang="de-CH" sz="16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CH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de-CH" sz="16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de-CH" sz="1600" i="1">
                          <a:latin typeface="Cambria Math" panose="02040503050406030204" pitchFamily="18" charset="0"/>
                        </a:rPr>
                        <m:t>=74 </m:t>
                      </m:r>
                      <m:r>
                        <m:rPr>
                          <m:sty m:val="p"/>
                        </m:rPr>
                        <a:rPr lang="de-CH" sz="1600" i="1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de-CH" sz="1600" i="1">
                          <a:latin typeface="Cambria Math" panose="02040503050406030204" pitchFamily="18" charset="0"/>
                        </a:rPr>
                        <m:t>−16 </m:t>
                      </m:r>
                      <m:r>
                        <m:rPr>
                          <m:sty m:val="p"/>
                        </m:rPr>
                        <a:rPr lang="de-CH" sz="1600" i="1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de-CH" sz="1600" i="1">
                          <a:latin typeface="Cambria Math" panose="02040503050406030204" pitchFamily="18" charset="0"/>
                        </a:rPr>
                        <m:t>=58 </m:t>
                      </m:r>
                      <m:r>
                        <m:rPr>
                          <m:sty m:val="p"/>
                        </m:rPr>
                        <a:rPr lang="de-CH" sz="1600" i="1">
                          <a:latin typeface="Cambria Math" panose="02040503050406030204" pitchFamily="18" charset="0"/>
                        </a:rPr>
                        <m:t>V</m:t>
                      </m:r>
                    </m:oMath>
                  </m:oMathPara>
                </a14:m>
                <a:endParaRPr lang="de-CH" sz="1600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98BDD5B6-D56E-4915-638F-54F4822F95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4163" y="1412875"/>
                <a:ext cx="5256000" cy="4860000"/>
              </a:xfrm>
              <a:prstGeom prst="rect">
                <a:avLst/>
              </a:prstGeom>
              <a:blipFill>
                <a:blip r:embed="rId3"/>
                <a:stretch>
                  <a:fillRect l="-464" t="-376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Grafik 10" descr="Moodle-Aufgabe 1">
            <a:extLst>
              <a:ext uri="{FF2B5EF4-FFF2-40B4-BE49-F238E27FC236}">
                <a16:creationId xmlns:a16="http://schemas.microsoft.com/office/drawing/2014/main" id="{F7BCAA6E-441E-75DF-B0ED-B46D39BEC6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838" y="2227621"/>
            <a:ext cx="5040000" cy="3230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2955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B475D-5B1C-7A25-F114-F19257F91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A52FF134-4030-ED86-60DF-1EAD05C651D6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E89B08-664C-7D45-7C8A-6D75AF642D3A}"/>
              </a:ext>
            </a:extLst>
          </p:cNvPr>
          <p:cNvSpPr txBox="1"/>
          <p:nvPr/>
        </p:nvSpPr>
        <p:spPr>
          <a:xfrm>
            <a:off x="873811" y="542673"/>
            <a:ext cx="410369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Aufgabe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7140DC-4581-F321-3957-DC06EC397F4A}"/>
              </a:ext>
            </a:extLst>
          </p:cNvPr>
          <p:cNvSpPr txBox="1"/>
          <p:nvPr/>
        </p:nvSpPr>
        <p:spPr>
          <a:xfrm>
            <a:off x="594360" y="932688"/>
            <a:ext cx="3144515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 err="1">
                <a:solidFill>
                  <a:srgbClr val="171717"/>
                </a:solidFill>
                <a:latin typeface="Aptos"/>
              </a:rPr>
              <a:t>Moodle</a:t>
            </a:r>
            <a:r>
              <a:rPr lang="de-CH" sz="3100" b="1" dirty="0">
                <a:solidFill>
                  <a:srgbClr val="171717"/>
                </a:solidFill>
                <a:latin typeface="Aptos"/>
              </a:rPr>
              <a:t> Aufgaben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59FE75CB-23FB-3683-2841-983B85069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E0FE1-AF03-4944-8B59-6F3340FFC6D2}" type="datetime1">
              <a:rPr lang="de-CH" smtClean="0"/>
              <a:t>21.10.2026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B5CFA77B-46D5-2107-3557-0AFAD84C0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Enrico Putzi W06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04EEEF1D-ACE0-D22F-34BA-54F1FD8BC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34</a:t>
            </a:fld>
            <a:endParaRPr lang="en-US"/>
          </a:p>
        </p:txBody>
      </p:sp>
      <p:pic>
        <p:nvPicPr>
          <p:cNvPr id="6" name="Grafik 10" descr="Moodle-Aufgabe 2">
            <a:extLst>
              <a:ext uri="{FF2B5EF4-FFF2-40B4-BE49-F238E27FC236}">
                <a16:creationId xmlns:a16="http://schemas.microsoft.com/office/drawing/2014/main" id="{09D327D3-90F9-DDF2-B586-7494E417EC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838" y="1412875"/>
            <a:ext cx="6488223" cy="48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4583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E498F54-94E8-9329-E270-015178CE2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B575EDD-6DD4-16EB-8438-5E5049152144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EC14F6-B034-3EF2-7F47-CCB3299B194C}"/>
              </a:ext>
            </a:extLst>
          </p:cNvPr>
          <p:cNvSpPr txBox="1"/>
          <p:nvPr/>
        </p:nvSpPr>
        <p:spPr>
          <a:xfrm>
            <a:off x="873811" y="542673"/>
            <a:ext cx="410369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Aufgabe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B417AB-00C1-0534-8513-CF41FD0F104C}"/>
              </a:ext>
            </a:extLst>
          </p:cNvPr>
          <p:cNvSpPr txBox="1"/>
          <p:nvPr/>
        </p:nvSpPr>
        <p:spPr>
          <a:xfrm>
            <a:off x="594360" y="932688"/>
            <a:ext cx="3144515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 err="1">
                <a:solidFill>
                  <a:srgbClr val="171717"/>
                </a:solidFill>
                <a:latin typeface="Aptos"/>
              </a:rPr>
              <a:t>Moodle</a:t>
            </a:r>
            <a:r>
              <a:rPr lang="de-CH" sz="3100" b="1" dirty="0">
                <a:solidFill>
                  <a:srgbClr val="171717"/>
                </a:solidFill>
                <a:latin typeface="Aptos"/>
              </a:rPr>
              <a:t> Aufgaben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5F562A7C-A6B1-4044-44E3-80ABB124D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E0FE1-AF03-4944-8B59-6F3340FFC6D2}" type="datetime1">
              <a:rPr lang="de-CH" smtClean="0"/>
              <a:t>21.10.2026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055FE783-7DC2-23E0-46D3-8FCB9C30F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Enrico Putzi W06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E3FC21D7-B163-42FA-05D7-2CE736D5C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35</a:t>
            </a:fld>
            <a:endParaRPr lang="en-US"/>
          </a:p>
        </p:txBody>
      </p:sp>
      <p:pic>
        <p:nvPicPr>
          <p:cNvPr id="6" name="Grafik 10" descr="Moodle-Aufgabe 2">
            <a:extLst>
              <a:ext uri="{FF2B5EF4-FFF2-40B4-BE49-F238E27FC236}">
                <a16:creationId xmlns:a16="http://schemas.microsoft.com/office/drawing/2014/main" id="{10DA2FBF-1A83-3E50-BC55-8B49D9EF5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837" y="1660430"/>
            <a:ext cx="5412558" cy="405427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3BEF8A46-693F-D344-8F77-1781EAEEF46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04163" y="1412875"/>
                <a:ext cx="5256000" cy="4860000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CH" sz="1600" dirty="0"/>
                  <a:t> liegt direkt 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de-CH" sz="160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CH" sz="16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CH" sz="1600" dirty="0"/>
                  <a:t> direkt 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de-CH" sz="160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CH" sz="1600" dirty="0"/>
                  <a:t>. Ohm’sches Gesetz:</a:t>
                </a:r>
              </a:p>
              <a:p>
                <a:pPr marL="0" indent="0" algn="ctr">
                  <a:buFont typeface="Arial"/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e>
                            <m:sub>
                              <m: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−1.56 </m:t>
                          </m:r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V</m:t>
                          </m:r>
                        </m:num>
                        <m:den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22 </m:t>
                          </m:r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kΩ</m:t>
                          </m:r>
                        </m:den>
                      </m:f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≈−71 </m:t>
                      </m:r>
                      <m:r>
                        <m:rPr>
                          <m:sty m:val="p"/>
                        </m:rPr>
                        <a:rPr lang="de-CH" sz="1600" i="1" smtClean="0">
                          <a:latin typeface="Cambria Math" panose="02040503050406030204" pitchFamily="18" charset="0"/>
                        </a:rPr>
                        <m:t>μA</m:t>
                      </m:r>
                    </m:oMath>
                  </m:oMathPara>
                </a14:m>
                <a:endParaRPr lang="de-CH" sz="1600" dirty="0"/>
              </a:p>
              <a:p>
                <a:pPr marL="0" indent="0" algn="ctr">
                  <a:buFont typeface="Arial"/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e>
                            <m:sub>
                              <m: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0.564 </m:t>
                          </m:r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V</m:t>
                          </m:r>
                        </m:num>
                        <m:den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22 </m:t>
                          </m:r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kΩ</m:t>
                          </m:r>
                        </m:den>
                      </m:f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≈26 </m:t>
                      </m:r>
                      <m:r>
                        <m:rPr>
                          <m:sty m:val="p"/>
                        </m:rPr>
                        <a:rPr lang="de-CH" sz="1600" i="1" smtClean="0">
                          <a:latin typeface="Cambria Math" panose="02040503050406030204" pitchFamily="18" charset="0"/>
                        </a:rPr>
                        <m:t>μA</m:t>
                      </m:r>
                    </m:oMath>
                  </m:oMathPara>
                </a14:m>
                <a:endParaRPr lang="de-CH" sz="16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de-CH" sz="1600" dirty="0"/>
                  <a:t> liegt zwischen der obersten und der untersten Klemme. Maschengleichung: 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de-CH" sz="1600" dirty="0"/>
                  <a:t> liegt die Spannung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de-CH" sz="160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CH" sz="160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CH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de-CH" sz="160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CH" sz="1600" dirty="0"/>
                  <a:t>.</a:t>
                </a:r>
              </a:p>
              <a:p>
                <a:pPr marL="0" indent="0" algn="ctr">
                  <a:buFont typeface="Arial"/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e>
                            <m:sub>
                              <m: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e>
                            <m:sub>
                              <m: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−1.56 </m:t>
                          </m:r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V</m:t>
                          </m:r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+0.564 </m:t>
                          </m:r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V</m:t>
                          </m:r>
                        </m:num>
                        <m:den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22 </m:t>
                          </m:r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kΩ</m:t>
                          </m:r>
                        </m:den>
                      </m:f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≈−45 </m:t>
                      </m:r>
                      <m:r>
                        <m:rPr>
                          <m:sty m:val="p"/>
                        </m:rPr>
                        <a:rPr lang="de-CH" sz="1600" i="1" smtClean="0">
                          <a:latin typeface="Cambria Math" panose="02040503050406030204" pitchFamily="18" charset="0"/>
                        </a:rPr>
                        <m:t>μA</m:t>
                      </m:r>
                    </m:oMath>
                  </m:oMathPara>
                </a14:m>
                <a:endParaRPr lang="de-CH" sz="1600" dirty="0"/>
              </a:p>
              <a:p>
                <a:r>
                  <a:rPr lang="de-CH" sz="1600" dirty="0"/>
                  <a:t>Negatives Vorzeichen: Der Strom fliesst entgegen der Zählpfeilrichtung.</a:t>
                </a:r>
              </a:p>
              <a:p>
                <a:pPr marL="0" indent="0">
                  <a:buFont typeface="Arial"/>
                  <a:buNone/>
                </a:pPr>
                <a:r>
                  <a:rPr lang="de-CH" sz="1200" i="1" dirty="0"/>
                  <a:t>22 kΩ hat zwei signifikante Stellen, also werden auch die Ergebnisse so angegeben.</a:t>
                </a:r>
                <a:endParaRPr lang="de-CH" sz="1200" dirty="0"/>
              </a:p>
            </p:txBody>
          </p:sp>
        </mc:Choice>
        <mc:Fallback xmlns="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3BEF8A46-693F-D344-8F77-1781EAEEF4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4163" y="1412875"/>
                <a:ext cx="5256000" cy="4860000"/>
              </a:xfrm>
              <a:prstGeom prst="rect">
                <a:avLst/>
              </a:prstGeom>
              <a:blipFill>
                <a:blip r:embed="rId4"/>
                <a:stretch>
                  <a:fillRect l="-464" t="-376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4309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84632"/>
            <a:ext cx="969264" cy="246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737373"/>
                </a:solidFill>
                <a:latin typeface="Aptos"/>
              </a:rPr>
              <a:t>AM ENDE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0515600" cy="594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100" b="1">
                <a:solidFill>
                  <a:srgbClr val="171717"/>
                </a:solidFill>
                <a:latin typeface="Aptos"/>
              </a:rPr>
              <a:t>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609344"/>
            <a:ext cx="9692640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>
                <a:solidFill>
                  <a:srgbClr val="737373"/>
                </a:solidFill>
                <a:latin typeface="Aptos"/>
              </a:rPr>
              <a:t>Drei Dinge, die heute sitzen sollten.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423160"/>
            <a:ext cx="340156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8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" y="2697480"/>
            <a:ext cx="4572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737373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246120"/>
            <a:ext cx="1476366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1800" b="1" dirty="0">
                <a:solidFill>
                  <a:srgbClr val="171717"/>
                </a:solidFill>
                <a:latin typeface="Aptos"/>
              </a:rPr>
              <a:t>Reale Quellen</a:t>
            </a:r>
            <a:endParaRPr sz="18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297680" y="2423160"/>
            <a:ext cx="340156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8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44568" y="2697480"/>
            <a:ext cx="4572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737373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3246120"/>
            <a:ext cx="2257413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b="1" dirty="0">
                <a:solidFill>
                  <a:srgbClr val="171717"/>
                </a:solidFill>
                <a:latin typeface="Aptos"/>
              </a:rPr>
              <a:t>Überlagerungsprinzip</a:t>
            </a:r>
            <a:endParaRPr sz="18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001000" y="2423160"/>
            <a:ext cx="340156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8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2697480"/>
            <a:ext cx="4572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737373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3246120"/>
            <a:ext cx="2034724" cy="5539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1800" b="1" dirty="0">
                <a:solidFill>
                  <a:srgbClr val="171717"/>
                </a:solidFill>
                <a:latin typeface="Aptos"/>
              </a:rPr>
              <a:t>Maschen- und</a:t>
            </a:r>
          </a:p>
          <a:p>
            <a:pPr algn="l"/>
            <a:r>
              <a:rPr lang="de-CH" b="1" dirty="0">
                <a:solidFill>
                  <a:srgbClr val="171717"/>
                </a:solidFill>
                <a:latin typeface="Aptos"/>
              </a:rPr>
              <a:t>Knotengleichungen</a:t>
            </a:r>
            <a:endParaRPr sz="18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21792" y="5074920"/>
            <a:ext cx="182880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300" b="1">
                <a:solidFill>
                  <a:srgbClr val="171717"/>
                </a:solidFill>
                <a:latin typeface="Aptos"/>
              </a:rPr>
              <a:t>Fragen?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532120"/>
            <a:ext cx="45720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737373"/>
                </a:solidFill>
                <a:latin typeface="Aptos"/>
              </a:rPr>
              <a:t>[QR / Link zum Fragen-Tool]</a:t>
            </a:r>
          </a:p>
        </p:txBody>
      </p:sp>
      <p:sp>
        <p:nvSpPr>
          <p:cNvPr id="24" name="Datumsplatzhalter 23">
            <a:extLst>
              <a:ext uri="{FF2B5EF4-FFF2-40B4-BE49-F238E27FC236}">
                <a16:creationId xmlns:a16="http://schemas.microsoft.com/office/drawing/2014/main" id="{2EA94921-0C4B-A8A0-74D0-1080596E2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80EDF-879D-497A-92D0-A679808813EB}" type="datetime1">
              <a:rPr lang="de-CH" smtClean="0"/>
              <a:t>21.10.2026</a:t>
            </a:fld>
            <a:endParaRPr lang="en-US" dirty="0"/>
          </a:p>
        </p:txBody>
      </p:sp>
      <p:sp>
        <p:nvSpPr>
          <p:cNvPr id="25" name="Fußzeilenplatzhalter 24">
            <a:extLst>
              <a:ext uri="{FF2B5EF4-FFF2-40B4-BE49-F238E27FC236}">
                <a16:creationId xmlns:a16="http://schemas.microsoft.com/office/drawing/2014/main" id="{9438F619-6A04-AD9B-6C65-51AEB489A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W06</a:t>
            </a:r>
          </a:p>
        </p:txBody>
      </p:sp>
      <p:sp>
        <p:nvSpPr>
          <p:cNvPr id="26" name="Foliennummernplatzhalter 25">
            <a:extLst>
              <a:ext uri="{FF2B5EF4-FFF2-40B4-BE49-F238E27FC236}">
                <a16:creationId xmlns:a16="http://schemas.microsoft.com/office/drawing/2014/main" id="{6A495C1E-4949-515F-CE44-BD0B40A25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3035</Words>
  <Application>Microsoft Office PowerPoint</Application>
  <PresentationFormat>Breitbild</PresentationFormat>
  <Paragraphs>371</Paragraphs>
  <Slides>36</Slides>
  <Notes>36</Notes>
  <HiddenSlides>12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36</vt:i4>
      </vt:variant>
    </vt:vector>
  </HeadingPairs>
  <TitlesOfParts>
    <vt:vector size="42" baseType="lpstr">
      <vt:lpstr>Aptos</vt:lpstr>
      <vt:lpstr>Arial</vt:lpstr>
      <vt:lpstr>Calibri</vt:lpstr>
      <vt:lpstr>Cambria Math</vt:lpstr>
      <vt:lpstr>Wingdings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W06</dc:title>
  <dc:subject/>
  <dc:creator>Enrico Putzi</dc:creator>
  <cp:keywords/>
  <dc:description>generated using python-pptx</dc:description>
  <cp:lastModifiedBy>Putzi  Enrico</cp:lastModifiedBy>
  <cp:revision>25</cp:revision>
  <dcterms:created xsi:type="dcterms:W3CDTF">2013-01-27T09:14:16Z</dcterms:created>
  <dcterms:modified xsi:type="dcterms:W3CDTF">2026-10-21T18:04:39Z</dcterms:modified>
  <cp:category/>
</cp:coreProperties>
</file>