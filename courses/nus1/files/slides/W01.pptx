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64" r:id="rId4"/>
    <p:sldId id="258" r:id="rId5"/>
    <p:sldId id="259" r:id="rId6"/>
    <p:sldId id="260" r:id="rId7"/>
    <p:sldId id="261" r:id="rId8"/>
    <p:sldId id="262" r:id="rId9"/>
    <p:sldId id="263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291929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Cover. Pro Woche nur Übungsnummer, Thema und ggf. Website-Link ändern.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wichtigste Standardfolie: links 2–5 Stichpunkte, rechts ein grosses Bild, eine Schaltung, ein Screenshot oder eine Skizze. Wenn kein Visual nötig ist, die rechte Fläche für eine grosse Formel nutzen.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FBDAC5-5DDE-D9F9-70A9-771D86BA20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75DD5F-17A3-1DDF-7E50-9FF0E8A8FD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B0BB73-5CAC-CED2-BE16-513F39C871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Für Schaltungen, Aufgaben, Diagramme oder Fotos. Viel Fläche lassen und in GoodNotes direkt darüber schreiben.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997E84-2B2B-46D5-6175-CB7BB9F54A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86087757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Für Schaltungen, Aufgaben, Diagramme oder Fotos. Viel Fläche lassen und in GoodNotes direkt darüber schreiben.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Für eine grosse Formel, einen Rechenweg oder eine Lösung. Nicht mit Text vollpacken.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Standard-Aufgabenfolie: links Aufgabe, rechts kurze Arbeitsanweisung. Lösung später oder live in GoodNotes.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Nur zwischen grösseren Blöcken verwenden, nicht ständig.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Optional: QR-Code oder kurzer Link zum Fragen-Tool.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Interne Stilfolie. Vor dem Präsentieren löschen.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94360" y="530352"/>
            <a:ext cx="2514600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486171" y="597537"/>
            <a:ext cx="730969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50" b="1" dirty="0">
                <a:solidFill>
                  <a:srgbClr val="737373"/>
                </a:solidFill>
                <a:latin typeface="Aptos"/>
              </a:rPr>
              <a:t>ENRICO PUTZI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17320"/>
            <a:ext cx="7955279" cy="15087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4300" b="1" dirty="0" err="1">
                <a:solidFill>
                  <a:srgbClr val="171717"/>
                </a:solidFill>
                <a:latin typeface="Aptos"/>
              </a:rPr>
              <a:t>Netzwerke</a:t>
            </a:r>
            <a:r>
              <a:rPr sz="4300" b="1" dirty="0">
                <a:solidFill>
                  <a:srgbClr val="171717"/>
                </a:solidFill>
                <a:latin typeface="Aptos"/>
              </a:rPr>
              <a:t>
und </a:t>
            </a:r>
            <a:r>
              <a:rPr sz="4300" b="1" dirty="0" err="1">
                <a:solidFill>
                  <a:srgbClr val="171717"/>
                </a:solidFill>
                <a:latin typeface="Aptos"/>
              </a:rPr>
              <a:t>Schaltungen</a:t>
            </a:r>
            <a:r>
              <a:rPr sz="4300" b="1" dirty="0">
                <a:solidFill>
                  <a:srgbClr val="171717"/>
                </a:solidFill>
                <a:latin typeface="Aptos"/>
              </a:rPr>
              <a:t>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3246120"/>
            <a:ext cx="1139736" cy="32316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100" b="1" dirty="0" err="1">
                <a:solidFill>
                  <a:srgbClr val="737373"/>
                </a:solidFill>
                <a:latin typeface="Aptos"/>
              </a:rPr>
              <a:t>Übung</a:t>
            </a:r>
            <a:r>
              <a:rPr sz="2100" b="1" dirty="0">
                <a:solidFill>
                  <a:srgbClr val="737373"/>
                </a:solidFill>
                <a:latin typeface="Aptos"/>
              </a:rPr>
              <a:t> </a:t>
            </a:r>
            <a:r>
              <a:rPr lang="de-CH" sz="2100" b="1" dirty="0">
                <a:solidFill>
                  <a:srgbClr val="737373"/>
                </a:solidFill>
                <a:latin typeface="Aptos"/>
              </a:rPr>
              <a:t>01</a:t>
            </a:r>
            <a:endParaRPr sz="210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12648" y="3712463"/>
            <a:ext cx="2821735" cy="26161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1700" dirty="0">
                <a:solidFill>
                  <a:srgbClr val="737373"/>
                </a:solidFill>
                <a:latin typeface="Aptos"/>
              </a:rPr>
              <a:t>Vektoren und </a:t>
            </a:r>
            <a:r>
              <a:rPr lang="de-CH" sz="1700" dirty="0" err="1">
                <a:solidFill>
                  <a:srgbClr val="737373"/>
                </a:solidFill>
                <a:latin typeface="Aptos"/>
              </a:rPr>
              <a:t>Integralrechung</a:t>
            </a:r>
            <a:endParaRPr sz="1700" b="0" dirty="0">
              <a:solidFill>
                <a:srgbClr val="737373"/>
              </a:solidFill>
              <a:latin typeface="Aptos"/>
            </a:endParaRPr>
          </a:p>
        </p:txBody>
      </p:sp>
      <p:cxnSp>
        <p:nvCxnSpPr>
          <p:cNvPr id="7" name="Connector 6"/>
          <p:cNvCxnSpPr/>
          <p:nvPr/>
        </p:nvCxnSpPr>
        <p:spPr>
          <a:xfrm>
            <a:off x="621792" y="4498848"/>
            <a:ext cx="2121408" cy="0"/>
          </a:xfrm>
          <a:prstGeom prst="line">
            <a:avLst/>
          </a:prstGeom>
          <a:ln w="254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21792" y="4736592"/>
            <a:ext cx="2981585" cy="1692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r>
              <a:rPr lang="de-CH" sz="1100" dirty="0">
                <a:solidFill>
                  <a:srgbClr val="737373"/>
                </a:solidFill>
                <a:latin typeface="Aptos"/>
              </a:rPr>
              <a:t>https://eputzi.github.io/courses/nus1/index.html</a:t>
            </a:r>
            <a:endParaRPr sz="1100" b="0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881360" y="5989320"/>
            <a:ext cx="685800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737373"/>
                </a:solidFill>
                <a:latin typeface="Aptos"/>
              </a:rPr>
              <a:t>NUS1</a:t>
            </a: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0D1A7063-BF8F-D128-C379-07FCFED4AC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0768" y="271310"/>
            <a:ext cx="3136392" cy="3136392"/>
          </a:xfrm>
          <a:prstGeom prst="rect">
            <a:avLst/>
          </a:prstGeom>
        </p:spPr>
      </p:pic>
      <p:sp>
        <p:nvSpPr>
          <p:cNvPr id="13" name="TextBox 7">
            <a:extLst>
              <a:ext uri="{FF2B5EF4-FFF2-40B4-BE49-F238E27FC236}">
                <a16:creationId xmlns:a16="http://schemas.microsoft.com/office/drawing/2014/main" id="{F78FDD6A-A394-1FCD-8583-FB60743A0344}"/>
              </a:ext>
            </a:extLst>
          </p:cNvPr>
          <p:cNvSpPr txBox="1"/>
          <p:nvPr/>
        </p:nvSpPr>
        <p:spPr>
          <a:xfrm>
            <a:off x="9712026" y="3447138"/>
            <a:ext cx="573875" cy="1692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r>
              <a:rPr lang="de-CH" sz="1100" dirty="0">
                <a:solidFill>
                  <a:srgbClr val="737373"/>
                </a:solidFill>
                <a:latin typeface="Aptos"/>
              </a:rPr>
              <a:t>Webseite</a:t>
            </a:r>
            <a:endParaRPr sz="1100" b="0" dirty="0">
              <a:solidFill>
                <a:srgbClr val="737373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93846" y="542673"/>
            <a:ext cx="370294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Theorie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932688"/>
            <a:ext cx="1621598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Vektoren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94360" y="6446520"/>
            <a:ext cx="10972800" cy="0"/>
          </a:xfrm>
          <a:prstGeom prst="line">
            <a:avLst/>
          </a:prstGeom>
          <a:ln w="12700">
            <a:solidFill>
              <a:srgbClr val="E8E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6492240"/>
            <a:ext cx="155448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737373"/>
                </a:solidFill>
                <a:latin typeface="Aptos"/>
              </a:rPr>
              <a:t>NUS1 · ÜBUNG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74075" y="6492240"/>
            <a:ext cx="578685" cy="13080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0" dirty="0">
                <a:solidFill>
                  <a:srgbClr val="737373"/>
                </a:solidFill>
                <a:latin typeface="Aptos"/>
              </a:rPr>
              <a:t>Enrico Putzi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35640" y="6492240"/>
            <a:ext cx="73152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1">
                <a:solidFill>
                  <a:srgbClr val="737373"/>
                </a:solidFill>
                <a:latin typeface="Aptos"/>
              </a:rPr>
              <a:t>W01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61488"/>
            <a:ext cx="3318537" cy="21544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000" b="0" dirty="0">
                <a:solidFill>
                  <a:srgbClr val="171717"/>
                </a:solidFill>
                <a:latin typeface="Aptos"/>
              </a:rPr>
              <a:t>• </a:t>
            </a:r>
            <a:r>
              <a:rPr lang="de-CH" sz="2000" dirty="0">
                <a:solidFill>
                  <a:srgbClr val="171717"/>
                </a:solidFill>
                <a:latin typeface="Aptos"/>
              </a:rPr>
              <a:t>Skalar (einfach eine Zahl)</a:t>
            </a:r>
            <a:r>
              <a:rPr sz="2000" b="0" dirty="0">
                <a:solidFill>
                  <a:srgbClr val="171717"/>
                </a:solidFill>
                <a:latin typeface="Aptos"/>
              </a:rPr>
              <a:t>
• </a:t>
            </a:r>
            <a:r>
              <a:rPr lang="de-CH" sz="2000" b="0" dirty="0">
                <a:solidFill>
                  <a:srgbClr val="171717"/>
                </a:solidFill>
                <a:latin typeface="Aptos"/>
              </a:rPr>
              <a:t>Vektor (Betrag und </a:t>
            </a:r>
            <a:r>
              <a:rPr lang="de-CH" sz="2000" dirty="0">
                <a:solidFill>
                  <a:srgbClr val="171717"/>
                </a:solidFill>
                <a:latin typeface="Aptos"/>
              </a:rPr>
              <a:t>Richtung)</a:t>
            </a:r>
            <a:r>
              <a:rPr sz="2000" b="0" dirty="0">
                <a:solidFill>
                  <a:srgbClr val="171717"/>
                </a:solidFill>
                <a:latin typeface="Aptos"/>
              </a:rPr>
              <a:t>
• </a:t>
            </a:r>
            <a:r>
              <a:rPr lang="de-CH" sz="2000" b="0" dirty="0">
                <a:solidFill>
                  <a:srgbClr val="171717"/>
                </a:solidFill>
                <a:latin typeface="Aptos"/>
              </a:rPr>
              <a:t>Operationen</a:t>
            </a:r>
            <a:br>
              <a:rPr lang="de-CH" sz="2000" b="0" dirty="0">
                <a:solidFill>
                  <a:srgbClr val="171717"/>
                </a:solidFill>
                <a:latin typeface="Aptos"/>
              </a:rPr>
            </a:br>
            <a:r>
              <a:rPr lang="de-CH" sz="2000" b="0" dirty="0">
                <a:solidFill>
                  <a:srgbClr val="171717"/>
                </a:solidFill>
                <a:latin typeface="Aptos"/>
              </a:rPr>
              <a:t>	-Addition</a:t>
            </a:r>
          </a:p>
          <a:p>
            <a:pPr algn="l"/>
            <a:r>
              <a:rPr lang="de-CH" sz="2000" dirty="0">
                <a:solidFill>
                  <a:srgbClr val="171717"/>
                </a:solidFill>
                <a:latin typeface="Aptos"/>
              </a:rPr>
              <a:t>	-Streckung/Stauchung</a:t>
            </a:r>
            <a:endParaRPr lang="de-CH" sz="2000" b="0" dirty="0">
              <a:solidFill>
                <a:srgbClr val="171717"/>
              </a:solidFill>
              <a:latin typeface="Aptos"/>
            </a:endParaRPr>
          </a:p>
          <a:p>
            <a:pPr algn="l"/>
            <a:r>
              <a:rPr lang="de-CH" sz="2000" dirty="0">
                <a:solidFill>
                  <a:srgbClr val="171717"/>
                </a:solidFill>
                <a:latin typeface="Aptos"/>
              </a:rPr>
              <a:t>	-Skalarprodukt</a:t>
            </a:r>
            <a:br>
              <a:rPr lang="de-CH" sz="2000" dirty="0">
                <a:solidFill>
                  <a:srgbClr val="171717"/>
                </a:solidFill>
                <a:latin typeface="Aptos"/>
              </a:rPr>
            </a:br>
            <a:r>
              <a:rPr lang="de-CH" sz="2000" dirty="0">
                <a:solidFill>
                  <a:srgbClr val="171717"/>
                </a:solidFill>
                <a:latin typeface="Aptos"/>
              </a:rPr>
              <a:t>	-Kreuzprodukt</a:t>
            </a:r>
            <a:endParaRPr sz="2000" b="0" dirty="0">
              <a:solidFill>
                <a:srgbClr val="171717"/>
              </a:solidFill>
              <a:latin typeface="Aptos"/>
            </a:endParaRPr>
          </a:p>
        </p:txBody>
      </p:sp>
      <p:pic>
        <p:nvPicPr>
          <p:cNvPr id="10" name="Grafik 9" descr="VECTOR - Imgflip">
            <a:extLst>
              <a:ext uri="{FF2B5EF4-FFF2-40B4-BE49-F238E27FC236}">
                <a16:creationId xmlns:a16="http://schemas.microsoft.com/office/drawing/2014/main" id="{CBABBBAA-6AF8-D295-4B8E-899170E2FB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5193" y="315752"/>
            <a:ext cx="1608809" cy="2187980"/>
          </a:xfrm>
          <a:prstGeom prst="rect">
            <a:avLst/>
          </a:prstGeom>
        </p:spPr>
      </p:pic>
      <p:pic>
        <p:nvPicPr>
          <p:cNvPr id="13" name="Grafik 12" descr="An introduction to vectors - Math Insight">
            <a:extLst>
              <a:ext uri="{FF2B5EF4-FFF2-40B4-BE49-F238E27FC236}">
                <a16:creationId xmlns:a16="http://schemas.microsoft.com/office/drawing/2014/main" id="{C1C03B23-2966-E843-1FD4-3B0B5555E9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5438" y="2503732"/>
            <a:ext cx="4527474" cy="224665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14962C-37A6-2366-410B-5918CC699B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7B6F6F57-4552-9711-E03A-7BE8574EB1D9}"/>
              </a:ext>
            </a:extLst>
          </p:cNvPr>
          <p:cNvSpPr/>
          <p:nvPr/>
        </p:nvSpPr>
        <p:spPr>
          <a:xfrm>
            <a:off x="594360" y="475488"/>
            <a:ext cx="1627632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D7CB955-D171-3605-F8ED-282995890F8C}"/>
              </a:ext>
            </a:extLst>
          </p:cNvPr>
          <p:cNvSpPr txBox="1"/>
          <p:nvPr/>
        </p:nvSpPr>
        <p:spPr>
          <a:xfrm>
            <a:off x="1208603" y="542673"/>
            <a:ext cx="399148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Beispiel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EA5D31-9008-B679-2EB9-819467FF0D5F}"/>
              </a:ext>
            </a:extLst>
          </p:cNvPr>
          <p:cNvSpPr txBox="1"/>
          <p:nvPr/>
        </p:nvSpPr>
        <p:spPr>
          <a:xfrm>
            <a:off x="594360" y="932688"/>
            <a:ext cx="5168594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Skalarprodukt/Kreuzprodukt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39A67112-C75E-7B70-E599-7E50F005C412}"/>
              </a:ext>
            </a:extLst>
          </p:cNvPr>
          <p:cNvCxnSpPr/>
          <p:nvPr/>
        </p:nvCxnSpPr>
        <p:spPr>
          <a:xfrm>
            <a:off x="594360" y="6446520"/>
            <a:ext cx="10972800" cy="0"/>
          </a:xfrm>
          <a:prstGeom prst="line">
            <a:avLst/>
          </a:prstGeom>
          <a:ln w="12700">
            <a:solidFill>
              <a:srgbClr val="E8E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4AE8D982-FCFF-9D43-3C7F-83387634D6B5}"/>
              </a:ext>
            </a:extLst>
          </p:cNvPr>
          <p:cNvSpPr txBox="1"/>
          <p:nvPr/>
        </p:nvSpPr>
        <p:spPr>
          <a:xfrm>
            <a:off x="594360" y="6492240"/>
            <a:ext cx="155448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737373"/>
                </a:solidFill>
                <a:latin typeface="Aptos"/>
              </a:rPr>
              <a:t>NUS1 · ÜBUNG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68B0D16-56F6-8832-D5C7-8FB3EC8F4C16}"/>
              </a:ext>
            </a:extLst>
          </p:cNvPr>
          <p:cNvSpPr txBox="1"/>
          <p:nvPr/>
        </p:nvSpPr>
        <p:spPr>
          <a:xfrm>
            <a:off x="10105662" y="6492240"/>
            <a:ext cx="556242" cy="13080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0" dirty="0">
                <a:solidFill>
                  <a:srgbClr val="737373"/>
                </a:solidFill>
                <a:latin typeface="Aptos"/>
              </a:rPr>
              <a:t>Enrico Putzi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2EA8EED-56A2-BA6E-3F4A-B3464725434B}"/>
              </a:ext>
            </a:extLst>
          </p:cNvPr>
          <p:cNvSpPr txBox="1"/>
          <p:nvPr/>
        </p:nvSpPr>
        <p:spPr>
          <a:xfrm>
            <a:off x="10835640" y="6492240"/>
            <a:ext cx="73152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1">
                <a:solidFill>
                  <a:srgbClr val="737373"/>
                </a:solidFill>
                <a:latin typeface="Aptos"/>
              </a:rPr>
              <a:t>W01</a:t>
            </a:r>
          </a:p>
        </p:txBody>
      </p:sp>
      <p:pic>
        <p:nvPicPr>
          <p:cNvPr id="10" name="Grafik 9" descr="Skalarprodukt von Vektoren">
            <a:extLst>
              <a:ext uri="{FF2B5EF4-FFF2-40B4-BE49-F238E27FC236}">
                <a16:creationId xmlns:a16="http://schemas.microsoft.com/office/drawing/2014/main" id="{43FC0C68-6EDF-828E-5F90-318F4FDA9E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887" y="2342387"/>
            <a:ext cx="6682820" cy="2732531"/>
          </a:xfrm>
          <a:prstGeom prst="rect">
            <a:avLst/>
          </a:prstGeom>
        </p:spPr>
      </p:pic>
      <p:pic>
        <p:nvPicPr>
          <p:cNvPr id="12" name="Grafik 11" descr="Vektor- oder Kreuzprodukt - lernen mit Serlo!">
            <a:extLst>
              <a:ext uri="{FF2B5EF4-FFF2-40B4-BE49-F238E27FC236}">
                <a16:creationId xmlns:a16="http://schemas.microsoft.com/office/drawing/2014/main" id="{1117F557-9BF8-D579-E62B-569774A7D2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3554" y="2082801"/>
            <a:ext cx="5193606" cy="2992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257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94360" y="475488"/>
            <a:ext cx="1627632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223030" y="542673"/>
            <a:ext cx="370294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Theorie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932688"/>
            <a:ext cx="3742243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Koordinatensysteme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12648" y="1609344"/>
            <a:ext cx="3008965" cy="2077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1350" b="0" dirty="0">
                <a:solidFill>
                  <a:srgbClr val="737373"/>
                </a:solidFill>
                <a:latin typeface="Aptos"/>
              </a:rPr>
              <a:t>Forget krummlinige Koordinatensysteme</a:t>
            </a:r>
            <a:endParaRPr sz="1350" b="0" dirty="0">
              <a:solidFill>
                <a:srgbClr val="737373"/>
              </a:solidFill>
              <a:latin typeface="Apto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94360" y="6446520"/>
            <a:ext cx="10972800" cy="0"/>
          </a:xfrm>
          <a:prstGeom prst="line">
            <a:avLst/>
          </a:prstGeom>
          <a:ln w="12700">
            <a:solidFill>
              <a:srgbClr val="E8E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6492240"/>
            <a:ext cx="155448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737373"/>
                </a:solidFill>
                <a:latin typeface="Aptos"/>
              </a:rPr>
              <a:t>NUS1 · ÜBUNG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74075" y="6492240"/>
            <a:ext cx="578685" cy="13080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0" dirty="0">
                <a:solidFill>
                  <a:srgbClr val="737373"/>
                </a:solidFill>
                <a:latin typeface="Aptos"/>
              </a:rPr>
              <a:t>Enrico Putzi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35640" y="6492240"/>
            <a:ext cx="73152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1">
                <a:solidFill>
                  <a:srgbClr val="737373"/>
                </a:solidFill>
                <a:latin typeface="Aptos"/>
              </a:rPr>
              <a:t>W01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94360" y="475488"/>
            <a:ext cx="1042416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484632"/>
            <a:ext cx="1042416" cy="246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50" b="1">
                <a:solidFill>
                  <a:srgbClr val="737373"/>
                </a:solidFill>
                <a:latin typeface="Aptos"/>
              </a:rPr>
              <a:t>RECHNUNG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32688"/>
            <a:ext cx="10515600" cy="5943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100" b="1">
                <a:solidFill>
                  <a:srgbClr val="171717"/>
                </a:solidFill>
                <a:latin typeface="Aptos"/>
              </a:rPr>
              <a:t>[Titel]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609344"/>
            <a:ext cx="9692640" cy="3840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dirty="0">
                <a:solidFill>
                  <a:srgbClr val="737373"/>
                </a:solidFill>
                <a:latin typeface="Aptos"/>
              </a:rPr>
              <a:t>[optional: </a:t>
            </a:r>
            <a:r>
              <a:rPr sz="1350" b="0" dirty="0" err="1">
                <a:solidFill>
                  <a:srgbClr val="737373"/>
                </a:solidFill>
                <a:latin typeface="Aptos"/>
              </a:rPr>
              <a:t>kurzer</a:t>
            </a:r>
            <a:r>
              <a:rPr sz="1350" b="0" dirty="0">
                <a:solidFill>
                  <a:srgbClr val="737373"/>
                </a:solidFill>
                <a:latin typeface="Aptos"/>
              </a:rPr>
              <a:t> </a:t>
            </a:r>
            <a:r>
              <a:rPr sz="1350" b="0" dirty="0" err="1">
                <a:solidFill>
                  <a:srgbClr val="737373"/>
                </a:solidFill>
                <a:latin typeface="Aptos"/>
              </a:rPr>
              <a:t>Kontext</a:t>
            </a:r>
            <a:r>
              <a:rPr sz="1350" b="0" dirty="0">
                <a:solidFill>
                  <a:srgbClr val="737373"/>
                </a:solidFill>
                <a:latin typeface="Aptos"/>
              </a:rPr>
              <a:t>]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94360" y="6446520"/>
            <a:ext cx="10972800" cy="0"/>
          </a:xfrm>
          <a:prstGeom prst="line">
            <a:avLst/>
          </a:prstGeom>
          <a:ln w="12700">
            <a:solidFill>
              <a:srgbClr val="E8E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6492240"/>
            <a:ext cx="155448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737373"/>
                </a:solidFill>
                <a:latin typeface="Aptos"/>
              </a:rPr>
              <a:t>NUS1 · ÜBUNG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74075" y="6492240"/>
            <a:ext cx="578685" cy="13080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0" dirty="0">
                <a:solidFill>
                  <a:srgbClr val="737373"/>
                </a:solidFill>
                <a:latin typeface="Aptos"/>
              </a:rPr>
              <a:t>Enrico Putzi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35640" y="6492240"/>
            <a:ext cx="73152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1">
                <a:solidFill>
                  <a:srgbClr val="737373"/>
                </a:solidFill>
                <a:latin typeface="Aptos"/>
              </a:rPr>
              <a:t>W01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880360"/>
            <a:ext cx="10332720" cy="10515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2900" b="1">
                <a:solidFill>
                  <a:srgbClr val="171717"/>
                </a:solidFill>
                <a:latin typeface="Aptos"/>
              </a:rPr>
              <a:t>[Formel / Rechnung / Lösungsweg]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315968"/>
            <a:ext cx="10332720" cy="4572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400" b="0">
                <a:solidFill>
                  <a:srgbClr val="737373"/>
                </a:solidFill>
                <a:latin typeface="Aptos"/>
              </a:rPr>
              <a:t>Zwischenschritte / kurze Hinweise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484632"/>
            <a:ext cx="969264" cy="246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50" b="1">
                <a:solidFill>
                  <a:srgbClr val="737373"/>
                </a:solidFill>
                <a:latin typeface="Aptos"/>
              </a:rPr>
              <a:t>AUFGABE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32688"/>
            <a:ext cx="10515600" cy="5943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100" b="1">
                <a:solidFill>
                  <a:srgbClr val="171717"/>
                </a:solidFill>
                <a:latin typeface="Aptos"/>
              </a:rPr>
              <a:t>Aufgabe [X]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609344"/>
            <a:ext cx="9692640" cy="3840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737373"/>
                </a:solidFill>
                <a:latin typeface="Aptos"/>
              </a:rPr>
              <a:t>Erst kurz selbst probieren.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94360" y="6446520"/>
            <a:ext cx="10972800" cy="0"/>
          </a:xfrm>
          <a:prstGeom prst="line">
            <a:avLst/>
          </a:prstGeom>
          <a:ln w="12700">
            <a:solidFill>
              <a:srgbClr val="E8E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6492240"/>
            <a:ext cx="155448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737373"/>
                </a:solidFill>
                <a:latin typeface="Aptos"/>
              </a:rPr>
              <a:t>NUS1 · ÜBUNG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74075" y="6492240"/>
            <a:ext cx="578685" cy="13080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0" dirty="0">
                <a:solidFill>
                  <a:srgbClr val="737373"/>
                </a:solidFill>
                <a:latin typeface="Aptos"/>
              </a:rPr>
              <a:t>Enrico Putzi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35640" y="6492240"/>
            <a:ext cx="73152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1">
                <a:solidFill>
                  <a:srgbClr val="737373"/>
                </a:solidFill>
                <a:latin typeface="Aptos"/>
              </a:rPr>
              <a:t>W01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331720"/>
            <a:ext cx="7315200" cy="3611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2761488"/>
            <a:ext cx="6675120" cy="7315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71717"/>
                </a:solidFill>
                <a:latin typeface="Aptos"/>
              </a:rPr>
              <a:t>[Aufgabenstellung]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749039"/>
            <a:ext cx="6400800" cy="10515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737373"/>
                </a:solidFill>
                <a:latin typeface="Aptos"/>
              </a:rPr>
              <a:t>Gegeben:  [Werte]
Gesucht:  [Grösse]
Hinweis:  [optional]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79" y="2331720"/>
            <a:ext cx="3383280" cy="3611880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549640" y="2926080"/>
            <a:ext cx="2651760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100" b="1">
                <a:solidFill>
                  <a:srgbClr val="171717"/>
                </a:solidFill>
                <a:latin typeface="Aptos"/>
              </a:rPr>
              <a:t>3–5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3703320"/>
            <a:ext cx="2468880" cy="1417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737373"/>
                </a:solidFill>
                <a:latin typeface="Aptos"/>
              </a:rPr>
              <a:t>Selbst versuchen.
1. Skizze
2. Ansatz
3. Rechnung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7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58368" y="658368"/>
            <a:ext cx="868680" cy="292608"/>
          </a:xfrm>
          <a:prstGeom prst="roundRect">
            <a:avLst/>
          </a:prstGeom>
          <a:solidFill>
            <a:srgbClr val="2D2D2D"/>
          </a:solidFill>
          <a:ln w="1016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667512"/>
            <a:ext cx="868680" cy="246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50" b="1">
                <a:solidFill>
                  <a:srgbClr val="D2D2D2"/>
                </a:solidFill>
                <a:latin typeface="Aptos"/>
              </a:rPr>
              <a:t>PART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81328"/>
            <a:ext cx="7498079" cy="8229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4100" b="1">
                <a:solidFill>
                  <a:srgbClr val="FFFFFF"/>
                </a:solidFill>
                <a:latin typeface="Aptos"/>
              </a:rPr>
              <a:t>[Neuer Abschnitt]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514600"/>
            <a:ext cx="7772400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0">
                <a:solidFill>
                  <a:srgbClr val="CDCDCD"/>
                </a:solidFill>
                <a:latin typeface="Aptos"/>
              </a:rPr>
              <a:t>[z. B. Aufgabe 2 · Wechselstromrechnung]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52760" y="5440680"/>
            <a:ext cx="640080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2300" b="1">
                <a:solidFill>
                  <a:srgbClr val="CDCDCD"/>
                </a:solidFill>
                <a:latin typeface="Aptos"/>
              </a:rPr>
              <a:t>01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484632"/>
            <a:ext cx="969264" cy="246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50" b="1">
                <a:solidFill>
                  <a:srgbClr val="737373"/>
                </a:solidFill>
                <a:latin typeface="Aptos"/>
              </a:rPr>
              <a:t>AM ENDE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32688"/>
            <a:ext cx="10515600" cy="5943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100" b="1">
                <a:solidFill>
                  <a:srgbClr val="171717"/>
                </a:solidFill>
                <a:latin typeface="Aptos"/>
              </a:rPr>
              <a:t>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609344"/>
            <a:ext cx="9692640" cy="3840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737373"/>
                </a:solidFill>
                <a:latin typeface="Aptos"/>
              </a:rPr>
              <a:t>Drei Dinge, die heute sitzen sollten.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94360" y="6446520"/>
            <a:ext cx="10972800" cy="0"/>
          </a:xfrm>
          <a:prstGeom prst="line">
            <a:avLst/>
          </a:prstGeom>
          <a:ln w="12700">
            <a:solidFill>
              <a:srgbClr val="E8E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6492240"/>
            <a:ext cx="155448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737373"/>
                </a:solidFill>
                <a:latin typeface="Aptos"/>
              </a:rPr>
              <a:t>NUS1 · ÜBUNG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74075" y="6492240"/>
            <a:ext cx="578685" cy="13080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0" dirty="0">
                <a:solidFill>
                  <a:srgbClr val="737373"/>
                </a:solidFill>
                <a:latin typeface="Aptos"/>
              </a:rPr>
              <a:t>Enrico Putzi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35640" y="6492240"/>
            <a:ext cx="73152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1">
                <a:solidFill>
                  <a:srgbClr val="737373"/>
                </a:solidFill>
                <a:latin typeface="Aptos"/>
              </a:rPr>
              <a:t>W01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423160"/>
            <a:ext cx="3401568" cy="2057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8" y="2697480"/>
            <a:ext cx="457200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37373"/>
                </a:solidFill>
                <a:latin typeface="Apto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3246120"/>
            <a:ext cx="2788920" cy="7315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171717"/>
                </a:solidFill>
                <a:latin typeface="Aptos"/>
              </a:rPr>
              <a:t>[Kernaussage 1]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2423160"/>
            <a:ext cx="3401568" cy="2057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44568" y="2697480"/>
            <a:ext cx="457200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37373"/>
                </a:solidFill>
                <a:latin typeface="Aptos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4568" y="3246120"/>
            <a:ext cx="2788920" cy="7315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171717"/>
                </a:solidFill>
                <a:latin typeface="Aptos"/>
              </a:rPr>
              <a:t>[Kernaussage 2]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1000" y="2423160"/>
            <a:ext cx="3401568" cy="2057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47888" y="2697480"/>
            <a:ext cx="457200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37373"/>
                </a:solidFill>
                <a:latin typeface="Apto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7888" y="3246120"/>
            <a:ext cx="2788920" cy="7315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171717"/>
                </a:solidFill>
                <a:latin typeface="Aptos"/>
              </a:rPr>
              <a:t>[Kernaussage 3]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5074920"/>
            <a:ext cx="1828800" cy="4572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300" b="1">
                <a:solidFill>
                  <a:srgbClr val="171717"/>
                </a:solidFill>
                <a:latin typeface="Aptos"/>
              </a:rPr>
              <a:t>Fragen?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532120"/>
            <a:ext cx="4572000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737373"/>
                </a:solidFill>
                <a:latin typeface="Aptos"/>
              </a:rPr>
              <a:t>[QR / Link zum Fragen-Tool]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E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94360" y="502920"/>
            <a:ext cx="1828800" cy="292608"/>
          </a:xfrm>
          <a:prstGeom prst="roundRect">
            <a:avLst/>
          </a:prstGeom>
          <a:solidFill>
            <a:srgbClr val="171717"/>
          </a:solidFill>
          <a:ln w="10160">
            <a:solidFill>
              <a:srgbClr val="1717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512064"/>
            <a:ext cx="1828800" cy="246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ptos"/>
              </a:rPr>
              <a:t>MASTER · NICHT PRÄSENTIEREN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078992"/>
            <a:ext cx="6400800" cy="5943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100" b="1">
                <a:solidFill>
                  <a:srgbClr val="171717"/>
                </a:solidFill>
                <a:latin typeface="Aptos"/>
              </a:rPr>
              <a:t>Dein Standard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737360"/>
            <a:ext cx="8046720" cy="3657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737373"/>
                </a:solidFill>
                <a:latin typeface="Aptos"/>
              </a:rPr>
              <a:t>Nicht jede Folie neu erfinden. 80 % der Zeit nur Inhalte ersetzen.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2395728"/>
            <a:ext cx="5349240" cy="23317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6112" y="2679192"/>
            <a:ext cx="914400" cy="32004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171717"/>
                </a:solidFill>
                <a:latin typeface="Aptos"/>
              </a:rPr>
              <a:t>Regel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3154680"/>
            <a:ext cx="4526280" cy="123444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171717"/>
                </a:solidFill>
                <a:latin typeface="Aptos"/>
              </a:rPr>
              <a:t>1. Eine klare Struktur
2. Links Text, rechts Visual
3. Grosse Schaltungen / Fotos
4. Wenig Text
5. GoodNotes = live erklären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44768" y="2395728"/>
            <a:ext cx="5422392" cy="23317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19088" y="2679192"/>
            <a:ext cx="1371600" cy="32004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171717"/>
                </a:solidFill>
                <a:latin typeface="Aptos"/>
              </a:rPr>
              <a:t>Dateinamen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9088" y="3154680"/>
            <a:ext cx="4480560" cy="10515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171717"/>
                </a:solidFill>
                <a:latin typeface="Aptos"/>
              </a:rPr>
              <a:t>NUS1_W01_Uebung.pptx
NUS1_W01_Slides.pdf
NUS1_W01_Slides_Notes.pdf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166360"/>
            <a:ext cx="10515600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171717"/>
                </a:solidFill>
                <a:latin typeface="Aptos"/>
              </a:rPr>
              <a:t>Die Folien sollen vorbereiten — nicht die ganze Übung für dich sprechen.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470</Words>
  <Application>Microsoft Office PowerPoint</Application>
  <PresentationFormat>Breitbild</PresentationFormat>
  <Paragraphs>79</Paragraphs>
  <Slides>9</Slides>
  <Notes>9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9</vt:i4>
      </vt:variant>
    </vt:vector>
  </HeadingPairs>
  <TitlesOfParts>
    <vt:vector size="13" baseType="lpstr">
      <vt:lpstr>Aptos</vt:lpstr>
      <vt:lpstr>Arial</vt:lpstr>
      <vt:lpstr>Calibri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NUS1 TA – Simple PowerPoint Template – Enrico Putzi</dc:title>
  <dc:subject/>
  <dc:creator>Enrico Putzi</dc:creator>
  <cp:keywords/>
  <dc:description>generated using python-pptx</dc:description>
  <cp:lastModifiedBy>Putzi  Enrico</cp:lastModifiedBy>
  <cp:revision>4</cp:revision>
  <dcterms:created xsi:type="dcterms:W3CDTF">2013-01-27T09:14:16Z</dcterms:created>
  <dcterms:modified xsi:type="dcterms:W3CDTF">2026-09-10T13:52:14Z</dcterms:modified>
  <cp:category/>
</cp:coreProperties>
</file>