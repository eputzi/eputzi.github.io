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65" r:id="rId6"/>
    <p:sldId id="266" r:id="rId7"/>
    <p:sldId id="267" r:id="rId8"/>
    <p:sldId id="269" r:id="rId9"/>
    <p:sldId id="25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DAC5-5DDE-D9F9-70A9-771D86BA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5DD5F-17A3-1DDF-7E50-9FF0E8A8F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0BB73-5CAC-CED2-BE16-513F39C87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97E84-2B2B-46D5-6175-CB7BB9F54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087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1CDF-842F-8F63-F7AD-25630049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DE027-D5DF-AC0F-55F5-42E4ABDEA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68EFA-F790-612B-8CEC-EBD48355F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9DC6-FCC0-323A-09FE-7527059CC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9129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236B-A43D-AAA2-392E-2DCF9E33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2129B-0401-FCA8-7E3A-44FA15D78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769DE-3737-6F20-7D23-08032CA4F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37121-B110-BF38-A28B-BCBA1F1D4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1775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EDAF-DE46-EBFE-703A-933D254D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D79D6-DEEC-A26A-BF6B-44F134EB3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30F4A-9693-14C6-23FD-8CA347C0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5BA5B-236C-91CC-5A90-60ACF6399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4181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E9A16-3CFC-D828-57B6-F84C64D2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0FC7E-3224-F298-6685-7DB08D4DB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96908-760A-5E9F-E3C1-61CD8691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C4CE-F0BC-5592-29B0-8E9047F4E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1542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1147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NlGysPeUliY" TargetMode="External"/><Relationship Id="rId5" Type="http://schemas.openxmlformats.org/officeDocument/2006/relationships/hyperlink" Target="https://www.youtube.com/watch?v=A76JpF7ktCI" TargetMode="Externa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46120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01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2877839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dirty="0">
                <a:solidFill>
                  <a:srgbClr val="737373"/>
                </a:solidFill>
                <a:latin typeface="Aptos"/>
              </a:rPr>
              <a:t>Vektoren und Integralrechnung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685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737373"/>
                </a:solidFill>
                <a:latin typeface="Aptos"/>
              </a:rPr>
              <a:t>NUS1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932C14E-E0C6-CFF7-CC6F-104FC27FE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8A31C67E-0AD6-59DC-10B9-FBD212B3631D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FA7C2BA-4175-7C57-859A-17332D2C8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92334E4D-7CBF-F2AB-00BC-8E6D995CA411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62159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Vektoren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3318537" cy="21544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71717"/>
                </a:solidFill>
                <a:latin typeface="Aptos"/>
              </a:rPr>
              <a:t>•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Skalar (einfach eine Zahl)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• 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Vektor (Betrag und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Richtung)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• 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Operationen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	-Addition</a:t>
            </a:r>
          </a:p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	-Streckung/Stauchung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	-Skalarprodukt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	-Kreuzprodukt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3" name="Grafik 12" descr="An introduction to vectors - Math Insight">
            <a:extLst>
              <a:ext uri="{FF2B5EF4-FFF2-40B4-BE49-F238E27FC236}">
                <a16:creationId xmlns:a16="http://schemas.microsoft.com/office/drawing/2014/main" id="{C1C03B23-2966-E843-1FD4-3B0B5555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438" y="2503732"/>
            <a:ext cx="4527474" cy="2246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962C-37A6-2366-410B-5918CC69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6F6F57-4552-9711-E03A-7BE8574EB1D9}"/>
              </a:ext>
            </a:extLst>
          </p:cNvPr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CB955-D171-3605-F8ED-282995890F8C}"/>
              </a:ext>
            </a:extLst>
          </p:cNvPr>
          <p:cNvSpPr txBox="1"/>
          <p:nvPr/>
        </p:nvSpPr>
        <p:spPr>
          <a:xfrm>
            <a:off x="1208603" y="542673"/>
            <a:ext cx="399148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Beispiel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A5D31-9008-B679-2EB9-819467FF0D5F}"/>
              </a:ext>
            </a:extLst>
          </p:cNvPr>
          <p:cNvSpPr txBox="1"/>
          <p:nvPr/>
        </p:nvSpPr>
        <p:spPr>
          <a:xfrm>
            <a:off x="594360" y="932688"/>
            <a:ext cx="516859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Skalarprodukt/Kreuzprodukt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9A67112-C75E-7B70-E599-7E50F005C412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E8D982-FCFF-9D43-3C7F-83387634D6B5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B0D16-56F6-8832-D5C7-8FB3EC8F4C16}"/>
              </a:ext>
            </a:extLst>
          </p:cNvPr>
          <p:cNvSpPr txBox="1"/>
          <p:nvPr/>
        </p:nvSpPr>
        <p:spPr>
          <a:xfrm>
            <a:off x="10077954" y="6492240"/>
            <a:ext cx="556242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A8EED-56A2-BA6E-3F4A-B3464725434B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pic>
        <p:nvPicPr>
          <p:cNvPr id="10" name="Grafik 9" descr="Skalarprodukt von Vektoren">
            <a:extLst>
              <a:ext uri="{FF2B5EF4-FFF2-40B4-BE49-F238E27FC236}">
                <a16:creationId xmlns:a16="http://schemas.microsoft.com/office/drawing/2014/main" id="{43FC0C68-6EDF-828E-5F90-318F4FDA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87" y="2342387"/>
            <a:ext cx="6682820" cy="2732531"/>
          </a:xfrm>
          <a:prstGeom prst="rect">
            <a:avLst/>
          </a:prstGeom>
        </p:spPr>
      </p:pic>
      <p:pic>
        <p:nvPicPr>
          <p:cNvPr id="12" name="Grafik 11" descr="Vektor- oder Kreuzprodukt - lernen mit Serlo!">
            <a:extLst>
              <a:ext uri="{FF2B5EF4-FFF2-40B4-BE49-F238E27FC236}">
                <a16:creationId xmlns:a16="http://schemas.microsoft.com/office/drawing/2014/main" id="{1117F557-9BF8-D579-E62B-569774A7D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554" y="2082801"/>
            <a:ext cx="5193606" cy="299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303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374224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Koordinatensysteme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300896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350" b="0" dirty="0">
                <a:solidFill>
                  <a:srgbClr val="737373"/>
                </a:solidFill>
                <a:latin typeface="Aptos"/>
              </a:rPr>
              <a:t>Forget krummlinige Koordinatensysteme</a:t>
            </a:r>
            <a:endParaRPr sz="135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4731B15-E7EA-CA3F-0388-82E22372F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9" y="2711098"/>
            <a:ext cx="4582164" cy="268642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D967584-1589-9E41-CD53-81358C60A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803" y="1171215"/>
            <a:ext cx="946279" cy="1080896"/>
          </a:xfrm>
          <a:prstGeom prst="rect">
            <a:avLst/>
          </a:prstGeom>
        </p:spPr>
      </p:pic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37A8035C-498A-DA20-2715-8AEECB3D3E1F}"/>
              </a:ext>
            </a:extLst>
          </p:cNvPr>
          <p:cNvSpPr/>
          <p:nvPr/>
        </p:nvSpPr>
        <p:spPr>
          <a:xfrm>
            <a:off x="4652803" y="1293090"/>
            <a:ext cx="1027561" cy="886691"/>
          </a:xfrm>
          <a:prstGeom prst="mathMultiply">
            <a:avLst/>
          </a:prstGeom>
          <a:gradFill>
            <a:gsLst>
              <a:gs pos="0">
                <a:schemeClr val="accent2">
                  <a:tint val="100000"/>
                  <a:shade val="100000"/>
                  <a:satMod val="130000"/>
                  <a:alpha val="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8022F18-74AF-723B-1A23-71F3210F4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082" y="3197405"/>
            <a:ext cx="1925145" cy="196112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84BE94D0-C324-4ECB-A1D8-FBA5302CC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1501" y="5446117"/>
            <a:ext cx="2648320" cy="84784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8F7E060-DA22-8228-795D-8435E7EF9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144" y="2677517"/>
            <a:ext cx="2695951" cy="38105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C5DB9604-234F-B5B7-1C73-F0283EE12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965" y="3073949"/>
            <a:ext cx="2567347" cy="225673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05FD913-A526-4B28-F89D-7CC4B7D509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8519" y="5506262"/>
            <a:ext cx="2567347" cy="727555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ECCD622-6C46-1927-4012-2A74217272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9965" y="2722129"/>
            <a:ext cx="2419688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C0BF-5721-B255-5FF0-4099BD9C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9B7467-55C4-B494-13F4-70261E613AF4}"/>
              </a:ext>
            </a:extLst>
          </p:cNvPr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CDE0B-B9CA-B039-7A9B-936C5F4A4320}"/>
              </a:ext>
            </a:extLst>
          </p:cNvPr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1B591-556E-212C-7EB5-F143E6489AE2}"/>
              </a:ext>
            </a:extLst>
          </p:cNvPr>
          <p:cNvSpPr txBox="1"/>
          <p:nvPr/>
        </p:nvSpPr>
        <p:spPr>
          <a:xfrm>
            <a:off x="594360" y="932688"/>
            <a:ext cx="391119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Kartesisch -&gt; Zylinder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203AFF3-69D9-5947-E355-3BF4D796BBF9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2C4F7C-8CB8-CBFE-A4A1-D4BBC9B0D879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F7B99-CCEF-72B7-F761-42B7A83CFAB0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A4AC9-7B79-E2EE-811F-0C939AA117B0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AD98907-27FC-3BC3-7856-64D34332802C}"/>
                  </a:ext>
                </a:extLst>
              </p:cNvPr>
              <p:cNvSpPr txBox="1"/>
              <p:nvPr/>
            </p:nvSpPr>
            <p:spPr>
              <a:xfrm>
                <a:off x="577113" y="1677804"/>
                <a:ext cx="3143451" cy="5161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3,3∗</m:t>
                          </m:r>
                          <m:rad>
                            <m:radPr>
                              <m:degHide m:val="on"/>
                              <m:ctrlP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de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,5</m:t>
                          </m:r>
                        </m:e>
                      </m:d>
                    </m:oMath>
                  </m:oMathPara>
                </a14:m>
                <a:endParaRPr lang="de-CH" sz="2800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AD98907-27FC-3BC3-7856-64D343328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13" y="1677804"/>
                <a:ext cx="3143451" cy="5161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3">
            <a:extLst>
              <a:ext uri="{FF2B5EF4-FFF2-40B4-BE49-F238E27FC236}">
                <a16:creationId xmlns:a16="http://schemas.microsoft.com/office/drawing/2014/main" id="{B93CAE33-6F5C-7AFF-70C9-4AC3D88126A7}"/>
              </a:ext>
            </a:extLst>
          </p:cNvPr>
          <p:cNvSpPr txBox="1"/>
          <p:nvPr/>
        </p:nvSpPr>
        <p:spPr>
          <a:xfrm>
            <a:off x="7129625" y="932688"/>
            <a:ext cx="344998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Kartesisch -&gt; Kugel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5E7D129-1467-0D69-6CCC-97404B5A6F2C}"/>
                  </a:ext>
                </a:extLst>
              </p:cNvPr>
              <p:cNvSpPr txBox="1"/>
              <p:nvPr/>
            </p:nvSpPr>
            <p:spPr>
              <a:xfrm>
                <a:off x="7112378" y="1677804"/>
                <a:ext cx="3143451" cy="5161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de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</m:t>
                          </m:r>
                          <m:rad>
                            <m:radPr>
                              <m:degHide m:val="on"/>
                              <m:ctrlPr>
                                <a:rPr lang="de-CH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CH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de-CH" sz="2800" dirty="0"/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5E7D129-1467-0D69-6CCC-97404B5A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378" y="1677804"/>
                <a:ext cx="3143451" cy="5161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91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D1E0-C7D3-2AD3-1D04-A95D42DE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6392C83-C2EE-EA74-C7A3-5AE0A15009E7}"/>
              </a:ext>
            </a:extLst>
          </p:cNvPr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B3C7-83D5-5037-D6F5-270E123A1FB0}"/>
              </a:ext>
            </a:extLst>
          </p:cNvPr>
          <p:cNvSpPr txBox="1"/>
          <p:nvPr/>
        </p:nvSpPr>
        <p:spPr>
          <a:xfrm>
            <a:off x="122303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665EB-D53C-E236-7F9E-855C8F03E855}"/>
              </a:ext>
            </a:extLst>
          </p:cNvPr>
          <p:cNvSpPr txBox="1"/>
          <p:nvPr/>
        </p:nvSpPr>
        <p:spPr>
          <a:xfrm>
            <a:off x="594360" y="932688"/>
            <a:ext cx="138403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Integral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976664E-7E22-3894-253B-38C4D2D455A1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FD1CCE-0C23-C579-605F-D22302B962AC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8E4F6-B1AF-1BAF-341B-443D048743F0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B9DA2-136E-0495-01BC-E7F6B1DBAB54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pic>
        <p:nvPicPr>
          <p:cNvPr id="10" name="Grafik 9" descr="Integralrechnung — Grundwissen Mathematik">
            <a:extLst>
              <a:ext uri="{FF2B5EF4-FFF2-40B4-BE49-F238E27FC236}">
                <a16:creationId xmlns:a16="http://schemas.microsoft.com/office/drawing/2014/main" id="{6AD62731-87F0-1A1A-33FD-98ACCD990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581"/>
          <a:stretch>
            <a:fillRect/>
          </a:stretch>
        </p:blipFill>
        <p:spPr>
          <a:xfrm>
            <a:off x="5301673" y="1955096"/>
            <a:ext cx="3008965" cy="2947807"/>
          </a:xfrm>
          <a:prstGeom prst="rect">
            <a:avLst/>
          </a:prstGeom>
        </p:spPr>
      </p:pic>
      <p:pic>
        <p:nvPicPr>
          <p:cNvPr id="11" name="Grafik 10" descr="Integralrechnung — Grundwissen Mathematik">
            <a:extLst>
              <a:ext uri="{FF2B5EF4-FFF2-40B4-BE49-F238E27FC236}">
                <a16:creationId xmlns:a16="http://schemas.microsoft.com/office/drawing/2014/main" id="{1F2F6C7B-12A9-1C32-81FD-37C291BE3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411" y="2058971"/>
            <a:ext cx="3342012" cy="2740055"/>
          </a:xfrm>
          <a:prstGeom prst="rect">
            <a:avLst/>
          </a:prstGeom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B9FF1FC3-7017-F95E-DC70-914D291A7E7A}"/>
              </a:ext>
            </a:extLst>
          </p:cNvPr>
          <p:cNvSpPr/>
          <p:nvPr/>
        </p:nvSpPr>
        <p:spPr>
          <a:xfrm>
            <a:off x="7989455" y="3556000"/>
            <a:ext cx="785090" cy="138536"/>
          </a:xfrm>
          <a:prstGeom prst="rightArrow">
            <a:avLst/>
          </a:prstGeom>
          <a:gradFill>
            <a:gsLst>
              <a:gs pos="0">
                <a:srgbClr val="EEEEE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8184EAE-98CD-6E0E-BD00-FD4B96B17BD1}"/>
              </a:ext>
            </a:extLst>
          </p:cNvPr>
          <p:cNvSpPr txBox="1"/>
          <p:nvPr/>
        </p:nvSpPr>
        <p:spPr>
          <a:xfrm>
            <a:off x="612648" y="2799470"/>
            <a:ext cx="39154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Integral wie eine Summe denken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913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22F0-F169-7CA2-DFE7-44A3328F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594C877-0D6E-80E6-6118-3EAD847C3A3F}"/>
              </a:ext>
            </a:extLst>
          </p:cNvPr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91BFA-204D-864A-B5C3-95D9E798F6B4}"/>
              </a:ext>
            </a:extLst>
          </p:cNvPr>
          <p:cNvSpPr txBox="1"/>
          <p:nvPr/>
        </p:nvSpPr>
        <p:spPr>
          <a:xfrm>
            <a:off x="122303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669D4-ADDB-A7A3-09C6-526A38CCF6F8}"/>
              </a:ext>
            </a:extLst>
          </p:cNvPr>
          <p:cNvSpPr txBox="1"/>
          <p:nvPr/>
        </p:nvSpPr>
        <p:spPr>
          <a:xfrm>
            <a:off x="594360" y="932688"/>
            <a:ext cx="247086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Linienintegral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70106A4-D450-AFF9-D21A-C8B53D4DFA2E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222E29-BA64-EE7B-0EFF-5E21174E726C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B9399-AA0E-98D7-CF8A-4DE933736626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447ED-26E2-66D0-01E8-9994F556DD22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C11E2700-23BA-2B34-8340-9D7EF68A4520}"/>
              </a:ext>
            </a:extLst>
          </p:cNvPr>
          <p:cNvSpPr txBox="1"/>
          <p:nvPr/>
        </p:nvSpPr>
        <p:spPr>
          <a:xfrm>
            <a:off x="612648" y="2799470"/>
            <a:ext cx="3946593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Man summiert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 entlang des Wegs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5" name="Grafik 4" descr="Linienintegral 1">
            <a:extLst>
              <a:ext uri="{FF2B5EF4-FFF2-40B4-BE49-F238E27FC236}">
                <a16:creationId xmlns:a16="http://schemas.microsoft.com/office/drawing/2014/main" id="{7B4247C1-B005-BFA6-280C-5D9B770D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873" y="597579"/>
            <a:ext cx="3230795" cy="53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2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FDD7-627B-8DBC-712D-85978840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D2FA91-ABDB-2278-DC1A-D9625A9ACD8E}"/>
              </a:ext>
            </a:extLst>
          </p:cNvPr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884CF-4455-C36B-2EAE-115C79CDF92C}"/>
              </a:ext>
            </a:extLst>
          </p:cNvPr>
          <p:cNvSpPr txBox="1"/>
          <p:nvPr/>
        </p:nvSpPr>
        <p:spPr>
          <a:xfrm>
            <a:off x="122303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17772-D37D-FA9E-E5E8-B52D15A35F77}"/>
              </a:ext>
            </a:extLst>
          </p:cNvPr>
          <p:cNvSpPr txBox="1"/>
          <p:nvPr/>
        </p:nvSpPr>
        <p:spPr>
          <a:xfrm>
            <a:off x="594360" y="932688"/>
            <a:ext cx="550753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Flächen und Volumenintegrale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39F216A-811A-77A3-5244-9B8627F57C8A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A116D9-255A-FA8C-B4DA-C92D8232B129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0B34B-81F7-8954-D5FF-FD26B994E2A7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BC908-8EA5-9736-2AD7-5D5944F25F2B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2731E41-9ABB-305E-4797-E6C4F602D33C}"/>
              </a:ext>
            </a:extLst>
          </p:cNvPr>
          <p:cNvSpPr txBox="1"/>
          <p:nvPr/>
        </p:nvSpPr>
        <p:spPr>
          <a:xfrm>
            <a:off x="612648" y="2799470"/>
            <a:ext cx="4482830" cy="21544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Keine Angst, ihr müsst keine komplett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ausrechnen (in NUS1)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Immer Möglich zu vereinfachen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8A76841-8603-2986-F688-7978E273E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074" y="3198006"/>
            <a:ext cx="1772292" cy="80558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80FA70-39D7-900C-29DC-640E0918D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502" y="3198006"/>
            <a:ext cx="1878627" cy="773554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8054E313-A632-CAEF-5AA0-3180017514C3}"/>
              </a:ext>
            </a:extLst>
          </p:cNvPr>
          <p:cNvSpPr txBox="1"/>
          <p:nvPr/>
        </p:nvSpPr>
        <p:spPr>
          <a:xfrm>
            <a:off x="594360" y="526641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800" dirty="0"/>
              <a:t>#04 – Vereinfachung Wegintegral </a:t>
            </a:r>
            <a:r>
              <a:rPr lang="de-CH" sz="1400" dirty="0"/>
              <a:t>(</a:t>
            </a:r>
            <a:r>
              <a:rPr lang="de-CH" sz="1400" dirty="0">
                <a:hlinkClick r:id="rId5"/>
              </a:rPr>
              <a:t>https://www.youtube.com/watch?v=A76JpF7ktCI</a:t>
            </a:r>
            <a:r>
              <a:rPr lang="de-CH" sz="1400" dirty="0"/>
              <a:t>)</a:t>
            </a:r>
          </a:p>
          <a:p>
            <a:r>
              <a:rPr lang="de-CH" sz="1800" dirty="0"/>
              <a:t>#03 – Vereinfachung Oberflächenintegral </a:t>
            </a:r>
            <a:r>
              <a:rPr lang="de-CH" sz="1400" dirty="0"/>
              <a:t>(</a:t>
            </a:r>
            <a:r>
              <a:rPr lang="de-CH" sz="1400" dirty="0">
                <a:hlinkClick r:id="rId6"/>
              </a:rPr>
              <a:t>https://www.youtube.com/watch?v=NlGysPeUliY</a:t>
            </a:r>
            <a:r>
              <a:rPr lang="de-CH" sz="1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2151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488114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Rechteckfläche berechnen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DB7050-2DE9-9E0F-B329-CB72D7CE069B}"/>
                  </a:ext>
                </a:extLst>
              </p:cNvPr>
              <p:cNvSpPr txBox="1"/>
              <p:nvPr/>
            </p:nvSpPr>
            <p:spPr>
              <a:xfrm>
                <a:off x="594360" y="1527521"/>
                <a:ext cx="2925994" cy="968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de-CH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CH" sz="2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de-CH" sz="28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CH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de-CH" sz="2800" i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CH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CH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de-CH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</m:e>
                      </m:nary>
                      <m:r>
                        <a:rPr lang="de-CH" sz="280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CH" sz="2800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e-CH" sz="280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CH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de-CH" sz="2800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DB7050-2DE9-9E0F-B329-CB72D7CE0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527521"/>
                <a:ext cx="2925994" cy="9687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64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8729" y="542673"/>
            <a:ext cx="280526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ENDE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41805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dirty="0">
                <a:solidFill>
                  <a:srgbClr val="737373"/>
                </a:solidFill>
                <a:latin typeface="Aptos"/>
              </a:rPr>
              <a:t>Drei Dinge, die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heute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sitzen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sollten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.</a:t>
            </a:r>
            <a:r>
              <a:rPr lang="de-CH" sz="1350" b="0" dirty="0">
                <a:solidFill>
                  <a:srgbClr val="737373"/>
                </a:solidFill>
                <a:latin typeface="Aptos"/>
              </a:rPr>
              <a:t> (Mehr oder weniger)</a:t>
            </a:r>
            <a:endParaRPr sz="135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16720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Vektorrechnung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29901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Koordinatensysteme kennen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299094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Evtl. verstehen was Flächen-</a:t>
            </a:r>
            <a:br>
              <a:rPr lang="de-CH" b="1" dirty="0">
                <a:solidFill>
                  <a:srgbClr val="171717"/>
                </a:solidFill>
                <a:latin typeface="Aptos"/>
              </a:rPr>
            </a:br>
            <a:r>
              <a:rPr lang="de-CH" b="1" dirty="0">
                <a:solidFill>
                  <a:srgbClr val="171717"/>
                </a:solidFill>
                <a:latin typeface="Aptos"/>
              </a:rPr>
              <a:t>und Kurvenintegrale sind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Breitbild</PresentationFormat>
  <Paragraphs>87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NUS1 TA – Simple PowerPoint Template – Enrico Putzi</dc:title>
  <dc:subject/>
  <dc:creator>Enrico Putzi</dc:creator>
  <cp:keywords/>
  <dc:description>generated using python-pptx</dc:description>
  <cp:lastModifiedBy>Putzi  Enrico</cp:lastModifiedBy>
  <cp:revision>13</cp:revision>
  <dcterms:created xsi:type="dcterms:W3CDTF">2013-01-27T09:14:16Z</dcterms:created>
  <dcterms:modified xsi:type="dcterms:W3CDTF">2026-09-16T18:26:43Z</dcterms:modified>
  <cp:category/>
</cp:coreProperties>
</file>