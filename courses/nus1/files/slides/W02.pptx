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3" r:id="rId4"/>
    <p:sldId id="264" r:id="rId5"/>
    <p:sldId id="265" r:id="rId6"/>
    <p:sldId id="266" r:id="rId7"/>
    <p:sldId id="268" r:id="rId8"/>
    <p:sldId id="269" r:id="rId9"/>
    <p:sldId id="267" r:id="rId10"/>
    <p:sldId id="270" r:id="rId11"/>
    <p:sldId id="271" r:id="rId12"/>
    <p:sldId id="273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4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5E493-6C48-DE91-78DF-05163C677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5E137-9750-A0D4-62ED-2F3349F5C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1665E-9885-6908-F74D-EC2A37E15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A2604-0CF2-3860-F7DF-B587CE9AA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02886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D5AC-6E28-AD75-B97A-DCBAAB840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7DBFE-3EF5-2387-2855-FDCE9B272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AA1EA-B3E5-503A-5A3A-3D5B0B4F4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7976B-D52E-7AB9-3BAB-130DB1DB3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08637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ECDD7-4B7D-763B-04B0-B237258E5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BAB60-1ADF-5937-7259-85FCA6436B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EF61C-AB84-E2C3-EF97-4275328FC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7EC60-D793-E492-83C2-959FDA07C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131903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829A-8D69-4400-FB01-019DB308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58D25-1712-79E5-13C8-45A2D7DE2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618EB-2C5F-6D4F-DA80-BA4F66D367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4B6B7-7B78-F47F-B149-AFCD5ACED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15929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58B57-9A4B-5A7E-4DA7-7C960454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45388-BE32-31E4-C995-76C0626BF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2A329-7630-F136-0DC9-ED74BC2F1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33E42-226D-6B72-84F8-6DA657B6F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59656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DC9D1-B8DE-C55F-EF89-31EC1C983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1FC576-2760-685B-48CF-3EEE3F56D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23C8A-4823-3EDF-70D5-65835C41B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9021E-FA1C-785E-E589-BB84605E5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86533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5044-5505-2DC9-2AFC-6F9F69E35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C5171-C7D2-D0F6-A7D9-650AE0F3D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BAC51-C1FA-00CE-F037-55A3667A9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04DF5-E5DB-2378-5184-C1F58540C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65760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DDB0-B798-C764-DECF-ACA661A6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3D737-B86D-CD59-18A0-E1D4BAB15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4A5C8-B2B6-6FD1-793A-F5A3EAFC8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F5DEC-705E-EA04-5543-83528C9B2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715737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182C-CB8B-6024-4C3C-3C406D84B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6846C-836E-566C-28F8-EB0F99DC5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6FB93-2A31-D915-F83C-353D23CAB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B155B-C5F6-E76C-33A3-0EE9C643A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69777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B9B4-1B77-5904-0B60-9E764BEF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DD47F-4752-36F6-1300-D7E7687CB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FF460-92AF-4C59-91EC-FD3E8415F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8AB6A-D87C-E127-D898-0C77C0AE2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8717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46120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02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3623300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b="0" dirty="0">
                <a:solidFill>
                  <a:srgbClr val="737373"/>
                </a:solidFill>
                <a:latin typeface="Aptos"/>
              </a:rPr>
              <a:t>Coulomb, E- und D-Feld, Grenzflächen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3960" y="542673"/>
            <a:ext cx="2500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Infos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436356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machen wir heute?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49152" y="6492240"/>
            <a:ext cx="21800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817540"/>
            <a:ext cx="4441537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Fragen?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 err="1">
                <a:solidFill>
                  <a:srgbClr val="171717"/>
                </a:solidFill>
                <a:latin typeface="Aptos"/>
              </a:rPr>
              <a:t>Recap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 signifikante Stellen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Ladung und Coulomb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Ladungsdichten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E- und D-Feld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Influenz und Feldgrössen an Flächen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 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1B471-4BCD-4E47-8687-C6A6B1E1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D03BF4-992C-4C7D-B13E-15A7C04D28B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ABBCC-FDB3-B0D2-9B3E-91123FE597FE}"/>
              </a:ext>
            </a:extLst>
          </p:cNvPr>
          <p:cNvSpPr txBox="1"/>
          <p:nvPr/>
        </p:nvSpPr>
        <p:spPr>
          <a:xfrm>
            <a:off x="921900" y="542673"/>
            <a:ext cx="314190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 err="1">
                <a:solidFill>
                  <a:srgbClr val="737373"/>
                </a:solidFill>
                <a:latin typeface="Aptos"/>
              </a:rPr>
              <a:t>Recap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39B93-360E-8620-2B42-9CE22291DD9E}"/>
              </a:ext>
            </a:extLst>
          </p:cNvPr>
          <p:cNvSpPr txBox="1"/>
          <p:nvPr/>
        </p:nvSpPr>
        <p:spPr>
          <a:xfrm>
            <a:off x="594360" y="932688"/>
            <a:ext cx="737990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Wie signifikant sind signifikante stellen? 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D78E73F-FB27-D71F-3EBA-CD3C32A435A6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FD388B-B744-1E74-9614-1C524EB7732B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1B23B9-F0B7-5C87-BAE6-EFF5B216B96B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B5352B-EB58-7EFD-B6FC-EA1A399D5936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B11354-3027-F008-4676-FD23875FC780}"/>
              </a:ext>
            </a:extLst>
          </p:cNvPr>
          <p:cNvSpPr txBox="1"/>
          <p:nvPr/>
        </p:nvSpPr>
        <p:spPr>
          <a:xfrm>
            <a:off x="914400" y="1817540"/>
            <a:ext cx="3414974" cy="276998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10.146 + 2.31 =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10 Personen in einem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Raum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endParaRPr lang="de-CH" sz="200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7.21 * 10^12 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7238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074F-F5AC-4602-C9B9-873C7099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B10C297-FBCD-9B70-4F56-FD5B4A6EE63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3328E-02F0-D478-C421-E87194AA210C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C8735-9771-EFA3-0F42-5FF2930DDB1C}"/>
              </a:ext>
            </a:extLst>
          </p:cNvPr>
          <p:cNvSpPr txBox="1"/>
          <p:nvPr/>
        </p:nvSpPr>
        <p:spPr>
          <a:xfrm>
            <a:off x="594360" y="932688"/>
            <a:ext cx="418832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Coulomb’sches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Gesetz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024E69E8-7B2F-AC81-A11C-35221981C1A0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A49189-3F70-FE94-9988-C2E789E05646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096F2-EC25-EF0F-3078-8CED0AE48EF2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5AEA96-02DA-06B2-68CE-FCF23C98ADAE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2A6AC5-4A48-E6B2-3146-D10DFDCB3C37}"/>
              </a:ext>
            </a:extLst>
          </p:cNvPr>
          <p:cNvSpPr txBox="1"/>
          <p:nvPr/>
        </p:nvSpPr>
        <p:spPr>
          <a:xfrm>
            <a:off x="914400" y="1817540"/>
            <a:ext cx="332398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Mindestens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 zwei Ladungen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Analogie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zu Magneten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1094BB81-8658-9165-9DE1-0B198D605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577" y="1322434"/>
            <a:ext cx="4963232" cy="173713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B06B975-7924-ECB2-CA57-117899683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" y="3105284"/>
            <a:ext cx="4516661" cy="1253313"/>
          </a:xfrm>
          <a:prstGeom prst="rect">
            <a:avLst/>
          </a:prstGeom>
        </p:spPr>
      </p:pic>
      <p:sp>
        <p:nvSpPr>
          <p:cNvPr id="18" name="TextBox 10">
            <a:extLst>
              <a:ext uri="{FF2B5EF4-FFF2-40B4-BE49-F238E27FC236}">
                <a16:creationId xmlns:a16="http://schemas.microsoft.com/office/drawing/2014/main" id="{5BC6FB1A-9225-AB5E-0283-AE8CC0BD3D08}"/>
              </a:ext>
            </a:extLst>
          </p:cNvPr>
          <p:cNvSpPr txBox="1"/>
          <p:nvPr/>
        </p:nvSpPr>
        <p:spPr>
          <a:xfrm>
            <a:off x="594360" y="4599154"/>
            <a:ext cx="486556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Was passiert, wenn eine Ladung negativ ist? </a:t>
            </a:r>
          </a:p>
        </p:txBody>
      </p:sp>
    </p:spTree>
    <p:extLst>
      <p:ext uri="{BB962C8B-B14F-4D97-AF65-F5344CB8AC3E}">
        <p14:creationId xmlns:p14="http://schemas.microsoft.com/office/powerpoint/2010/main" val="3145842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A6B6B-9EF2-581E-BE0E-6B627C1B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A3C7BE5-D1B4-3331-40C1-2352B025BA0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6A887-D7F6-4F31-9A97-F948469EAE9A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3B6F6-9F45-AA31-2900-ABA21CBF731A}"/>
              </a:ext>
            </a:extLst>
          </p:cNvPr>
          <p:cNvSpPr txBox="1"/>
          <p:nvPr/>
        </p:nvSpPr>
        <p:spPr>
          <a:xfrm>
            <a:off x="594360" y="932688"/>
            <a:ext cx="291111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Ladungsdichten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E92109A-F46C-075C-3120-02791DB66648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D73608-C30C-74A1-E38A-9F33F688923F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A040D-F8C9-3A6D-6077-D382BE4B8F10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A0A512-A211-31E6-A06F-BA621379D46B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6CAED-8AD3-007A-BC96-72D5054EFCA5}"/>
              </a:ext>
            </a:extLst>
          </p:cNvPr>
          <p:cNvSpPr txBox="1"/>
          <p:nvPr/>
        </p:nvSpPr>
        <p:spPr>
          <a:xfrm>
            <a:off x="914400" y="1715940"/>
            <a:ext cx="224612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Linienladungsdichte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FCB7045-A739-9DE8-D832-EBFC0BB8152B}"/>
              </a:ext>
            </a:extLst>
          </p:cNvPr>
          <p:cNvSpPr txBox="1"/>
          <p:nvPr/>
        </p:nvSpPr>
        <p:spPr>
          <a:xfrm>
            <a:off x="3657600" y="1715940"/>
            <a:ext cx="2468946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Flächenladungsdichte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8FD3933-0266-B2F8-97BB-B2C30912AA5B}"/>
              </a:ext>
            </a:extLst>
          </p:cNvPr>
          <p:cNvSpPr txBox="1"/>
          <p:nvPr/>
        </p:nvSpPr>
        <p:spPr>
          <a:xfrm>
            <a:off x="6562528" y="1715940"/>
            <a:ext cx="223317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Raumladungsdichte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460C12D-1195-1B41-B04A-1CB81C636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01" y="2960891"/>
            <a:ext cx="2297510" cy="566719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47E777AA-D71C-C4C5-0308-89ECA599B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40" y="4051103"/>
            <a:ext cx="1849631" cy="102509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656BCE5-4B51-D910-031E-24D092DF86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318" y="2941667"/>
            <a:ext cx="2297510" cy="58594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9A5BB279-E436-0162-6010-3CC5064557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5181" y="4131100"/>
            <a:ext cx="1807378" cy="79199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19F226F-7AFF-CC37-20DD-516CB3825D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1430" y="2882009"/>
            <a:ext cx="2543615" cy="702225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D0FCB5E5-65B5-9F0B-6AA8-7676ECCBA0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6916" y="4211156"/>
            <a:ext cx="1672641" cy="631886"/>
          </a:xfrm>
          <a:prstGeom prst="rect">
            <a:avLst/>
          </a:prstGeom>
        </p:spPr>
      </p:pic>
      <p:sp>
        <p:nvSpPr>
          <p:cNvPr id="27" name="TextBox 10">
            <a:extLst>
              <a:ext uri="{FF2B5EF4-FFF2-40B4-BE49-F238E27FC236}">
                <a16:creationId xmlns:a16="http://schemas.microsoft.com/office/drawing/2014/main" id="{66C76EB4-20DC-5A95-4C03-8A908A35E386}"/>
              </a:ext>
            </a:extLst>
          </p:cNvPr>
          <p:cNvSpPr txBox="1"/>
          <p:nvPr/>
        </p:nvSpPr>
        <p:spPr>
          <a:xfrm>
            <a:off x="366430" y="5078759"/>
            <a:ext cx="527471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Wie vereinfachen, wenn die Dichte konstant ist?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464FED5B-7C4D-3C37-314B-60257A4B60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143" y="3579453"/>
            <a:ext cx="1091757" cy="574609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67B1743C-814D-8D4F-27F3-AAE2D3D522C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4609" y="3474247"/>
            <a:ext cx="1343387" cy="702225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C5689D17-B01B-07F7-BE39-09D77FB933C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8378"/>
          <a:stretch>
            <a:fillRect/>
          </a:stretch>
        </p:blipFill>
        <p:spPr>
          <a:xfrm>
            <a:off x="6680941" y="3474247"/>
            <a:ext cx="1110994" cy="80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E2DC5-18A0-48CA-94E6-42B53DAB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5C5CF2A-3344-748A-2F2F-3B1478E6561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672CB-058A-73A3-0696-02814431C9CC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51116-A0B7-2A7B-9DE0-69DD3420B048}"/>
              </a:ext>
            </a:extLst>
          </p:cNvPr>
          <p:cNvSpPr txBox="1"/>
          <p:nvPr/>
        </p:nvSpPr>
        <p:spPr>
          <a:xfrm>
            <a:off x="594360" y="932688"/>
            <a:ext cx="377263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Das Elektrische Feld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9F450AC-1768-0658-7380-C79F665D15C9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E815BD1-5A4D-0873-0B50-B5903666DD8F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C9CBC-1E35-912A-7207-577C7F3F66DD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427F8-5F0B-970C-B853-FE115734015F}"/>
              </a:ext>
            </a:extLst>
          </p:cNvPr>
          <p:cNvSpPr txBox="1"/>
          <p:nvPr/>
        </p:nvSpPr>
        <p:spPr>
          <a:xfrm>
            <a:off x="11349152" y="6492240"/>
            <a:ext cx="21800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D1201-7C65-6033-831C-3DAEB5B7E990}"/>
              </a:ext>
            </a:extLst>
          </p:cNvPr>
          <p:cNvSpPr txBox="1"/>
          <p:nvPr/>
        </p:nvSpPr>
        <p:spPr>
          <a:xfrm>
            <a:off x="914400" y="1817540"/>
            <a:ext cx="4482766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Unsichtbare Eigenschaft des Raumes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Einheit: V/m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D3C5EAD-5996-5AD5-D3F2-9E90A2F1D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112897"/>
            <a:ext cx="5106613" cy="81241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005A175-9251-C210-44B1-641ADAA3E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353" y="2125316"/>
            <a:ext cx="3546966" cy="277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208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E47E3-0315-610F-13A9-86BC1C6B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5E9A9B0-A73F-912B-0E8A-93914695400C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DDB87F-6D20-BF00-0EA8-CDA709F5945A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F0C99-A8EB-7F88-D66F-C04CBEEE06D5}"/>
              </a:ext>
            </a:extLst>
          </p:cNvPr>
          <p:cNvSpPr txBox="1"/>
          <p:nvPr/>
        </p:nvSpPr>
        <p:spPr>
          <a:xfrm>
            <a:off x="594360" y="932688"/>
            <a:ext cx="470660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Darstellung von Feldlinien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E15C3A6-AE51-C06B-F399-14257A7C5453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3207AA2-DAF7-037B-72CA-4E1A639615B2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1C577-70F9-56A9-2225-8040A6B7CE8E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B82D5-9075-5955-8C5C-B59EAE2935D1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B9055-B7C2-E7D1-7E0F-3276D77A1574}"/>
              </a:ext>
            </a:extLst>
          </p:cNvPr>
          <p:cNvSpPr txBox="1"/>
          <p:nvPr/>
        </p:nvSpPr>
        <p:spPr>
          <a:xfrm>
            <a:off x="375357" y="5209381"/>
            <a:ext cx="427187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Radial nach aussen bei Punktladungen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554E48B8-2040-838D-53DE-7CA57BD14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11" y="2125316"/>
            <a:ext cx="3546966" cy="277025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3D9A3A3-5D44-9E59-C8AF-ADFECC0D4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169" y="2261664"/>
            <a:ext cx="4533136" cy="2770249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2E64661A-E550-7B24-4E2A-0B5F7B935160}"/>
              </a:ext>
            </a:extLst>
          </p:cNvPr>
          <p:cNvSpPr txBox="1"/>
          <p:nvPr/>
        </p:nvSpPr>
        <p:spPr>
          <a:xfrm>
            <a:off x="6345915" y="5229820"/>
            <a:ext cx="18336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Zwei Ladungen? 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22372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C3722-5922-979C-EADA-2F2DC1C5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F10644E-A5D7-56A1-4872-51603263609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72E30-1040-60FC-0388-959571ADAD52}"/>
              </a:ext>
            </a:extLst>
          </p:cNvPr>
          <p:cNvSpPr txBox="1"/>
          <p:nvPr/>
        </p:nvSpPr>
        <p:spPr>
          <a:xfrm>
            <a:off x="830533" y="542673"/>
            <a:ext cx="49693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Rechnung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EC439-C8B8-AE40-C5AB-7D061360B173}"/>
              </a:ext>
            </a:extLst>
          </p:cNvPr>
          <p:cNvSpPr txBox="1"/>
          <p:nvPr/>
        </p:nvSpPr>
        <p:spPr>
          <a:xfrm>
            <a:off x="594360" y="932688"/>
            <a:ext cx="683655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Berechnung mit mehreren Ladungen?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4FFEC28-CEA3-FBDE-78B1-CFE7F85807D6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17FDD8-784F-0586-6C1B-4F444ACD4B9A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0CE72-17D5-2636-4F5A-AD886EE5AD63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6BBA93-00DB-E561-1A08-D44A591F3A64}"/>
              </a:ext>
            </a:extLst>
          </p:cNvPr>
          <p:cNvSpPr txBox="1"/>
          <p:nvPr/>
        </p:nvSpPr>
        <p:spPr>
          <a:xfrm>
            <a:off x="11349152" y="6492240"/>
            <a:ext cx="218008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A6C84A-2D58-586B-F703-FCCCD80FAA05}"/>
              </a:ext>
            </a:extLst>
          </p:cNvPr>
          <p:cNvSpPr txBox="1"/>
          <p:nvPr/>
        </p:nvSpPr>
        <p:spPr>
          <a:xfrm>
            <a:off x="594360" y="1377689"/>
            <a:ext cx="492609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Stichwort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Überlagerung und Vektoren nutzen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6595CB7F-D2D5-4200-01E6-C6E2A1CC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75" y="1731185"/>
            <a:ext cx="4974084" cy="450706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4A11435-A385-6D39-9523-EFA9187FF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5147" y="339411"/>
            <a:ext cx="1829055" cy="42868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E0ACD07-451D-A326-D274-EDDD2E8DE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199" y="768096"/>
            <a:ext cx="2152950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11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AD89-5BB9-D0CC-9F17-F5AF9BD8D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4F979B-748A-298B-3F6F-9CE7CB64F71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5E108-8E24-F30B-8C06-5FE01F94ED66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FFCA9-42B0-C50E-6FF9-73880E7B07E6}"/>
              </a:ext>
            </a:extLst>
          </p:cNvPr>
          <p:cNvSpPr txBox="1"/>
          <p:nvPr/>
        </p:nvSpPr>
        <p:spPr>
          <a:xfrm>
            <a:off x="594360" y="932688"/>
            <a:ext cx="315419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Arbeit &amp; Potential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6DA52DC-BAC6-0C67-E68F-84562AFD955D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EEBA47-F258-C768-45E4-D5A84A09BE06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3CF63A-8246-6BC9-6FD6-17CE1FB110D3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18B60A-4973-D5D3-1291-BE35FCB1C823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5" name="Grafik 4" descr="Potential Energy – AP Physics 1 Study Guide">
            <a:extLst>
              <a:ext uri="{FF2B5EF4-FFF2-40B4-BE49-F238E27FC236}">
                <a16:creationId xmlns:a16="http://schemas.microsoft.com/office/drawing/2014/main" id="{0B67EF13-FCAB-DCBB-9927-4340B50DB8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587" t="12358" r="11620" b="5062"/>
          <a:stretch>
            <a:fillRect/>
          </a:stretch>
        </p:blipFill>
        <p:spPr>
          <a:xfrm>
            <a:off x="6692900" y="1171215"/>
            <a:ext cx="2463800" cy="424749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0A3781B-4839-D4BE-0884-03223F881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1" y="1574334"/>
            <a:ext cx="3154197" cy="91471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091E64B-327D-52B8-D037-F6432C69B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122" y="3851640"/>
            <a:ext cx="1474717" cy="850131"/>
          </a:xfrm>
          <a:prstGeom prst="rect">
            <a:avLst/>
          </a:prstGeom>
        </p:spPr>
      </p:pic>
      <p:sp>
        <p:nvSpPr>
          <p:cNvPr id="16" name="TextBox 10">
            <a:extLst>
              <a:ext uri="{FF2B5EF4-FFF2-40B4-BE49-F238E27FC236}">
                <a16:creationId xmlns:a16="http://schemas.microsoft.com/office/drawing/2014/main" id="{9C50AE66-561E-C24D-66C4-174D5AA8BB81}"/>
              </a:ext>
            </a:extLst>
          </p:cNvPr>
          <p:cNvSpPr txBox="1"/>
          <p:nvPr/>
        </p:nvSpPr>
        <p:spPr>
          <a:xfrm>
            <a:off x="674122" y="3543863"/>
            <a:ext cx="333617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Im elektro</a:t>
            </a:r>
            <a:r>
              <a:rPr lang="de-CH" sz="2000" b="1" dirty="0">
                <a:solidFill>
                  <a:srgbClr val="171717"/>
                </a:solidFill>
                <a:latin typeface="Aptos"/>
              </a:rPr>
              <a:t>statischen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 Feld gilt: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D9ADC063-2D1E-1422-51C9-957F763F11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59" y="2533320"/>
            <a:ext cx="3313789" cy="983544"/>
          </a:xfrm>
          <a:prstGeom prst="rect">
            <a:avLst/>
          </a:prstGeom>
        </p:spPr>
      </p:pic>
      <p:sp>
        <p:nvSpPr>
          <p:cNvPr id="26" name="TextBox 10">
            <a:extLst>
              <a:ext uri="{FF2B5EF4-FFF2-40B4-BE49-F238E27FC236}">
                <a16:creationId xmlns:a16="http://schemas.microsoft.com/office/drawing/2014/main" id="{EFCC46D2-53CB-C0E3-073A-33F94F975A05}"/>
              </a:ext>
            </a:extLst>
          </p:cNvPr>
          <p:cNvSpPr txBox="1"/>
          <p:nvPr/>
        </p:nvSpPr>
        <p:spPr>
          <a:xfrm>
            <a:off x="674122" y="4837610"/>
            <a:ext cx="251684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Spannung vs. Potential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6F1DB4D0-B16F-270B-4209-9DDB9BD8D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122" y="5208894"/>
            <a:ext cx="2758440" cy="774990"/>
          </a:xfrm>
          <a:prstGeom prst="rect">
            <a:avLst/>
          </a:prstGeom>
        </p:spPr>
      </p:pic>
      <p:sp>
        <p:nvSpPr>
          <p:cNvPr id="30" name="TextBox 10">
            <a:extLst>
              <a:ext uri="{FF2B5EF4-FFF2-40B4-BE49-F238E27FC236}">
                <a16:creationId xmlns:a16="http://schemas.microsoft.com/office/drawing/2014/main" id="{7D8B80DA-8989-68C6-60F7-778E926BB968}"/>
              </a:ext>
            </a:extLst>
          </p:cNvPr>
          <p:cNvSpPr txBox="1"/>
          <p:nvPr/>
        </p:nvSpPr>
        <p:spPr>
          <a:xfrm>
            <a:off x="6333205" y="1723915"/>
            <a:ext cx="15068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A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01FB282B-B96F-2E11-6C60-8B68C8659276}"/>
              </a:ext>
            </a:extLst>
          </p:cNvPr>
          <p:cNvSpPr txBox="1"/>
          <p:nvPr/>
        </p:nvSpPr>
        <p:spPr>
          <a:xfrm>
            <a:off x="6330800" y="4803148"/>
            <a:ext cx="15549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B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02326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A4369-CD3D-0C30-17DC-0815D47F5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D957D1-1DB7-7851-078F-AF755B4B6FA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D18EC4-B540-64AD-ACD7-0ED22C73E3ED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8307C-7E49-EF4E-0CD8-42E77B5DDF44}"/>
              </a:ext>
            </a:extLst>
          </p:cNvPr>
          <p:cNvSpPr txBox="1"/>
          <p:nvPr/>
        </p:nvSpPr>
        <p:spPr>
          <a:xfrm>
            <a:off x="594360" y="932688"/>
            <a:ext cx="492769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Die elektrische Flussdichte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F1F53166-E08C-CBFE-195A-3CF0C2D71975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8FB8C57-DA08-F2AE-8510-775EBB2F003E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8BC53-FB87-285C-54FD-08F6847A2ADF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E4E0C-6522-BE7C-26C6-820F1F5B1905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2049B2-35BA-EF93-962E-2B914DE763B1}"/>
              </a:ext>
            </a:extLst>
          </p:cNvPr>
          <p:cNvSpPr txBox="1"/>
          <p:nvPr/>
        </p:nvSpPr>
        <p:spPr>
          <a:xfrm>
            <a:off x="914400" y="1817540"/>
            <a:ext cx="4927696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Ladung sendet immer gleich viele «Feldlinien» aus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Unabhängig vom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Material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Einheit Ladung/Fläche, C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/m^2 = A*s/m^2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9787068-9830-BE6F-2A48-B4165432A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490" y="1489457"/>
            <a:ext cx="1333500" cy="656166"/>
          </a:xfrm>
          <a:prstGeom prst="rect">
            <a:avLst/>
          </a:prstGeom>
        </p:spPr>
      </p:pic>
      <p:pic>
        <p:nvPicPr>
          <p:cNvPr id="16" name="Grafik 15" descr="Der Gaußsche Satz - erste Maxwell-Gleichung | Elektrizität (5 von 14)">
            <a:extLst>
              <a:ext uri="{FF2B5EF4-FFF2-40B4-BE49-F238E27FC236}">
                <a16:creationId xmlns:a16="http://schemas.microsoft.com/office/drawing/2014/main" id="{79D96E67-AA5D-AF56-AE3B-48ABBC2D62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58" t="34253" r="53909" b="11757"/>
          <a:stretch>
            <a:fillRect/>
          </a:stretch>
        </p:blipFill>
        <p:spPr>
          <a:xfrm>
            <a:off x="6775169" y="3795855"/>
            <a:ext cx="2463801" cy="237355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EFF5427-7C44-EC0F-D713-C196011D4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999" y="3325760"/>
            <a:ext cx="2898140" cy="609422"/>
          </a:xfrm>
          <a:prstGeom prst="rect">
            <a:avLst/>
          </a:prstGeom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7AA5C891-DD51-CFE6-8E1C-5B71705FC5C9}"/>
              </a:ext>
            </a:extLst>
          </p:cNvPr>
          <p:cNvSpPr txBox="1"/>
          <p:nvPr/>
        </p:nvSpPr>
        <p:spPr>
          <a:xfrm>
            <a:off x="1074324" y="3882299"/>
            <a:ext cx="211737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Elektrischer Fl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uss?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69C927F-25CE-F298-D7C8-351CB16A4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324" y="4292125"/>
            <a:ext cx="1878706" cy="81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5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490F-99A0-EC6D-DC63-02817E29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43DF487-ED29-1823-8147-235F9B91938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C612B-09F4-6885-9E64-68170E2519BD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9E3D4-72A2-1B42-D7A0-CF6637CD8E4C}"/>
              </a:ext>
            </a:extLst>
          </p:cNvPr>
          <p:cNvSpPr txBox="1"/>
          <p:nvPr/>
        </p:nvSpPr>
        <p:spPr>
          <a:xfrm>
            <a:off x="594360" y="932688"/>
            <a:ext cx="662886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Feldgrössen bei einer Flächenladung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95AA9FE6-7BD8-4291-830C-940EDB913C83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A3B7AB-7E80-01C2-3E67-ED3CADEDA2FF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311E3-4739-81AE-43F9-67B88870749B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16128-1A55-4ED4-64AD-11B4A16D4DC2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99B17EB4-14E2-CDD2-33CB-AFE39D557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144" y="1969156"/>
            <a:ext cx="2580640" cy="2326048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A2749D5-2F80-AEFF-8D0C-21CEAF2C3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3634" y="4366899"/>
            <a:ext cx="1963743" cy="65458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E37A2103-97D4-BD02-7FBA-0AF3D6EED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3634" y="5093174"/>
            <a:ext cx="1957364" cy="57288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EE94DA9-76D3-71A5-D079-84DCA5BCE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335" y="1969156"/>
            <a:ext cx="2136891" cy="237023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7AC0CEBA-A277-75EE-74D2-821BAF3BC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6004" y="4366899"/>
            <a:ext cx="1435196" cy="75746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4495AB19-4710-CE4B-0572-31203BABC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166" y="5183687"/>
            <a:ext cx="4276838" cy="6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19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1505E-0FD7-6E16-A3C2-C284ADFF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CD6266B-F2CD-552D-07F0-548F2CCDD4F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53EE0F-E908-0567-D14C-4DD52F7B4578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F2B50B-2457-1DF2-9E8E-C00E1DE5CCF0}"/>
              </a:ext>
            </a:extLst>
          </p:cNvPr>
          <p:cNvSpPr txBox="1"/>
          <p:nvPr/>
        </p:nvSpPr>
        <p:spPr>
          <a:xfrm>
            <a:off x="594360" y="932688"/>
            <a:ext cx="146674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Influenz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A477D2D-023C-DC4C-B547-842CDC7E16E5}"/>
              </a:ext>
            </a:extLst>
          </p:cNvPr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B7C75A-3780-365F-EE54-360656504DEE}"/>
              </a:ext>
            </a:extLst>
          </p:cNvPr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AA1B1-0060-8E88-0602-A0D89CE8071D}"/>
              </a:ext>
            </a:extLst>
          </p:cNvPr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  <a:endParaRPr lang="de-CH" sz="85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C46B1-3641-0378-340C-D47C0AB02166}"/>
              </a:ext>
            </a:extLst>
          </p:cNvPr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FCBAE7A-659C-2229-FD23-C217180C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38" y="1937128"/>
            <a:ext cx="2491740" cy="3693432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23E8FD3A-732F-19B6-DE44-7FB9B4DA8BA6}"/>
              </a:ext>
            </a:extLst>
          </p:cNvPr>
          <p:cNvSpPr txBox="1"/>
          <p:nvPr/>
        </p:nvSpPr>
        <p:spPr>
          <a:xfrm>
            <a:off x="641376" y="1737520"/>
            <a:ext cx="295722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Innere ist </a:t>
            </a:r>
            <a:r>
              <a:rPr lang="de-CH" sz="2000" dirty="0" err="1">
                <a:solidFill>
                  <a:srgbClr val="171717"/>
                </a:solidFill>
                <a:latin typeface="Aptos"/>
              </a:rPr>
              <a:t>feldfrei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? Warum?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54648717-C5A5-C57F-305D-443290252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560" y="1409742"/>
            <a:ext cx="3392463" cy="422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AM 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 dirty="0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383085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350" dirty="0">
                <a:solidFill>
                  <a:srgbClr val="737373"/>
                </a:solidFill>
                <a:latin typeface="Aptos"/>
              </a:rPr>
              <a:t>Heute gab es viel Theorie, 3 wichtige Kernaussagen:</a:t>
            </a:r>
            <a:endParaRPr sz="135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94360" y="6446520"/>
            <a:ext cx="10972800" cy="0"/>
          </a:xfrm>
          <a:prstGeom prst="line">
            <a:avLst/>
          </a:prstGeom>
          <a:ln w="12700">
            <a:solidFill>
              <a:srgbClr val="E8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6492240"/>
            <a:ext cx="15544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737373"/>
                </a:solidFill>
                <a:latin typeface="Aptos"/>
              </a:rPr>
              <a:t>NUS1 · ÜBUNG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4076" y="6492240"/>
            <a:ext cx="578684" cy="1308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0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9087" y="6492240"/>
            <a:ext cx="21807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lang="de-CH" sz="850" b="1" dirty="0">
                <a:solidFill>
                  <a:srgbClr val="737373"/>
                </a:solidFill>
                <a:latin typeface="Aptos"/>
              </a:rPr>
              <a:t>W02</a:t>
            </a:r>
          </a:p>
          <a:p>
            <a:pPr algn="r"/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257602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 err="1">
                <a:solidFill>
                  <a:srgbClr val="171717"/>
                </a:solidFill>
                <a:latin typeface="Aptos"/>
              </a:rPr>
              <a:t>Coulombsches</a:t>
            </a:r>
            <a:r>
              <a:rPr lang="de-CH" b="1" dirty="0">
                <a:solidFill>
                  <a:srgbClr val="171717"/>
                </a:solidFill>
                <a:latin typeface="Aptos"/>
              </a:rPr>
              <a:t> Gesetz &amp;</a:t>
            </a:r>
          </a:p>
          <a:p>
            <a:pPr algn="l"/>
            <a:r>
              <a:rPr lang="de-CH" b="1" dirty="0" err="1">
                <a:solidFill>
                  <a:srgbClr val="171717"/>
                </a:solidFill>
                <a:latin typeface="Aptos"/>
              </a:rPr>
              <a:t>Kraftberechung</a:t>
            </a:r>
            <a:endParaRPr lang="de-CH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140243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E- und D-Feld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277787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Verhalten an Grenzflächen</a:t>
            </a:r>
          </a:p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verstehen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Breitbild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W02</dc:title>
  <dc:subject/>
  <dc:creator>Enrico Putzi</dc:creator>
  <cp:keywords/>
  <dc:description>generated using python-pptx</dc:description>
  <cp:lastModifiedBy>Putzi  Enrico</cp:lastModifiedBy>
  <cp:revision>26</cp:revision>
  <dcterms:created xsi:type="dcterms:W3CDTF">2013-01-27T09:14:16Z</dcterms:created>
  <dcterms:modified xsi:type="dcterms:W3CDTF">2026-09-23T19:37:54Z</dcterms:modified>
  <cp:category/>
</cp:coreProperties>
</file>