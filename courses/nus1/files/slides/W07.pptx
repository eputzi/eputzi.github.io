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98" r:id="rId4"/>
    <p:sldId id="300" r:id="rId5"/>
    <p:sldId id="301" r:id="rId6"/>
    <p:sldId id="258" r:id="rId7"/>
    <p:sldId id="259" r:id="rId8"/>
    <p:sldId id="260" r:id="rId9"/>
    <p:sldId id="261" r:id="rId10"/>
    <p:sldId id="262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1929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Cover. Pro Woche nur Übungsnummer, Thema und ggf. Website-Link ändern.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0BC5A-A082-C7E3-90A8-5A7202C7A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BB2B4-E980-AADF-84FB-795132FFF7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3342A0-C1BA-7570-01D9-5E4720BBBE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6C3669-B8A8-B897-64B9-F807C872E8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073936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84D41-D81E-45B2-4600-9C5FDCECE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766E24-C4EB-C711-6B69-AE6CCED34C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678759-C34F-B6DB-5804-EA894C1CDB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BC5786-283C-FA56-0AEA-9CAAEF6E05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25036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7DE0BB-2B29-31E2-3317-41B64AE9D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028809-21B6-3405-7E87-A5F4BF319B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DBC20A-FFCF-1EB4-FE7C-EF5875EE5C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712F35-87FC-B400-76A0-057D240C18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254361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Schaltungen, Aufgaben, Diagramme oder Fotos. Viel Fläche lassen und in GoodNotes direkt darüber schreiben.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eine grosse Formel, einen Rechenweg oder eine Lösung. Nicht mit Text vollpacken.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Standard-Aufgabenfolie: links Aufgabe, rechts kurze Arbeitsanweisung. Lösung später oder live in GoodNotes.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Nur zwischen grösseren Blöcken verwenden, nicht ständig.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Optional: QR-Code oder kurzer Link zum Fragen-Tool.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1982D-82A2-4E03-A07D-65CA8B5F8742}" type="datetime1">
              <a:rPr lang="de-CH" smtClean="0"/>
              <a:t>21.10.2026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14FE1-0FA3-48D7-8958-994BF4919AE6}" type="datetime1">
              <a:rPr lang="de-CH" smtClean="0"/>
              <a:t>21.10.2026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93AEC3-33C5-4096-928C-E105753C3DA5}" type="datetime1">
              <a:rPr lang="de-CH" smtClean="0"/>
              <a:t>21.10.2026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67A475-4367-4D6E-AD87-3B1FF46691DF}" type="datetime1">
              <a:rPr lang="de-CH" smtClean="0"/>
              <a:t>21.10.2026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1D07-040C-403D-A621-294731A1A73C}" type="datetime1">
              <a:rPr lang="de-CH" smtClean="0"/>
              <a:t>21.10.2026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84239-FBF7-458E-B3A9-617203C3EFDE}" type="datetime1">
              <a:rPr lang="de-CH" smtClean="0"/>
              <a:t>21.10.2026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70B40-5609-4D0C-9667-2862A3AF6E35}" type="datetime1">
              <a:rPr lang="de-CH" smtClean="0"/>
              <a:t>21.10.2026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2A5C9-989E-4915-90A3-748149489DA8}" type="datetime1">
              <a:rPr lang="de-CH" smtClean="0"/>
              <a:t>21.10.2026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5FC3CA-46A9-4BDD-9F7F-F76319CF56C8}" type="datetime1">
              <a:rPr lang="de-CH" smtClean="0"/>
              <a:t>21.10.2026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7C623-2BE6-40DF-A481-1E3E5DAF3BB1}" type="datetime1">
              <a:rPr lang="de-CH" smtClean="0"/>
              <a:t>21.10.2026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7D4E0-9B7E-4417-AEAD-59A9C21D2514}" type="datetime1">
              <a:rPr lang="de-CH" smtClean="0"/>
              <a:t>21.10.2026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F76107-2327-4742-820B-1886FFEE5E55}" type="datetime1">
              <a:rPr lang="de-CH" smtClean="0"/>
              <a:t>21.10.2026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90426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Enrico Putzi WXX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79673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530352"/>
            <a:ext cx="2514600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486171" y="597537"/>
            <a:ext cx="7309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7955279" cy="1508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4300" b="1" dirty="0" err="1">
                <a:solidFill>
                  <a:srgbClr val="171717"/>
                </a:solidFill>
                <a:latin typeface="Aptos"/>
              </a:rPr>
              <a:t>Netzwerke</a:t>
            </a:r>
            <a:r>
              <a:rPr sz="4300" b="1" dirty="0">
                <a:solidFill>
                  <a:srgbClr val="171717"/>
                </a:solidFill>
                <a:latin typeface="Aptos"/>
              </a:rPr>
              <a:t>
und </a:t>
            </a:r>
            <a:r>
              <a:rPr sz="4300" b="1" dirty="0" err="1">
                <a:solidFill>
                  <a:srgbClr val="171717"/>
                </a:solidFill>
                <a:latin typeface="Aptos"/>
              </a:rPr>
              <a:t>Schaltungen</a:t>
            </a:r>
            <a:r>
              <a:rPr sz="4300" b="1" dirty="0">
                <a:solidFill>
                  <a:srgbClr val="171717"/>
                </a:solidFill>
                <a:latin typeface="Aptos"/>
              </a:rPr>
              <a:t>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255264"/>
            <a:ext cx="1175002" cy="3231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dirty="0" err="1">
                <a:solidFill>
                  <a:srgbClr val="737373"/>
                </a:solidFill>
                <a:latin typeface="Aptos"/>
              </a:rPr>
              <a:t>Übung</a:t>
            </a:r>
            <a:r>
              <a:rPr sz="2100" b="1" dirty="0">
                <a:solidFill>
                  <a:srgbClr val="737373"/>
                </a:solidFill>
                <a:latin typeface="Aptos"/>
              </a:rPr>
              <a:t> </a:t>
            </a:r>
            <a:r>
              <a:rPr lang="de-CH" sz="2100" b="1" dirty="0">
                <a:solidFill>
                  <a:srgbClr val="737373"/>
                </a:solidFill>
                <a:latin typeface="Aptos"/>
              </a:rPr>
              <a:t>XX</a:t>
            </a:r>
            <a:endParaRPr sz="210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12648" y="3712463"/>
            <a:ext cx="640080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700" b="0" dirty="0">
                <a:solidFill>
                  <a:srgbClr val="737373"/>
                </a:solidFill>
                <a:latin typeface="Aptos"/>
              </a:rPr>
              <a:t>[Thema der </a:t>
            </a:r>
            <a:r>
              <a:rPr sz="1700" b="0" dirty="0" err="1">
                <a:solidFill>
                  <a:srgbClr val="737373"/>
                </a:solidFill>
                <a:latin typeface="Aptos"/>
              </a:rPr>
              <a:t>Übung</a:t>
            </a:r>
            <a:r>
              <a:rPr sz="1700" b="0" dirty="0">
                <a:solidFill>
                  <a:srgbClr val="737373"/>
                </a:solidFill>
                <a:latin typeface="Aptos"/>
              </a:rPr>
              <a:t>]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21792" y="4498848"/>
            <a:ext cx="2121408" cy="0"/>
          </a:xfrm>
          <a:prstGeom prst="line">
            <a:avLst/>
          </a:prstGeom>
          <a:ln w="254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21792" y="4736592"/>
            <a:ext cx="2981585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https://eputzi.github.io/courses/nus1/index.html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FC2376DB-FD73-E522-DD12-8C3D47FFD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3435" y="236574"/>
            <a:ext cx="2689505" cy="2689505"/>
          </a:xfrm>
          <a:prstGeom prst="rect">
            <a:avLst/>
          </a:prstGeom>
        </p:spPr>
      </p:pic>
      <p:sp>
        <p:nvSpPr>
          <p:cNvPr id="15" name="TextBox 7">
            <a:extLst>
              <a:ext uri="{FF2B5EF4-FFF2-40B4-BE49-F238E27FC236}">
                <a16:creationId xmlns:a16="http://schemas.microsoft.com/office/drawing/2014/main" id="{568BB238-676F-2AD1-5311-843CEFE0748F}"/>
              </a:ext>
            </a:extLst>
          </p:cNvPr>
          <p:cNvSpPr txBox="1"/>
          <p:nvPr/>
        </p:nvSpPr>
        <p:spPr>
          <a:xfrm>
            <a:off x="10171249" y="2926079"/>
            <a:ext cx="573875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Webseite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A10E91CE-7B15-F9A8-AE20-F447081B85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3435" y="3246120"/>
            <a:ext cx="2689505" cy="2689505"/>
          </a:xfrm>
          <a:prstGeom prst="rect">
            <a:avLst/>
          </a:prstGeom>
        </p:spPr>
      </p:pic>
      <p:sp>
        <p:nvSpPr>
          <p:cNvPr id="19" name="TextBox 7">
            <a:extLst>
              <a:ext uri="{FF2B5EF4-FFF2-40B4-BE49-F238E27FC236}">
                <a16:creationId xmlns:a16="http://schemas.microsoft.com/office/drawing/2014/main" id="{D71EEF3B-ED6D-524B-767C-8CC0B281E789}"/>
              </a:ext>
            </a:extLst>
          </p:cNvPr>
          <p:cNvSpPr txBox="1"/>
          <p:nvPr/>
        </p:nvSpPr>
        <p:spPr>
          <a:xfrm>
            <a:off x="10249795" y="5850986"/>
            <a:ext cx="416781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Fragen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969264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KONZEPT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[Titel]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969264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737373"/>
                </a:solidFill>
                <a:latin typeface="Aptos"/>
              </a:rPr>
              <a:t>[1 Satz Kontext]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61488"/>
            <a:ext cx="2648225" cy="92333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000" b="0" dirty="0" err="1">
                <a:solidFill>
                  <a:srgbClr val="171717"/>
                </a:solidFill>
                <a:latin typeface="Aptos"/>
              </a:rPr>
              <a:t>Punkt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 / </a:t>
            </a:r>
            <a:r>
              <a:rPr sz="2000" b="0" dirty="0" err="1">
                <a:solidFill>
                  <a:srgbClr val="171717"/>
                </a:solidFill>
                <a:latin typeface="Aptos"/>
              </a:rPr>
              <a:t>Kernaussage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
 </a:t>
            </a:r>
            <a:r>
              <a:rPr sz="2000" b="0" dirty="0" err="1">
                <a:solidFill>
                  <a:srgbClr val="171717"/>
                </a:solidFill>
                <a:latin typeface="Aptos"/>
              </a:rPr>
              <a:t>Punkt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 / </a:t>
            </a:r>
            <a:r>
              <a:rPr sz="2000" b="0" dirty="0" err="1">
                <a:solidFill>
                  <a:srgbClr val="171717"/>
                </a:solidFill>
                <a:latin typeface="Aptos"/>
              </a:rPr>
              <a:t>Kernaussage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
</a:t>
            </a:r>
            <a:r>
              <a:rPr sz="2000" b="0" dirty="0" err="1">
                <a:solidFill>
                  <a:srgbClr val="171717"/>
                </a:solidFill>
                <a:latin typeface="Aptos"/>
              </a:rPr>
              <a:t>Punkt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 / </a:t>
            </a:r>
            <a:r>
              <a:rPr sz="2000" b="0" dirty="0" err="1">
                <a:solidFill>
                  <a:srgbClr val="171717"/>
                </a:solidFill>
                <a:latin typeface="Aptos"/>
              </a:rPr>
              <a:t>Kernaussage</a:t>
            </a:r>
            <a:endParaRPr sz="2000" b="0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FA1345AC-CE9B-7FE2-5382-D92AEFB1F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2E3E8-6F8A-4A2D-87B8-002A9DB830F0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5890F6DA-FF1C-B12F-C9A4-D27FAC23D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0071AF8-AC7C-5E34-152B-776853FD6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96C9B4-59C9-D9BC-C19D-ACCF07CB7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1ADD814-AEE7-1F81-FF2D-5D7D30826F1B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80BC3-5432-189C-D7A9-54DAE91E3880}"/>
              </a:ext>
            </a:extLst>
          </p:cNvPr>
          <p:cNvSpPr txBox="1"/>
          <p:nvPr/>
        </p:nvSpPr>
        <p:spPr>
          <a:xfrm>
            <a:off x="873811" y="542673"/>
            <a:ext cx="4103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Aufgabe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907BE9-D09F-DC1A-F0A3-1A2C5B68B060}"/>
              </a:ext>
            </a:extLst>
          </p:cNvPr>
          <p:cNvSpPr txBox="1"/>
          <p:nvPr/>
        </p:nvSpPr>
        <p:spPr>
          <a:xfrm>
            <a:off x="594360" y="932688"/>
            <a:ext cx="3724802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Leistungsanpassung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2A538979-4027-F09C-DD89-DCB2556DB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139FAE51-D30B-E93D-81D5-9DA4983F2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70B1F70E-620D-2E2E-DB7B-A39CECBEC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  <p:pic>
        <p:nvPicPr>
          <p:cNvPr id="9" name="Grafik 10" descr="Netzwerk mit Last">
            <a:extLst>
              <a:ext uri="{FF2B5EF4-FFF2-40B4-BE49-F238E27FC236}">
                <a16:creationId xmlns:a16="http://schemas.microsoft.com/office/drawing/2014/main" id="{6C6A949F-F6E6-E867-8FB6-101D421EE1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543" y="1412875"/>
            <a:ext cx="4838589" cy="2350000"/>
          </a:xfrm>
          <a:prstGeom prst="rect">
            <a:avLst/>
          </a:prstGeom>
        </p:spPr>
      </p:pic>
      <p:pic>
        <p:nvPicPr>
          <p:cNvPr id="10" name="Grafik 11" descr="Ersatzstromquelle mit Last">
            <a:extLst>
              <a:ext uri="{FF2B5EF4-FFF2-40B4-BE49-F238E27FC236}">
                <a16:creationId xmlns:a16="http://schemas.microsoft.com/office/drawing/2014/main" id="{55733008-2B9F-90DA-BB58-3F17721D1D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543" y="3922875"/>
            <a:ext cx="4838589" cy="235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91880515-FA63-92EC-5847-4FA950CFB8C3}"/>
                  </a:ext>
                </a:extLst>
              </p:cNvPr>
              <p:cNvSpPr txBox="1"/>
              <p:nvPr/>
            </p:nvSpPr>
            <p:spPr>
              <a:xfrm>
                <a:off x="5671132" y="1488022"/>
                <a:ext cx="6096000" cy="21997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endParaRPr lang="de-CH" sz="1000" dirty="0"/>
              </a:p>
              <a:p>
                <a:pPr marL="0" indent="0">
                  <a:buNone/>
                </a:pPr>
                <a:r>
                  <a:rPr lang="de-CH" sz="1600" dirty="0"/>
                  <a:t>An die Klemmen A und B wird eine Last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b="0" i="1" noProof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CH" sz="1600" b="0" i="1" noProof="0" smtClean="0">
                            <a:latin typeface="Cambria Math" panose="02040503050406030204" pitchFamily="18" charset="0"/>
                          </a:rPr>
                          <m:t>Last</m:t>
                        </m:r>
                      </m:sub>
                    </m:sSub>
                  </m:oMath>
                </a14:m>
                <a:r>
                  <a:rPr lang="de-CH" sz="1600" dirty="0"/>
                  <a:t> angeschlossen. Aus Beispiel 2.1 ist die Ersatzstromquelle bekannt: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CH" sz="1600" b="0" i="1" noProof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de-CH" sz="1600" b="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CH" sz="16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CH" sz="1600" b="0" i="1" noProof="0" smtClean="0">
                            <a:latin typeface="Cambria Math" panose="02040503050406030204" pitchFamily="18" charset="0"/>
                          </a:rPr>
                          <m:t>U</m:t>
                        </m:r>
                      </m:num>
                      <m:den>
                        <m:sSub>
                          <m:sSubPr>
                            <m:ctrlPr>
                              <a:rPr lang="de-CH" sz="1600" b="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CH" sz="1600" b="0" i="1" noProof="0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CH" sz="1600" b="0" i="1" noProof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lang="de-CH" sz="1600" dirty="0"/>
                  <a:t> und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b="0" i="1" noProof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CH" sz="1600" b="0" i="1" noProof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de-CH" sz="1600" b="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CH" sz="16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CH" sz="1600" b="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CH" sz="1600" b="0" i="1" noProof="0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CH" sz="1600" b="0" i="1" noProof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CH" sz="1600" b="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CH" sz="1600" b="0" i="1" noProof="0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CH" sz="1600" b="0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CH" sz="1600" b="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CH" sz="1600" b="0" i="1" noProof="0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CH" sz="1600" b="0" i="1" noProof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CH" sz="1600" b="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CH" sz="1600" b="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CH" sz="1600" b="0" i="1" noProof="0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CH" sz="1600" b="0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CH" sz="1600" dirty="0"/>
              </a:p>
              <a:p>
                <a:pPr marL="0" indent="0">
                  <a:buNone/>
                </a:pPr>
                <a:endParaRPr lang="de-CH" sz="600" dirty="0"/>
              </a:p>
              <a:p>
                <a:r>
                  <a:rPr lang="de-CH" sz="1600" dirty="0"/>
                  <a:t>Berechnet den Widerstand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b="0" i="1" noProof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CH" sz="1600" b="0" i="1" noProof="0" smtClean="0">
                            <a:latin typeface="Cambria Math" panose="02040503050406030204" pitchFamily="18" charset="0"/>
                          </a:rPr>
                          <m:t>Last</m:t>
                        </m:r>
                      </m:sub>
                    </m:sSub>
                  </m:oMath>
                </a14:m>
                <a:r>
                  <a:rPr lang="de-CH" sz="1600" dirty="0"/>
                  <a:t>, für den die Leistung an der Last maximal wird.</a:t>
                </a:r>
              </a:p>
              <a:p>
                <a:r>
                  <a:rPr lang="de-CH" sz="1600" dirty="0"/>
                  <a:t>Berechnet die maximale Leistung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b="0" i="1" noProof="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CH" sz="1600" b="0" i="1" noProof="0" smtClean="0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</m:oMath>
                </a14:m>
                <a:r>
                  <a:rPr lang="de-CH" sz="1600" dirty="0"/>
                  <a:t>.</a:t>
                </a:r>
              </a:p>
              <a:p>
                <a:r>
                  <a:rPr lang="de-CH" sz="1600" dirty="0"/>
                  <a:t>Ist der Wirkungsgrad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CH" sz="1600" b="0" i="1" noProof="0" smtClean="0"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de-CH" sz="1600" dirty="0"/>
                  <a:t> bei maximaler Leistung grösser als 50 %, gleich 50 % oder kleiner als 50 %? Begründet am Originalnetzwerk (oben).</a:t>
                </a:r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91880515-FA63-92EC-5847-4FA950CFB8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1132" y="1488022"/>
                <a:ext cx="6096000" cy="2199705"/>
              </a:xfrm>
              <a:prstGeom prst="rect">
                <a:avLst/>
              </a:prstGeom>
              <a:blipFill>
                <a:blip r:embed="rId5"/>
                <a:stretch>
                  <a:fillRect l="-500" b="-2770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57264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96025F3-CBB8-0AB5-10E4-C05C272B8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DB54A6E-BEB6-17E3-92A3-B2E87B41BD17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47D914-F029-F1C3-8310-464272553448}"/>
              </a:ext>
            </a:extLst>
          </p:cNvPr>
          <p:cNvSpPr txBox="1"/>
          <p:nvPr/>
        </p:nvSpPr>
        <p:spPr>
          <a:xfrm>
            <a:off x="873811" y="542673"/>
            <a:ext cx="4103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Aufgabe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393245-CDBF-A7CC-66D3-BFBBCD7376C0}"/>
              </a:ext>
            </a:extLst>
          </p:cNvPr>
          <p:cNvSpPr txBox="1"/>
          <p:nvPr/>
        </p:nvSpPr>
        <p:spPr>
          <a:xfrm>
            <a:off x="594360" y="932688"/>
            <a:ext cx="3724802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3100" b="1" dirty="0">
                <a:solidFill>
                  <a:srgbClr val="171717"/>
                </a:solidFill>
                <a:latin typeface="Aptos"/>
              </a:rPr>
              <a:t>Leistungsanpassung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30D02237-EA90-69FD-66A4-9514826A62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A29F6178-356C-912B-17FB-AF349A3A2A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A76B57ED-361A-9811-F924-EDD2C8DF5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F625174D-6C8B-B81A-78E4-AD79E161FE9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de-CH" sz="1600" dirty="0"/>
                  <a:t>Bezüglich der Klemmen verhält sich das Netzwerk wie die Ersatzstromquelle. Leistungsanpassung:</a:t>
                </a:r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Last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CH" sz="1600" dirty="0"/>
              </a:p>
              <a:p>
                <a:r>
                  <a:rPr lang="de-CH" sz="1600" dirty="0"/>
                  <a:t>Ersatzstromquelle: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de-CH" sz="1600" dirty="0"/>
                  <a:t> und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Last</m:t>
                        </m:r>
                      </m:sub>
                    </m:sSub>
                  </m:oMath>
                </a14:m>
                <a:r>
                  <a:rPr lang="de-CH" sz="1600" dirty="0"/>
                  <a:t> sind gleich gross, der Strom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CH" sz="1600" i="1" smtClean="0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de-CH" sz="1600" dirty="0"/>
                  <a:t> teilt sich je zur Hälfte auf:</a:t>
                </a:r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Last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num>
                        <m:den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num>
                        <m:den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CH" sz="1600" dirty="0"/>
              </a:p>
              <a:p>
                <a:r>
                  <a:rPr lang="de-CH" sz="1600" dirty="0"/>
                  <a:t>Leistung an der Last:</a:t>
                </a:r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Last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⋅ </m:t>
                      </m:r>
                      <m:sSubSup>
                        <m:sSubSup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Last</m:t>
                          </m:r>
                        </m:sub>
                        <m:sup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⋅ </m:t>
                      </m:r>
                      <m:f>
                        <m:f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p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sSubSup>
                            <m:sSubSup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de-CH" sz="1600" dirty="0"/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p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CH" sz="1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CH" sz="1600" i="1" smtClean="0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a:rPr lang="de-CH" sz="160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CH" sz="1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CH" sz="1600" i="1" smtClean="0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a:rPr lang="de-CH" sz="160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de-CH" sz="1600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F625174D-6C8B-B81A-78E4-AD79E161FE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  <a:blipFill>
                <a:blip r:embed="rId3"/>
                <a:stretch>
                  <a:fillRect l="-464" t="-376" r="-1392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Grafik 10" descr="Netzwerk mit Last">
            <a:extLst>
              <a:ext uri="{FF2B5EF4-FFF2-40B4-BE49-F238E27FC236}">
                <a16:creationId xmlns:a16="http://schemas.microsoft.com/office/drawing/2014/main" id="{359F512B-9682-6D9A-10E6-3DC066C56E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543" y="1412875"/>
            <a:ext cx="4838589" cy="2350000"/>
          </a:xfrm>
          <a:prstGeom prst="rect">
            <a:avLst/>
          </a:prstGeom>
        </p:spPr>
      </p:pic>
      <p:pic>
        <p:nvPicPr>
          <p:cNvPr id="10" name="Grafik 11" descr="Ersatzstromquelle mit Last">
            <a:extLst>
              <a:ext uri="{FF2B5EF4-FFF2-40B4-BE49-F238E27FC236}">
                <a16:creationId xmlns:a16="http://schemas.microsoft.com/office/drawing/2014/main" id="{3F8517D3-88EE-3424-E1DE-15ABB13CB8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543" y="3922875"/>
            <a:ext cx="4838589" cy="2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4953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4443551-4091-4EC2-CA96-A62B18E48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97F8FC2-12BB-1254-9723-E2D6B54E5D71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56AAEE-F262-1202-DDCB-CE005EA9FE7D}"/>
              </a:ext>
            </a:extLst>
          </p:cNvPr>
          <p:cNvSpPr txBox="1"/>
          <p:nvPr/>
        </p:nvSpPr>
        <p:spPr>
          <a:xfrm>
            <a:off x="873811" y="542673"/>
            <a:ext cx="4103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Aufgabe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1538DD-6358-9401-7B2F-DC03C1E6F8B8}"/>
              </a:ext>
            </a:extLst>
          </p:cNvPr>
          <p:cNvSpPr txBox="1"/>
          <p:nvPr/>
        </p:nvSpPr>
        <p:spPr>
          <a:xfrm>
            <a:off x="594360" y="932688"/>
            <a:ext cx="3724802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3100" b="1" dirty="0">
                <a:solidFill>
                  <a:srgbClr val="171717"/>
                </a:solidFill>
                <a:latin typeface="Aptos"/>
              </a:rPr>
              <a:t>Leistungsanpassung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5D49CB33-824B-EC93-8E74-0DAE31C48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66FA353B-877E-EF31-D15C-B014B9945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50C92417-1043-5A1B-792C-0DED5EDBA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E20179F8-B0EE-BC7F-572D-FE44F23C7A0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de-CH" sz="1600" dirty="0"/>
                  <a:t>Am </a:t>
                </a:r>
                <a:r>
                  <a:rPr lang="de-CH" sz="1600" b="1" dirty="0"/>
                  <a:t>Originalnetzwerk</a:t>
                </a:r>
                <a:r>
                  <a:rPr lang="de-CH" sz="1600" dirty="0"/>
                  <a:t> liefert die Quelle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CH" sz="1600" i="1" smtClean="0">
                        <a:latin typeface="Cambria Math" panose="02040503050406030204" pitchFamily="18" charset="0"/>
                      </a:rPr>
                      <m:t>U</m:t>
                    </m:r>
                  </m:oMath>
                </a14:m>
                <a:r>
                  <a:rPr lang="de-CH" sz="1600" dirty="0"/>
                  <a:t> die Leistung für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CH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CH" sz="1600" dirty="0"/>
                  <a:t> und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Last</m:t>
                        </m:r>
                      </m:sub>
                    </m:sSub>
                  </m:oMath>
                </a14:m>
                <a:r>
                  <a:rPr lang="de-CH" sz="1600" dirty="0"/>
                  <a:t>:</a:t>
                </a:r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de-CH" sz="1600" i="1" smtClean="0">
                          <a:latin typeface="Cambria Math" panose="02040503050406030204" pitchFamily="18" charset="0"/>
                        </a:rPr>
                        <m:t>η</m:t>
                      </m:r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Last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Last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CH" sz="16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CH" sz="1600" dirty="0"/>
                  <a:t> ist grösser als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Last</m:t>
                        </m:r>
                      </m:sub>
                    </m:sSub>
                    <m:r>
                      <a:rPr lang="de-CH" sz="160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CH" sz="1600" i="1" smtClean="0">
                        <a:latin typeface="Cambria Math" panose="02040503050406030204" pitchFamily="18" charset="0"/>
                      </a:rPr>
                      <m:t>∥ </m:t>
                    </m:r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CH" sz="1600" dirty="0"/>
                  <a:t>, und durch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CH" sz="1600" dirty="0"/>
                  <a:t> fliesst mehr Strom als durch die Last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I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q</m:t>
                        </m:r>
                      </m:sub>
                    </m:sSub>
                    <m:r>
                      <a:rPr lang="de-CH" sz="160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I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CH" sz="160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I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Last</m:t>
                        </m:r>
                      </m:sub>
                    </m:sSub>
                  </m:oMath>
                </a14:m>
                <a:r>
                  <a:rPr lang="de-CH" sz="1600" dirty="0"/>
                  <a:t>):</a:t>
                </a:r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⋅ </m:t>
                      </m:r>
                      <m:sSubSup>
                        <m:sSubSup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  <m:sup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Last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⋅ </m:t>
                      </m:r>
                      <m:sSubSup>
                        <m:sSubSup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Last</m:t>
                          </m:r>
                        </m:sub>
                        <m:sup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Last</m:t>
                          </m:r>
                        </m:sub>
                      </m:sSub>
                    </m:oMath>
                  </m:oMathPara>
                </a14:m>
                <a:endParaRPr lang="de-CH" sz="1600" dirty="0"/>
              </a:p>
              <a:p>
                <a:r>
                  <a:rPr lang="de-CH" sz="1600" dirty="0"/>
                  <a:t>Dazu kommen die Verluste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CH" sz="1600" dirty="0"/>
                  <a:t>.</a:t>
                </a:r>
              </a:p>
              <a:p>
                <a:r>
                  <a:rPr lang="de-CH" sz="1600" dirty="0"/>
                  <a:t>⇒ Der Wirkungsgrad ist </a:t>
                </a:r>
                <a:r>
                  <a:rPr lang="de-CH" sz="1600" b="1" dirty="0"/>
                  <a:t>kleiner als 50 %</a:t>
                </a:r>
                <a:r>
                  <a:rPr lang="de-CH" sz="1600" dirty="0"/>
                  <a:t>.</a:t>
                </a:r>
              </a:p>
              <a:p>
                <a:pPr marL="0" indent="0">
                  <a:buFont typeface="Arial"/>
                  <a:buNone/>
                </a:pPr>
                <a:r>
                  <a:rPr lang="de-CH" sz="1600" b="1" dirty="0"/>
                  <a:t>Merke:</a:t>
                </a:r>
                <a:r>
                  <a:rPr lang="de-CH" sz="1600" dirty="0"/>
                  <a:t> Die Ersatzquelle stimmt nur an den Klemmen. Verluste im Inneren am Originalnetzwerk bestimmen den Wirkungsgrad.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E20179F8-B0EE-BC7F-572D-FE44F23C7A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  <a:blipFill>
                <a:blip r:embed="rId3"/>
                <a:stretch>
                  <a:fillRect l="-696" t="-376" r="-696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Grafik 10">
            <a:extLst>
              <a:ext uri="{FF2B5EF4-FFF2-40B4-BE49-F238E27FC236}">
                <a16:creationId xmlns:a16="http://schemas.microsoft.com/office/drawing/2014/main" id="{259B67D1-0C6B-995C-6C8C-4DC51691D9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2543" y="1414795"/>
            <a:ext cx="4838589" cy="2346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7455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1627632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1627632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BILD / SCHALTUNG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[Titel]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969264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737373"/>
                </a:solidFill>
                <a:latin typeface="Aptos"/>
              </a:rPr>
              <a:t>[optional: 1 kurzer Satz]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767328"/>
            <a:ext cx="10424160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737373"/>
                </a:solidFill>
                <a:latin typeface="Aptos"/>
              </a:rPr>
              <a:t>[Grosses Bild / Schaltung / Diagramm / Aufgabe]</a:t>
            </a:r>
          </a:p>
        </p:txBody>
      </p:sp>
      <p:sp>
        <p:nvSpPr>
          <p:cNvPr id="14" name="Datumsplatzhalter 13">
            <a:extLst>
              <a:ext uri="{FF2B5EF4-FFF2-40B4-BE49-F238E27FC236}">
                <a16:creationId xmlns:a16="http://schemas.microsoft.com/office/drawing/2014/main" id="{5EF46576-0B1E-9847-8766-0E9569B3FF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E40BA-CE70-4E4C-B484-B26569D677F9}" type="datetime1">
              <a:rPr lang="de-CH" smtClean="0"/>
              <a:t>21.10.2026</a:t>
            </a:fld>
            <a:endParaRPr lang="en-US"/>
          </a:p>
        </p:txBody>
      </p:sp>
      <p:sp>
        <p:nvSpPr>
          <p:cNvPr id="15" name="Fußzeilenplatzhalter 14">
            <a:extLst>
              <a:ext uri="{FF2B5EF4-FFF2-40B4-BE49-F238E27FC236}">
                <a16:creationId xmlns:a16="http://schemas.microsoft.com/office/drawing/2014/main" id="{7A7E31E1-BB78-4CD2-657F-DF3133F68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16" name="Foliennummernplatzhalter 15">
            <a:extLst>
              <a:ext uri="{FF2B5EF4-FFF2-40B4-BE49-F238E27FC236}">
                <a16:creationId xmlns:a16="http://schemas.microsoft.com/office/drawing/2014/main" id="{7A63EF0B-ADFA-2644-5D9C-48A50080E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1042416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1042416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RECHNUNG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[Titel]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969264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dirty="0">
                <a:solidFill>
                  <a:srgbClr val="737373"/>
                </a:solidFill>
                <a:latin typeface="Aptos"/>
              </a:rPr>
              <a:t>[optional: </a:t>
            </a:r>
            <a:r>
              <a:rPr sz="1350" b="0" dirty="0" err="1">
                <a:solidFill>
                  <a:srgbClr val="737373"/>
                </a:solidFill>
                <a:latin typeface="Aptos"/>
              </a:rPr>
              <a:t>kurzer</a:t>
            </a:r>
            <a:r>
              <a:rPr sz="1350" b="0" dirty="0">
                <a:solidFill>
                  <a:srgbClr val="737373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737373"/>
                </a:solidFill>
                <a:latin typeface="Aptos"/>
              </a:rPr>
              <a:t>Kontext</a:t>
            </a:r>
            <a:r>
              <a:rPr sz="1350" b="0" dirty="0">
                <a:solidFill>
                  <a:srgbClr val="737373"/>
                </a:solidFill>
                <a:latin typeface="Aptos"/>
              </a:rPr>
              <a:t>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10332720" cy="10515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900" b="1">
                <a:solidFill>
                  <a:srgbClr val="171717"/>
                </a:solidFill>
                <a:latin typeface="Aptos"/>
              </a:rPr>
              <a:t>[Formel / Rechnung / Lösungsweg]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315968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737373"/>
                </a:solidFill>
                <a:latin typeface="Aptos"/>
              </a:rPr>
              <a:t>Zwischenschritte / kurze Hinweise</a:t>
            </a: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664F4938-3C90-8550-ECBE-BC5D8AC4B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2A7AC6-7431-48B9-BAC6-F1C873F640C5}" type="datetime1">
              <a:rPr lang="de-CH" smtClean="0"/>
              <a:t>21.10.2026</a:t>
            </a:fld>
            <a:endParaRPr lang="en-US" dirty="0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7A457ED8-9A9A-4423-A481-F578F5884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D79ADE14-5D9B-FFFF-E4FB-168005707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969264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AUFGABE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Aufgabe [X]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969264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737373"/>
                </a:solidFill>
                <a:latin typeface="Aptos"/>
              </a:rPr>
              <a:t>Erst kurz selbst probieren.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331720"/>
            <a:ext cx="7315200" cy="3611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761488"/>
            <a:ext cx="6675120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71717"/>
                </a:solidFill>
                <a:latin typeface="Aptos"/>
              </a:rPr>
              <a:t>[Aufgabenstellung]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6400800" cy="10515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737373"/>
                </a:solidFill>
                <a:latin typeface="Aptos"/>
              </a:rPr>
              <a:t>Gegeben:  [Werte]
Gesucht:  [Grösse]
Hinweis:  [optional]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2331720"/>
            <a:ext cx="3383280" cy="3611880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49640" y="2926080"/>
            <a:ext cx="265176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171717"/>
                </a:solidFill>
                <a:latin typeface="Aptos"/>
              </a:rPr>
              <a:t>3–5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703320"/>
            <a:ext cx="2468880" cy="1417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737373"/>
                </a:solidFill>
                <a:latin typeface="Aptos"/>
              </a:rPr>
              <a:t>Selbst versuchen.
1. Skizze
2. Ansatz
3. Rechnung</a:t>
            </a:r>
          </a:p>
        </p:txBody>
      </p:sp>
      <p:sp>
        <p:nvSpPr>
          <p:cNvPr id="19" name="Datumsplatzhalter 18">
            <a:extLst>
              <a:ext uri="{FF2B5EF4-FFF2-40B4-BE49-F238E27FC236}">
                <a16:creationId xmlns:a16="http://schemas.microsoft.com/office/drawing/2014/main" id="{A42D52E1-1011-2540-D819-26D723119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66390-A5DB-4C85-BAE8-E7F62705DCE4}" type="datetime1">
              <a:rPr lang="de-CH" smtClean="0"/>
              <a:t>21.10.2026</a:t>
            </a:fld>
            <a:endParaRPr lang="en-US"/>
          </a:p>
        </p:txBody>
      </p:sp>
      <p:sp>
        <p:nvSpPr>
          <p:cNvPr id="20" name="Fußzeilenplatzhalter 19">
            <a:extLst>
              <a:ext uri="{FF2B5EF4-FFF2-40B4-BE49-F238E27FC236}">
                <a16:creationId xmlns:a16="http://schemas.microsoft.com/office/drawing/2014/main" id="{33F2923F-ABDB-8D93-100E-27C814AEC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21" name="Foliennummernplatzhalter 20">
            <a:extLst>
              <a:ext uri="{FF2B5EF4-FFF2-40B4-BE49-F238E27FC236}">
                <a16:creationId xmlns:a16="http://schemas.microsoft.com/office/drawing/2014/main" id="{B191FEE5-5EB2-039A-5CE6-9480BE1C8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658368"/>
            <a:ext cx="868680" cy="292608"/>
          </a:xfrm>
          <a:prstGeom prst="roundRect">
            <a:avLst/>
          </a:prstGeom>
          <a:solidFill>
            <a:srgbClr val="2D2D2D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667512"/>
            <a:ext cx="86868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D2D2D2"/>
                </a:solidFill>
                <a:latin typeface="Aptos"/>
              </a:rPr>
              <a:t>PART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7498079" cy="8229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4100" b="1">
                <a:solidFill>
                  <a:srgbClr val="FFFFFF"/>
                </a:solidFill>
                <a:latin typeface="Aptos"/>
              </a:rPr>
              <a:t>[Neuer Abschnitt]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777240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CDCDCD"/>
                </a:solidFill>
                <a:latin typeface="Aptos"/>
              </a:rPr>
              <a:t>[z. B. Aufgabe 2 · Wechselstromrechnung]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5440680"/>
            <a:ext cx="64008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2300" b="1">
                <a:solidFill>
                  <a:srgbClr val="CDCDCD"/>
                </a:solidFill>
                <a:latin typeface="Aptos"/>
              </a:rPr>
              <a:t>01</a:t>
            </a:r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ED5334C9-D28A-C6F1-D6D2-0FE51C8BBF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79357-3FFB-49C6-A63A-1C2EF11BA49D}" type="datetime1">
              <a:rPr lang="de-CH" smtClean="0"/>
              <a:t>21.10.2026</a:t>
            </a:fld>
            <a:endParaRPr lang="en-US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A87F5C8-12C4-0DF4-5342-4CCD548E3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C5D481D-CDF3-EB78-7DB6-78DB43777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969264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AM ENDE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969264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737373"/>
                </a:solidFill>
                <a:latin typeface="Aptos"/>
              </a:rPr>
              <a:t>Drei Dinge, die heute sitzen sollten.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246120"/>
            <a:ext cx="2788920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71717"/>
                </a:solidFill>
                <a:latin typeface="Aptos"/>
              </a:rPr>
              <a:t>[Kernaussage 1]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4456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3246120"/>
            <a:ext cx="2788920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71717"/>
                </a:solidFill>
                <a:latin typeface="Aptos"/>
              </a:rPr>
              <a:t>[Kernaussage 2]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4788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3246120"/>
            <a:ext cx="2788920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71717"/>
                </a:solidFill>
                <a:latin typeface="Aptos"/>
              </a:rPr>
              <a:t>[Kernaussage 3]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074920"/>
            <a:ext cx="182880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300" b="1">
                <a:solidFill>
                  <a:srgbClr val="171717"/>
                </a:solidFill>
                <a:latin typeface="Aptos"/>
              </a:rPr>
              <a:t>Fragen?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32120"/>
            <a:ext cx="45720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737373"/>
                </a:solidFill>
                <a:latin typeface="Aptos"/>
              </a:rPr>
              <a:t>[QR / Link zum Fragen-Tool]</a:t>
            </a:r>
          </a:p>
        </p:txBody>
      </p:sp>
      <p:sp>
        <p:nvSpPr>
          <p:cNvPr id="24" name="Datumsplatzhalter 23">
            <a:extLst>
              <a:ext uri="{FF2B5EF4-FFF2-40B4-BE49-F238E27FC236}">
                <a16:creationId xmlns:a16="http://schemas.microsoft.com/office/drawing/2014/main" id="{2EA94921-0C4B-A8A0-74D0-1080596E22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E9A6E-507F-46C1-9F12-1A6D72FBF908}" type="datetime1">
              <a:rPr lang="de-CH" smtClean="0"/>
              <a:t>21.10.2026</a:t>
            </a:fld>
            <a:endParaRPr lang="en-US" dirty="0"/>
          </a:p>
        </p:txBody>
      </p:sp>
      <p:sp>
        <p:nvSpPr>
          <p:cNvPr id="25" name="Fußzeilenplatzhalter 24">
            <a:extLst>
              <a:ext uri="{FF2B5EF4-FFF2-40B4-BE49-F238E27FC236}">
                <a16:creationId xmlns:a16="http://schemas.microsoft.com/office/drawing/2014/main" id="{9438F619-6A04-AD9B-6C65-51AEB489A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26" name="Foliennummernplatzhalter 25">
            <a:extLst>
              <a:ext uri="{FF2B5EF4-FFF2-40B4-BE49-F238E27FC236}">
                <a16:creationId xmlns:a16="http://schemas.microsoft.com/office/drawing/2014/main" id="{6A495C1E-4949-515F-CE44-BD0B40A25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700</Words>
  <Application>Microsoft Office PowerPoint</Application>
  <PresentationFormat>Breitbild</PresentationFormat>
  <Paragraphs>105</Paragraphs>
  <Slides>10</Slides>
  <Notes>10</Notes>
  <HiddenSlides>2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Cambria Math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WXX</dc:title>
  <dc:subject/>
  <dc:creator>Enrico Putzi</dc:creator>
  <cp:keywords/>
  <dc:description>generated using python-pptx</dc:description>
  <cp:lastModifiedBy>Putzi  Enrico</cp:lastModifiedBy>
  <cp:revision>8</cp:revision>
  <dcterms:created xsi:type="dcterms:W3CDTF">2013-01-27T09:14:16Z</dcterms:created>
  <dcterms:modified xsi:type="dcterms:W3CDTF">2026-10-21T17:56:55Z</dcterms:modified>
  <cp:category/>
</cp:coreProperties>
</file>