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7"/>
  </p:notesMasterIdLst>
  <p:sldIdLst>
    <p:sldId id="256" r:id="rId2"/>
    <p:sldId id="257" r:id="rId3"/>
    <p:sldId id="302" r:id="rId4"/>
    <p:sldId id="303" r:id="rId5"/>
    <p:sldId id="304" r:id="rId6"/>
    <p:sldId id="305" r:id="rId7"/>
    <p:sldId id="306" r:id="rId8"/>
    <p:sldId id="307" r:id="rId9"/>
    <p:sldId id="308" r:id="rId10"/>
    <p:sldId id="309" r:id="rId11"/>
    <p:sldId id="310" r:id="rId12"/>
    <p:sldId id="311" r:id="rId13"/>
    <p:sldId id="312" r:id="rId14"/>
    <p:sldId id="313" r:id="rId15"/>
    <p:sldId id="314" r:id="rId16"/>
    <p:sldId id="315" r:id="rId17"/>
    <p:sldId id="316" r:id="rId18"/>
    <p:sldId id="317" r:id="rId19"/>
    <p:sldId id="318" r:id="rId20"/>
    <p:sldId id="319" r:id="rId21"/>
    <p:sldId id="320" r:id="rId22"/>
    <p:sldId id="298" r:id="rId23"/>
    <p:sldId id="300" r:id="rId24"/>
    <p:sldId id="301" r:id="rId25"/>
    <p:sldId id="26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0" d="100"/>
          <a:sy n="60" d="100"/>
        </p:scale>
        <p:origin x="78" y="10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9192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 Pro Woche nur Übungsnummer, Thema und ggf. Website-Link ändern.</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929E2-B3DC-1102-3979-9DFED25A9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E1B61-8A2C-2315-2C9E-66787B29283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B1BE1A6-DA8B-3ED5-AD51-10218BFFF987}"/>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EB005E61-1D2B-5334-F7A5-9DD6C43444B8}"/>
              </a:ext>
            </a:extLst>
          </p:cNvPr>
          <p:cNvSpPr>
            <a:spLocks noGrp="1"/>
          </p:cNvSpPr>
          <p:nvPr>
            <p:ph type="sldNum" sz="quarter" idx="5"/>
          </p:nvPr>
        </p:nvSpPr>
        <p:spPr/>
      </p:sp>
    </p:spTree>
    <p:extLst>
      <p:ext uri="{BB962C8B-B14F-4D97-AF65-F5344CB8AC3E}">
        <p14:creationId xmlns:p14="http://schemas.microsoft.com/office/powerpoint/2010/main" val="23752721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51270-37A0-AF8A-E205-3D21B96199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DBF3CC-C968-CAA2-886B-0FA2F4BD398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8444C8C-ADCB-8A42-2296-C77761568DA9}"/>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E9448D3F-5F0F-5BAE-A596-8CC3500B41F0}"/>
              </a:ext>
            </a:extLst>
          </p:cNvPr>
          <p:cNvSpPr>
            <a:spLocks noGrp="1"/>
          </p:cNvSpPr>
          <p:nvPr>
            <p:ph type="sldNum" sz="quarter" idx="5"/>
          </p:nvPr>
        </p:nvSpPr>
        <p:spPr/>
      </p:sp>
    </p:spTree>
    <p:extLst>
      <p:ext uri="{BB962C8B-B14F-4D97-AF65-F5344CB8AC3E}">
        <p14:creationId xmlns:p14="http://schemas.microsoft.com/office/powerpoint/2010/main" val="556732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E8CF4-BB99-7A1F-F89B-537DDD50E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EC3EB1-9232-3314-34CA-D33E2C8A98E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A44260C-3F5D-060A-019F-1827C4B7D991}"/>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F39FA037-8CC8-1D0A-02B8-52945A0DCF26}"/>
              </a:ext>
            </a:extLst>
          </p:cNvPr>
          <p:cNvSpPr>
            <a:spLocks noGrp="1"/>
          </p:cNvSpPr>
          <p:nvPr>
            <p:ph type="sldNum" sz="quarter" idx="5"/>
          </p:nvPr>
        </p:nvSpPr>
        <p:spPr/>
      </p:sp>
    </p:spTree>
    <p:extLst>
      <p:ext uri="{BB962C8B-B14F-4D97-AF65-F5344CB8AC3E}">
        <p14:creationId xmlns:p14="http://schemas.microsoft.com/office/powerpoint/2010/main" val="624798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1EFD5-203B-9934-869C-1FACF83ECB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1332DA-26C8-2BF9-B342-443698FC903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E165680-095C-4D29-52C8-5282469A6702}"/>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CBBCA125-E62A-8F17-5687-2856BC777134}"/>
              </a:ext>
            </a:extLst>
          </p:cNvPr>
          <p:cNvSpPr>
            <a:spLocks noGrp="1"/>
          </p:cNvSpPr>
          <p:nvPr>
            <p:ph type="sldNum" sz="quarter" idx="5"/>
          </p:nvPr>
        </p:nvSpPr>
        <p:spPr/>
      </p:sp>
    </p:spTree>
    <p:extLst>
      <p:ext uri="{BB962C8B-B14F-4D97-AF65-F5344CB8AC3E}">
        <p14:creationId xmlns:p14="http://schemas.microsoft.com/office/powerpoint/2010/main" val="32142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2FD17-9617-5AD1-E6AF-00C2C8AC66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122BD5-FEFC-9022-835D-A4AE50983D8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B6D4933-4162-D3CF-1C5B-271312CF99D5}"/>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ED51F66B-3C6F-B03F-3793-3700C57E8F32}"/>
              </a:ext>
            </a:extLst>
          </p:cNvPr>
          <p:cNvSpPr>
            <a:spLocks noGrp="1"/>
          </p:cNvSpPr>
          <p:nvPr>
            <p:ph type="sldNum" sz="quarter" idx="5"/>
          </p:nvPr>
        </p:nvSpPr>
        <p:spPr/>
      </p:sp>
    </p:spTree>
    <p:extLst>
      <p:ext uri="{BB962C8B-B14F-4D97-AF65-F5344CB8AC3E}">
        <p14:creationId xmlns:p14="http://schemas.microsoft.com/office/powerpoint/2010/main" val="1932899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B0E995-DD21-4F55-5F7F-26B9E3FA25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54C294-94F3-879D-28CF-6A921DB351C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E8BE2A9-3E48-37B0-CCF4-7DC08A35B677}"/>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14DCD835-593B-8AC7-EDB0-9DE08023E307}"/>
              </a:ext>
            </a:extLst>
          </p:cNvPr>
          <p:cNvSpPr>
            <a:spLocks noGrp="1"/>
          </p:cNvSpPr>
          <p:nvPr>
            <p:ph type="sldNum" sz="quarter" idx="5"/>
          </p:nvPr>
        </p:nvSpPr>
        <p:spPr/>
      </p:sp>
    </p:spTree>
    <p:extLst>
      <p:ext uri="{BB962C8B-B14F-4D97-AF65-F5344CB8AC3E}">
        <p14:creationId xmlns:p14="http://schemas.microsoft.com/office/powerpoint/2010/main" val="3173598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E8C65-316D-CBBE-C655-5DC65D955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7367D6-2EC7-50EA-6323-9D8D251C0CD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1F3B129-50A8-3926-A061-FFB824279E56}"/>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0D025CBB-D852-281B-D5BF-4D1DFA1DCB80}"/>
              </a:ext>
            </a:extLst>
          </p:cNvPr>
          <p:cNvSpPr>
            <a:spLocks noGrp="1"/>
          </p:cNvSpPr>
          <p:nvPr>
            <p:ph type="sldNum" sz="quarter" idx="5"/>
          </p:nvPr>
        </p:nvSpPr>
        <p:spPr/>
      </p:sp>
    </p:spTree>
    <p:extLst>
      <p:ext uri="{BB962C8B-B14F-4D97-AF65-F5344CB8AC3E}">
        <p14:creationId xmlns:p14="http://schemas.microsoft.com/office/powerpoint/2010/main" val="2756407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B6038-83A5-B6B6-0B21-76AD595A0A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D2C72-A663-29A6-F2FD-046651DFB59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1AA3E06-5282-5F0F-AECD-5077A7CD67CE}"/>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F0011E5B-E8B0-F31B-1EEC-51B6187FCB50}"/>
              </a:ext>
            </a:extLst>
          </p:cNvPr>
          <p:cNvSpPr>
            <a:spLocks noGrp="1"/>
          </p:cNvSpPr>
          <p:nvPr>
            <p:ph type="sldNum" sz="quarter" idx="5"/>
          </p:nvPr>
        </p:nvSpPr>
        <p:spPr/>
      </p:sp>
    </p:spTree>
    <p:extLst>
      <p:ext uri="{BB962C8B-B14F-4D97-AF65-F5344CB8AC3E}">
        <p14:creationId xmlns:p14="http://schemas.microsoft.com/office/powerpoint/2010/main" val="2778494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2D271-4A7E-F1EA-F8D0-3ECC2381CD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52EA9-FD57-9835-CD65-97FDE165CE4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0B9805C-F816-A99D-B25E-F2791C22D912}"/>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8D2114CE-813A-96FE-F17B-A93646B13ED0}"/>
              </a:ext>
            </a:extLst>
          </p:cNvPr>
          <p:cNvSpPr>
            <a:spLocks noGrp="1"/>
          </p:cNvSpPr>
          <p:nvPr>
            <p:ph type="sldNum" sz="quarter" idx="5"/>
          </p:nvPr>
        </p:nvSpPr>
        <p:spPr/>
      </p:sp>
    </p:spTree>
    <p:extLst>
      <p:ext uri="{BB962C8B-B14F-4D97-AF65-F5344CB8AC3E}">
        <p14:creationId xmlns:p14="http://schemas.microsoft.com/office/powerpoint/2010/main" val="29958462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3948E-FEC9-5944-DF6D-261CE4991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0CBD74-31EA-BA24-9132-4B071497253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2D17E95-B798-3DBA-29EA-047AA57D6A4D}"/>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80F5426B-131B-295D-2009-EBC82936AB18}"/>
              </a:ext>
            </a:extLst>
          </p:cNvPr>
          <p:cNvSpPr>
            <a:spLocks noGrp="1"/>
          </p:cNvSpPr>
          <p:nvPr>
            <p:ph type="sldNum" sz="quarter" idx="5"/>
          </p:nvPr>
        </p:nvSpPr>
        <p:spPr/>
      </p:sp>
    </p:spTree>
    <p:extLst>
      <p:ext uri="{BB962C8B-B14F-4D97-AF65-F5344CB8AC3E}">
        <p14:creationId xmlns:p14="http://schemas.microsoft.com/office/powerpoint/2010/main" val="327572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EC0B1-1CFA-42AF-8A61-8E7331BD8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7994FB-6E5E-FEF8-B4FB-CCCE55BD2CC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7A38E11-F18B-9325-8F24-550BF2EC5A90}"/>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57F00A02-5823-794C-96C7-72EFE03784C1}"/>
              </a:ext>
            </a:extLst>
          </p:cNvPr>
          <p:cNvSpPr>
            <a:spLocks noGrp="1"/>
          </p:cNvSpPr>
          <p:nvPr>
            <p:ph type="sldNum" sz="quarter" idx="5"/>
          </p:nvPr>
        </p:nvSpPr>
        <p:spPr/>
      </p:sp>
    </p:spTree>
    <p:extLst>
      <p:ext uri="{BB962C8B-B14F-4D97-AF65-F5344CB8AC3E}">
        <p14:creationId xmlns:p14="http://schemas.microsoft.com/office/powerpoint/2010/main" val="12470471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387B1-9D3D-46E0-1CFD-DDBF806AE5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A206AA-6166-CACC-DA7A-348CBD4D0DC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5971E59-DEAE-405F-2D17-DBC2E57032E7}"/>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49D0E36C-E72C-3848-3E74-C576CEFCDB1E}"/>
              </a:ext>
            </a:extLst>
          </p:cNvPr>
          <p:cNvSpPr>
            <a:spLocks noGrp="1"/>
          </p:cNvSpPr>
          <p:nvPr>
            <p:ph type="sldNum" sz="quarter" idx="5"/>
          </p:nvPr>
        </p:nvSpPr>
        <p:spPr/>
      </p:sp>
    </p:spTree>
    <p:extLst>
      <p:ext uri="{BB962C8B-B14F-4D97-AF65-F5344CB8AC3E}">
        <p14:creationId xmlns:p14="http://schemas.microsoft.com/office/powerpoint/2010/main" val="1348714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1718F-D43C-6E37-80E8-8F7E301C44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296C81-71F1-8730-2F61-A00B6862208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F8818A9-1EC2-DDA6-AFB6-914D6479D4E9}"/>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A13B476B-6823-4F6B-A957-86EA24CA6550}"/>
              </a:ext>
            </a:extLst>
          </p:cNvPr>
          <p:cNvSpPr>
            <a:spLocks noGrp="1"/>
          </p:cNvSpPr>
          <p:nvPr>
            <p:ph type="sldNum" sz="quarter" idx="5"/>
          </p:nvPr>
        </p:nvSpPr>
        <p:spPr/>
      </p:sp>
    </p:spTree>
    <p:extLst>
      <p:ext uri="{BB962C8B-B14F-4D97-AF65-F5344CB8AC3E}">
        <p14:creationId xmlns:p14="http://schemas.microsoft.com/office/powerpoint/2010/main" val="38723451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E2908-3029-4950-B198-18E4B3D547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83114-0E09-9D49-5EBB-C9BA2899652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88AA97B-8972-0A08-B53E-4219F16456B5}"/>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6FD2C9FE-5A43-A0E9-65BC-3DAFBEBE2A8B}"/>
              </a:ext>
            </a:extLst>
          </p:cNvPr>
          <p:cNvSpPr>
            <a:spLocks noGrp="1"/>
          </p:cNvSpPr>
          <p:nvPr>
            <p:ph type="sldNum" sz="quarter" idx="5"/>
          </p:nvPr>
        </p:nvSpPr>
        <p:spPr/>
      </p:sp>
    </p:spTree>
    <p:extLst>
      <p:ext uri="{BB962C8B-B14F-4D97-AF65-F5344CB8AC3E}">
        <p14:creationId xmlns:p14="http://schemas.microsoft.com/office/powerpoint/2010/main" val="3893602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95E4F-B3E2-671C-7158-39AD73936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E03B5-DB9D-C4F3-3067-002958CA136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BC6212E-6EF7-EEFF-0806-DB74040FF46F}"/>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B4DB18F1-57ED-D186-C781-59F4BC25275C}"/>
              </a:ext>
            </a:extLst>
          </p:cNvPr>
          <p:cNvSpPr>
            <a:spLocks noGrp="1"/>
          </p:cNvSpPr>
          <p:nvPr>
            <p:ph type="sldNum" sz="quarter" idx="5"/>
          </p:nvPr>
        </p:nvSpPr>
        <p:spPr/>
      </p:sp>
    </p:spTree>
    <p:extLst>
      <p:ext uri="{BB962C8B-B14F-4D97-AF65-F5344CB8AC3E}">
        <p14:creationId xmlns:p14="http://schemas.microsoft.com/office/powerpoint/2010/main" val="19876735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7BBFA-1E91-F110-260A-8073848A7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3E8D2-9449-77C2-B6CC-6E28813D28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AF1B56A-B426-5F0D-EBF5-65F263EDCE05}"/>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BCEBAD1C-9EFB-A0C8-85DB-13B7957DD03B}"/>
              </a:ext>
            </a:extLst>
          </p:cNvPr>
          <p:cNvSpPr>
            <a:spLocks noGrp="1"/>
          </p:cNvSpPr>
          <p:nvPr>
            <p:ph type="sldNum" sz="quarter" idx="5"/>
          </p:nvPr>
        </p:nvSpPr>
        <p:spPr/>
      </p:sp>
    </p:spTree>
    <p:extLst>
      <p:ext uri="{BB962C8B-B14F-4D97-AF65-F5344CB8AC3E}">
        <p14:creationId xmlns:p14="http://schemas.microsoft.com/office/powerpoint/2010/main" val="11327441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5432C-3720-24AF-06B5-A9E91A0D4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5BD5A-95AA-449B-63E3-71067897E48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5907185-A07D-8752-3741-A7646CEBA08D}"/>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FB987D63-D743-2835-94C8-78C531511DC9}"/>
              </a:ext>
            </a:extLst>
          </p:cNvPr>
          <p:cNvSpPr>
            <a:spLocks noGrp="1"/>
          </p:cNvSpPr>
          <p:nvPr>
            <p:ph type="sldNum" sz="quarter" idx="5"/>
          </p:nvPr>
        </p:nvSpPr>
        <p:spPr/>
      </p:sp>
    </p:spTree>
    <p:extLst>
      <p:ext uri="{BB962C8B-B14F-4D97-AF65-F5344CB8AC3E}">
        <p14:creationId xmlns:p14="http://schemas.microsoft.com/office/powerpoint/2010/main" val="39275186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0E96C-45F3-89E8-EC87-6EF88B0A37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CFC21-8D61-FF4A-4A27-97FCD6DC263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05DACF1-E6A5-3FE0-E85F-3D76B1373091}"/>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0108C79E-5033-D3C5-2CE7-FB993082DEC0}"/>
              </a:ext>
            </a:extLst>
          </p:cNvPr>
          <p:cNvSpPr>
            <a:spLocks noGrp="1"/>
          </p:cNvSpPr>
          <p:nvPr>
            <p:ph type="sldNum" sz="quarter" idx="5"/>
          </p:nvPr>
        </p:nvSpPr>
        <p:spPr/>
      </p:sp>
    </p:spTree>
    <p:extLst>
      <p:ext uri="{BB962C8B-B14F-4D97-AF65-F5344CB8AC3E}">
        <p14:creationId xmlns:p14="http://schemas.microsoft.com/office/powerpoint/2010/main" val="5142710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4764D-63AC-1718-7B5C-B965AAEA5B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05A785-6FA5-8583-5251-5B75D265685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33C20CC-43F4-5309-E623-B21C4726C511}"/>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EDAEE900-B4FD-6FD4-16ED-2D9548E1A3AC}"/>
              </a:ext>
            </a:extLst>
          </p:cNvPr>
          <p:cNvSpPr>
            <a:spLocks noGrp="1"/>
          </p:cNvSpPr>
          <p:nvPr>
            <p:ph type="sldNum" sz="quarter" idx="5"/>
          </p:nvPr>
        </p:nvSpPr>
        <p:spPr/>
      </p:sp>
    </p:spTree>
    <p:extLst>
      <p:ext uri="{BB962C8B-B14F-4D97-AF65-F5344CB8AC3E}">
        <p14:creationId xmlns:p14="http://schemas.microsoft.com/office/powerpoint/2010/main" val="11205897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70BC5A-A082-C7E3-90A8-5A7202C7A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2BB2B4-E980-AADF-84FB-795132FFF72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43342A0-C1BA-7570-01D9-5E4720BBBE19}"/>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506C3669-B8A8-B897-64B9-F807C872E882}"/>
              </a:ext>
            </a:extLst>
          </p:cNvPr>
          <p:cNvSpPr>
            <a:spLocks noGrp="1"/>
          </p:cNvSpPr>
          <p:nvPr>
            <p:ph type="sldNum" sz="quarter" idx="5"/>
          </p:nvPr>
        </p:nvSpPr>
        <p:spPr/>
      </p:sp>
    </p:spTree>
    <p:extLst>
      <p:ext uri="{BB962C8B-B14F-4D97-AF65-F5344CB8AC3E}">
        <p14:creationId xmlns:p14="http://schemas.microsoft.com/office/powerpoint/2010/main" val="9073936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84D41-D81E-45B2-4600-9C5FDCECE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66E24-C4EB-C711-6B69-AE6CCED34C4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2678759-C34F-B6DB-5804-EA894C1CDB99}"/>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9CBC5786-283C-FA56-0AEA-9CAAEF6E0570}"/>
              </a:ext>
            </a:extLst>
          </p:cNvPr>
          <p:cNvSpPr>
            <a:spLocks noGrp="1"/>
          </p:cNvSpPr>
          <p:nvPr>
            <p:ph type="sldNum" sz="quarter" idx="5"/>
          </p:nvPr>
        </p:nvSpPr>
        <p:spPr/>
      </p:sp>
    </p:spTree>
    <p:extLst>
      <p:ext uri="{BB962C8B-B14F-4D97-AF65-F5344CB8AC3E}">
        <p14:creationId xmlns:p14="http://schemas.microsoft.com/office/powerpoint/2010/main" val="2725036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DE0BB-2B29-31E2-3317-41B64AE9D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028809-21B6-3405-7E87-A5F4BF319BB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DDBC20A-FFCF-1EB4-FE7C-EF5875EE5CFE}"/>
              </a:ext>
            </a:extLst>
          </p:cNvPr>
          <p:cNvSpPr>
            <a:spLocks noGrp="1"/>
          </p:cNvSpPr>
          <p:nvPr>
            <p:ph type="body" sz="quarter" idx="3"/>
          </p:nvPr>
        </p:nvSpPr>
        <p:spPr/>
        <p:txBody>
          <a:bodyPr/>
          <a:lstStyle/>
          <a:p>
            <a:r>
              <a:t>Die wichtigste Standardfolie: links 2–5 Stichpunkte, rechts ein grosses Bild, eine Schaltung, ein Screenshot oder eine Skizze. Wenn kein Visual nötig ist, die rechte Fläche für eine grosse Formel nutzen.</a:t>
            </a:r>
          </a:p>
        </p:txBody>
      </p:sp>
      <p:sp>
        <p:nvSpPr>
          <p:cNvPr id="4" name="Slide Number Placeholder 3">
            <a:extLst>
              <a:ext uri="{FF2B5EF4-FFF2-40B4-BE49-F238E27FC236}">
                <a16:creationId xmlns:a16="http://schemas.microsoft.com/office/drawing/2014/main" id="{24712F35-87FC-B400-76A0-057D240C187C}"/>
              </a:ext>
            </a:extLst>
          </p:cNvPr>
          <p:cNvSpPr>
            <a:spLocks noGrp="1"/>
          </p:cNvSpPr>
          <p:nvPr>
            <p:ph type="sldNum" sz="quarter" idx="5"/>
          </p:nvPr>
        </p:nvSpPr>
        <p:spPr/>
      </p:sp>
    </p:spTree>
    <p:extLst>
      <p:ext uri="{BB962C8B-B14F-4D97-AF65-F5344CB8AC3E}">
        <p14:creationId xmlns:p14="http://schemas.microsoft.com/office/powerpoint/2010/main" val="14254361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Optional: QR-Code oder kurzer Link zum Fragen-Tool.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E35189F-490E-47E5-9182-8BD430A4F045}" type="datetime1">
              <a:rPr lang="de-CH" smtClean="0"/>
              <a:t>28.10.2026</a:t>
            </a:fld>
            <a:endParaRPr lang="en-US"/>
          </a:p>
        </p:txBody>
      </p:sp>
      <p:sp>
        <p:nvSpPr>
          <p:cNvPr id="5" name="Footer Placeholder 4"/>
          <p:cNvSpPr>
            <a:spLocks noGrp="1"/>
          </p:cNvSpPr>
          <p:nvPr>
            <p:ph type="ftr" sz="quarter" idx="11"/>
          </p:nvPr>
        </p:nvSpPr>
        <p:spPr/>
        <p:txBody>
          <a:bodyPr/>
          <a:lstStyle/>
          <a:p>
            <a:r>
              <a:rPr lang="en-US"/>
              <a:t>Enrico Putzi W07</a:t>
            </a:r>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F0C906-CD1C-4047-BD92-88EDDEEE9F2C}" type="datetime1">
              <a:rPr lang="de-CH" smtClean="0"/>
              <a:t>28.10.2026</a:t>
            </a:fld>
            <a:endParaRPr lang="en-US"/>
          </a:p>
        </p:txBody>
      </p:sp>
      <p:sp>
        <p:nvSpPr>
          <p:cNvPr id="5" name="Footer Placeholder 4"/>
          <p:cNvSpPr>
            <a:spLocks noGrp="1"/>
          </p:cNvSpPr>
          <p:nvPr>
            <p:ph type="ftr" sz="quarter" idx="11"/>
          </p:nvPr>
        </p:nvSpPr>
        <p:spPr/>
        <p:txBody>
          <a:bodyPr/>
          <a:lstStyle/>
          <a:p>
            <a:r>
              <a:rPr lang="en-US"/>
              <a:t>Enrico Putzi W07</a:t>
            </a:r>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EC2FFB-87EF-4667-BE21-D8DF44BC560D}" type="datetime1">
              <a:rPr lang="de-CH" smtClean="0"/>
              <a:t>28.10.2026</a:t>
            </a:fld>
            <a:endParaRPr lang="en-US"/>
          </a:p>
        </p:txBody>
      </p:sp>
      <p:sp>
        <p:nvSpPr>
          <p:cNvPr id="5" name="Footer Placeholder 4"/>
          <p:cNvSpPr>
            <a:spLocks noGrp="1"/>
          </p:cNvSpPr>
          <p:nvPr>
            <p:ph type="ftr" sz="quarter" idx="11"/>
          </p:nvPr>
        </p:nvSpPr>
        <p:spPr/>
        <p:txBody>
          <a:bodyPr/>
          <a:lstStyle/>
          <a:p>
            <a:r>
              <a:rPr lang="en-US"/>
              <a:t>Enrico Putzi W07</a:t>
            </a:r>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9C136C-CA60-4924-810F-4209BEDAFFE0}" type="datetime1">
              <a:rPr lang="de-CH" smtClean="0"/>
              <a:t>28.10.2026</a:t>
            </a:fld>
            <a:endParaRPr lang="en-US"/>
          </a:p>
        </p:txBody>
      </p:sp>
      <p:sp>
        <p:nvSpPr>
          <p:cNvPr id="6" name="Footer Placeholder 5"/>
          <p:cNvSpPr>
            <a:spLocks noGrp="1"/>
          </p:cNvSpPr>
          <p:nvPr>
            <p:ph type="ftr" sz="quarter" idx="11"/>
          </p:nvPr>
        </p:nvSpPr>
        <p:spPr/>
        <p:txBody>
          <a:bodyPr/>
          <a:lstStyle/>
          <a:p>
            <a:r>
              <a:rPr lang="en-US"/>
              <a:t>Enrico Putzi W07</a:t>
            </a:r>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C48FD7A-01DA-4904-B141-8DF43153698F}" type="datetime1">
              <a:rPr lang="de-CH" smtClean="0"/>
              <a:t>28.10.2026</a:t>
            </a:fld>
            <a:endParaRPr lang="en-US"/>
          </a:p>
        </p:txBody>
      </p:sp>
      <p:sp>
        <p:nvSpPr>
          <p:cNvPr id="8" name="Footer Placeholder 7"/>
          <p:cNvSpPr>
            <a:spLocks noGrp="1"/>
          </p:cNvSpPr>
          <p:nvPr>
            <p:ph type="ftr" sz="quarter" idx="11"/>
          </p:nvPr>
        </p:nvSpPr>
        <p:spPr/>
        <p:txBody>
          <a:bodyPr/>
          <a:lstStyle/>
          <a:p>
            <a:r>
              <a:rPr lang="en-US"/>
              <a:t>Enrico Putzi W07</a:t>
            </a:r>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6C7D9D8-F32C-4F21-BE9D-9C7C26AD7D10}" type="datetime1">
              <a:rPr lang="de-CH" smtClean="0"/>
              <a:t>28.10.2026</a:t>
            </a:fld>
            <a:endParaRPr lang="en-US"/>
          </a:p>
        </p:txBody>
      </p:sp>
      <p:sp>
        <p:nvSpPr>
          <p:cNvPr id="4" name="Footer Placeholder 3"/>
          <p:cNvSpPr>
            <a:spLocks noGrp="1"/>
          </p:cNvSpPr>
          <p:nvPr>
            <p:ph type="ftr" sz="quarter" idx="11"/>
          </p:nvPr>
        </p:nvSpPr>
        <p:spPr/>
        <p:txBody>
          <a:bodyPr/>
          <a:lstStyle/>
          <a:p>
            <a:r>
              <a:rPr lang="en-US"/>
              <a:t>Enrico Putzi W07</a:t>
            </a:r>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F9961A-FE2F-4343-993E-D3239B9000C5}" type="datetime1">
              <a:rPr lang="de-CH" smtClean="0"/>
              <a:t>28.10.2026</a:t>
            </a:fld>
            <a:endParaRPr lang="en-US"/>
          </a:p>
        </p:txBody>
      </p:sp>
      <p:sp>
        <p:nvSpPr>
          <p:cNvPr id="3" name="Footer Placeholder 2"/>
          <p:cNvSpPr>
            <a:spLocks noGrp="1"/>
          </p:cNvSpPr>
          <p:nvPr>
            <p:ph type="ftr" sz="quarter" idx="11"/>
          </p:nvPr>
        </p:nvSpPr>
        <p:spPr/>
        <p:txBody>
          <a:bodyPr/>
          <a:lstStyle/>
          <a:p>
            <a:r>
              <a:rPr lang="en-US"/>
              <a:t>Enrico Putzi W07</a:t>
            </a:r>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C9A5845-12A3-4BED-AB72-3D4BE7E785B2}" type="datetime1">
              <a:rPr lang="de-CH" smtClean="0"/>
              <a:t>28.10.2026</a:t>
            </a:fld>
            <a:endParaRPr lang="en-US"/>
          </a:p>
        </p:txBody>
      </p:sp>
      <p:sp>
        <p:nvSpPr>
          <p:cNvPr id="6" name="Footer Placeholder 5"/>
          <p:cNvSpPr>
            <a:spLocks noGrp="1"/>
          </p:cNvSpPr>
          <p:nvPr>
            <p:ph type="ftr" sz="quarter" idx="11"/>
          </p:nvPr>
        </p:nvSpPr>
        <p:spPr/>
        <p:txBody>
          <a:bodyPr/>
          <a:lstStyle/>
          <a:p>
            <a:r>
              <a:rPr lang="en-US"/>
              <a:t>Enrico Putzi W07</a:t>
            </a:r>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65DAB6-CA76-4712-A361-E748073BC535}" type="datetime1">
              <a:rPr lang="de-CH" smtClean="0"/>
              <a:t>28.10.2026</a:t>
            </a:fld>
            <a:endParaRPr lang="en-US"/>
          </a:p>
        </p:txBody>
      </p:sp>
      <p:sp>
        <p:nvSpPr>
          <p:cNvPr id="6" name="Footer Placeholder 5"/>
          <p:cNvSpPr>
            <a:spLocks noGrp="1"/>
          </p:cNvSpPr>
          <p:nvPr>
            <p:ph type="ftr" sz="quarter" idx="11"/>
          </p:nvPr>
        </p:nvSpPr>
        <p:spPr/>
        <p:txBody>
          <a:bodyPr/>
          <a:lstStyle/>
          <a:p>
            <a:r>
              <a:rPr lang="en-US"/>
              <a:t>Enrico Putzi W07</a:t>
            </a:r>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2E9D2F9-7B70-4021-9226-B5D42516981D}" type="datetime1">
              <a:rPr lang="de-CH" smtClean="0"/>
              <a:t>28.10.2026</a:t>
            </a:fld>
            <a:endParaRPr lang="en-US"/>
          </a:p>
        </p:txBody>
      </p:sp>
      <p:sp>
        <p:nvSpPr>
          <p:cNvPr id="5" name="Footer Placeholder 4"/>
          <p:cNvSpPr>
            <a:spLocks noGrp="1"/>
          </p:cNvSpPr>
          <p:nvPr>
            <p:ph type="ftr" sz="quarter" idx="11"/>
          </p:nvPr>
        </p:nvSpPr>
        <p:spPr/>
        <p:txBody>
          <a:bodyPr/>
          <a:lstStyle/>
          <a:p>
            <a:r>
              <a:rPr lang="en-US"/>
              <a:t>Enrico Putzi W07</a:t>
            </a:r>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0D0FA5-2693-435B-A892-DA50C92B04E4}" type="datetime1">
              <a:rPr lang="de-CH" smtClean="0"/>
              <a:t>28.10.2026</a:t>
            </a:fld>
            <a:endParaRPr lang="en-US"/>
          </a:p>
        </p:txBody>
      </p:sp>
      <p:sp>
        <p:nvSpPr>
          <p:cNvPr id="5" name="Footer Placeholder 4"/>
          <p:cNvSpPr>
            <a:spLocks noGrp="1"/>
          </p:cNvSpPr>
          <p:nvPr>
            <p:ph type="ftr" sz="quarter" idx="11"/>
          </p:nvPr>
        </p:nvSpPr>
        <p:spPr/>
        <p:txBody>
          <a:bodyPr/>
          <a:lstStyle/>
          <a:p>
            <a:r>
              <a:rPr lang="en-US"/>
              <a:t>Enrico Putzi W07</a:t>
            </a:r>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4448F0F-9719-4B4B-95D6-6F3E064DE6AA}" type="datetime1">
              <a:rPr lang="de-CH" smtClean="0"/>
              <a:t>28.10.2026</a:t>
            </a:fld>
            <a:endParaRPr lang="en-US"/>
          </a:p>
        </p:txBody>
      </p:sp>
      <p:sp>
        <p:nvSpPr>
          <p:cNvPr id="5" name="Footer Placeholder 4"/>
          <p:cNvSpPr>
            <a:spLocks noGrp="1"/>
          </p:cNvSpPr>
          <p:nvPr>
            <p:ph type="ftr" sz="quarter" idx="3"/>
          </p:nvPr>
        </p:nvSpPr>
        <p:spPr>
          <a:xfrm>
            <a:off x="6790426"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Enrico Putzi W07</a:t>
            </a:r>
          </a:p>
        </p:txBody>
      </p:sp>
      <p:sp>
        <p:nvSpPr>
          <p:cNvPr id="6" name="Slide Number Placeholder 5"/>
          <p:cNvSpPr>
            <a:spLocks noGrp="1"/>
          </p:cNvSpPr>
          <p:nvPr>
            <p:ph type="sldNum" sz="quarter" idx="4"/>
          </p:nvPr>
        </p:nvSpPr>
        <p:spPr>
          <a:xfrm>
            <a:off x="9796732"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playlist?list=PLZHQObOWTQDPD3MizzM2xVFitgF8hE_ab"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coursereview.ch/"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psapp.ee.ethz.ch/"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hyperlink" Target="https://fpapp.ee.ethz.ch/en/no_cache/primary-navi-row-3/laboratory-courses/registration.html"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ounded Rectangle 1"/>
          <p:cNvSpPr/>
          <p:nvPr/>
        </p:nvSpPr>
        <p:spPr>
          <a:xfrm>
            <a:off x="594360" y="530352"/>
            <a:ext cx="2514600"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486171" y="597537"/>
            <a:ext cx="730969" cy="130805"/>
          </a:xfrm>
          <a:prstGeom prst="rect">
            <a:avLst/>
          </a:prstGeom>
          <a:noFill/>
        </p:spPr>
        <p:txBody>
          <a:bodyPr wrap="none" lIns="0" tIns="0" rIns="0" bIns="0" anchor="ctr">
            <a:spAutoFit/>
          </a:bodyPr>
          <a:lstStyle/>
          <a:p>
            <a:pPr algn="ctr"/>
            <a:r>
              <a:rPr sz="850" b="1" dirty="0">
                <a:solidFill>
                  <a:srgbClr val="737373"/>
                </a:solidFill>
                <a:latin typeface="Aptos"/>
              </a:rPr>
              <a:t>ENRICO PUTZI </a:t>
            </a:r>
          </a:p>
        </p:txBody>
      </p:sp>
      <p:sp>
        <p:nvSpPr>
          <p:cNvPr id="4" name="TextBox 3"/>
          <p:cNvSpPr txBox="1"/>
          <p:nvPr/>
        </p:nvSpPr>
        <p:spPr>
          <a:xfrm>
            <a:off x="594360" y="1417320"/>
            <a:ext cx="7955279" cy="1508760"/>
          </a:xfrm>
          <a:prstGeom prst="rect">
            <a:avLst/>
          </a:prstGeom>
          <a:noFill/>
        </p:spPr>
        <p:txBody>
          <a:bodyPr wrap="none" lIns="0" tIns="0" rIns="0" bIns="0" anchor="t">
            <a:spAutoFit/>
          </a:bodyPr>
          <a:lstStyle/>
          <a:p>
            <a:pPr algn="l"/>
            <a:r>
              <a:rPr sz="4300" b="1" dirty="0" err="1">
                <a:solidFill>
                  <a:srgbClr val="171717"/>
                </a:solidFill>
                <a:latin typeface="Aptos"/>
              </a:rPr>
              <a:t>Netzwerke</a:t>
            </a:r>
            <a:r>
              <a:rPr sz="4300" b="1" dirty="0">
                <a:solidFill>
                  <a:srgbClr val="171717"/>
                </a:solidFill>
                <a:latin typeface="Aptos"/>
              </a:rPr>
              <a:t>
und </a:t>
            </a:r>
            <a:r>
              <a:rPr sz="4300" b="1" dirty="0" err="1">
                <a:solidFill>
                  <a:srgbClr val="171717"/>
                </a:solidFill>
                <a:latin typeface="Aptos"/>
              </a:rPr>
              <a:t>Schaltungen</a:t>
            </a:r>
            <a:r>
              <a:rPr sz="4300" b="1" dirty="0">
                <a:solidFill>
                  <a:srgbClr val="171717"/>
                </a:solidFill>
                <a:latin typeface="Aptos"/>
              </a:rPr>
              <a:t> 1</a:t>
            </a:r>
          </a:p>
        </p:txBody>
      </p:sp>
      <p:sp>
        <p:nvSpPr>
          <p:cNvPr id="5" name="TextBox 4"/>
          <p:cNvSpPr txBox="1"/>
          <p:nvPr/>
        </p:nvSpPr>
        <p:spPr>
          <a:xfrm>
            <a:off x="612648" y="3255264"/>
            <a:ext cx="1139736" cy="323165"/>
          </a:xfrm>
          <a:prstGeom prst="rect">
            <a:avLst/>
          </a:prstGeom>
          <a:noFill/>
        </p:spPr>
        <p:txBody>
          <a:bodyPr wrap="none" lIns="0" tIns="0" rIns="0" bIns="0" anchor="t">
            <a:spAutoFit/>
          </a:bodyPr>
          <a:lstStyle/>
          <a:p>
            <a:pPr algn="l"/>
            <a:r>
              <a:rPr sz="2100" b="1" dirty="0" err="1">
                <a:solidFill>
                  <a:srgbClr val="737373"/>
                </a:solidFill>
                <a:latin typeface="Aptos"/>
              </a:rPr>
              <a:t>Übung</a:t>
            </a:r>
            <a:r>
              <a:rPr sz="2100" b="1" dirty="0">
                <a:solidFill>
                  <a:srgbClr val="737373"/>
                </a:solidFill>
                <a:latin typeface="Aptos"/>
              </a:rPr>
              <a:t> </a:t>
            </a:r>
            <a:r>
              <a:rPr lang="de-CH" sz="2100" b="1" dirty="0">
                <a:solidFill>
                  <a:srgbClr val="737373"/>
                </a:solidFill>
                <a:latin typeface="Aptos"/>
              </a:rPr>
              <a:t>07</a:t>
            </a:r>
            <a:endParaRPr sz="2100" b="1" dirty="0">
              <a:solidFill>
                <a:srgbClr val="737373"/>
              </a:solidFill>
              <a:latin typeface="Aptos"/>
            </a:endParaRPr>
          </a:p>
        </p:txBody>
      </p:sp>
      <p:sp>
        <p:nvSpPr>
          <p:cNvPr id="6" name="TextBox 5"/>
          <p:cNvSpPr txBox="1"/>
          <p:nvPr/>
        </p:nvSpPr>
        <p:spPr>
          <a:xfrm>
            <a:off x="612648" y="3712463"/>
            <a:ext cx="3108543" cy="261610"/>
          </a:xfrm>
          <a:prstGeom prst="rect">
            <a:avLst/>
          </a:prstGeom>
          <a:noFill/>
        </p:spPr>
        <p:txBody>
          <a:bodyPr wrap="none" lIns="0" tIns="0" rIns="0" bIns="0" anchor="t">
            <a:spAutoFit/>
          </a:bodyPr>
          <a:lstStyle/>
          <a:p>
            <a:pPr algn="l"/>
            <a:r>
              <a:rPr lang="de-CH" sz="1700" dirty="0">
                <a:solidFill>
                  <a:srgbClr val="737373"/>
                </a:solidFill>
                <a:latin typeface="Aptos"/>
              </a:rPr>
              <a:t>Quiz, Tipps und Tricks, Repetition</a:t>
            </a:r>
            <a:endParaRPr sz="1700" b="0" dirty="0">
              <a:solidFill>
                <a:srgbClr val="737373"/>
              </a:solidFill>
              <a:latin typeface="Aptos"/>
            </a:endParaRPr>
          </a:p>
        </p:txBody>
      </p:sp>
      <p:cxnSp>
        <p:nvCxnSpPr>
          <p:cNvPr id="7" name="Connector 6"/>
          <p:cNvCxnSpPr/>
          <p:nvPr/>
        </p:nvCxnSpPr>
        <p:spPr>
          <a:xfrm>
            <a:off x="621792" y="4498848"/>
            <a:ext cx="2121408" cy="0"/>
          </a:xfrm>
          <a:prstGeom prst="line">
            <a:avLst/>
          </a:prstGeom>
          <a:ln w="25400">
            <a:solidFill>
              <a:srgbClr val="171717"/>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21792" y="4736592"/>
            <a:ext cx="2981585" cy="169277"/>
          </a:xfrm>
          <a:prstGeom prst="rect">
            <a:avLst/>
          </a:prstGeom>
          <a:noFill/>
        </p:spPr>
        <p:txBody>
          <a:bodyPr wrap="none" lIns="0" tIns="0" rIns="0" bIns="0" anchor="t">
            <a:spAutoFit/>
          </a:bodyPr>
          <a:lstStyle/>
          <a:p>
            <a:r>
              <a:rPr lang="de-CH" sz="1100" dirty="0">
                <a:solidFill>
                  <a:srgbClr val="737373"/>
                </a:solidFill>
                <a:latin typeface="Aptos"/>
              </a:rPr>
              <a:t>https://eputzi.github.io/courses/nus1/index.html</a:t>
            </a:r>
            <a:endParaRPr sz="1100" b="0" dirty="0">
              <a:solidFill>
                <a:srgbClr val="737373"/>
              </a:solidFill>
              <a:latin typeface="Aptos"/>
            </a:endParaRPr>
          </a:p>
        </p:txBody>
      </p:sp>
      <p:pic>
        <p:nvPicPr>
          <p:cNvPr id="12" name="Grafik 11">
            <a:extLst>
              <a:ext uri="{FF2B5EF4-FFF2-40B4-BE49-F238E27FC236}">
                <a16:creationId xmlns:a16="http://schemas.microsoft.com/office/drawing/2014/main" id="{FC2376DB-FD73-E522-DD12-8C3D47FFD695}"/>
              </a:ext>
            </a:extLst>
          </p:cNvPr>
          <p:cNvPicPr>
            <a:picLocks noChangeAspect="1"/>
          </p:cNvPicPr>
          <p:nvPr/>
        </p:nvPicPr>
        <p:blipFill>
          <a:blip r:embed="rId3"/>
          <a:stretch>
            <a:fillRect/>
          </a:stretch>
        </p:blipFill>
        <p:spPr>
          <a:xfrm>
            <a:off x="9113435" y="236574"/>
            <a:ext cx="2689505" cy="2689505"/>
          </a:xfrm>
          <a:prstGeom prst="rect">
            <a:avLst/>
          </a:prstGeom>
        </p:spPr>
      </p:pic>
      <p:sp>
        <p:nvSpPr>
          <p:cNvPr id="15" name="TextBox 7">
            <a:extLst>
              <a:ext uri="{FF2B5EF4-FFF2-40B4-BE49-F238E27FC236}">
                <a16:creationId xmlns:a16="http://schemas.microsoft.com/office/drawing/2014/main" id="{568BB238-676F-2AD1-5311-843CEFE0748F}"/>
              </a:ext>
            </a:extLst>
          </p:cNvPr>
          <p:cNvSpPr txBox="1"/>
          <p:nvPr/>
        </p:nvSpPr>
        <p:spPr>
          <a:xfrm>
            <a:off x="10171249" y="2926079"/>
            <a:ext cx="573875" cy="169277"/>
          </a:xfrm>
          <a:prstGeom prst="rect">
            <a:avLst/>
          </a:prstGeom>
          <a:noFill/>
        </p:spPr>
        <p:txBody>
          <a:bodyPr wrap="none" lIns="0" tIns="0" rIns="0" bIns="0" anchor="t">
            <a:spAutoFit/>
          </a:bodyPr>
          <a:lstStyle/>
          <a:p>
            <a:r>
              <a:rPr lang="de-CH" sz="1100" dirty="0">
                <a:solidFill>
                  <a:srgbClr val="737373"/>
                </a:solidFill>
                <a:latin typeface="Aptos"/>
              </a:rPr>
              <a:t>Webseite</a:t>
            </a:r>
            <a:endParaRPr sz="1100" b="0" dirty="0">
              <a:solidFill>
                <a:srgbClr val="737373"/>
              </a:solidFill>
              <a:latin typeface="Aptos"/>
            </a:endParaRPr>
          </a:p>
        </p:txBody>
      </p:sp>
      <p:pic>
        <p:nvPicPr>
          <p:cNvPr id="17" name="Grafik 16">
            <a:extLst>
              <a:ext uri="{FF2B5EF4-FFF2-40B4-BE49-F238E27FC236}">
                <a16:creationId xmlns:a16="http://schemas.microsoft.com/office/drawing/2014/main" id="{A10E91CE-7B15-F9A8-AE20-F447081B8588}"/>
              </a:ext>
            </a:extLst>
          </p:cNvPr>
          <p:cNvPicPr>
            <a:picLocks noChangeAspect="1"/>
          </p:cNvPicPr>
          <p:nvPr/>
        </p:nvPicPr>
        <p:blipFill>
          <a:blip r:embed="rId4"/>
          <a:stretch>
            <a:fillRect/>
          </a:stretch>
        </p:blipFill>
        <p:spPr>
          <a:xfrm>
            <a:off x="9113435" y="3246120"/>
            <a:ext cx="2689505" cy="2689505"/>
          </a:xfrm>
          <a:prstGeom prst="rect">
            <a:avLst/>
          </a:prstGeom>
        </p:spPr>
      </p:pic>
      <p:sp>
        <p:nvSpPr>
          <p:cNvPr id="19" name="TextBox 7">
            <a:extLst>
              <a:ext uri="{FF2B5EF4-FFF2-40B4-BE49-F238E27FC236}">
                <a16:creationId xmlns:a16="http://schemas.microsoft.com/office/drawing/2014/main" id="{D71EEF3B-ED6D-524B-767C-8CC0B281E789}"/>
              </a:ext>
            </a:extLst>
          </p:cNvPr>
          <p:cNvSpPr txBox="1"/>
          <p:nvPr/>
        </p:nvSpPr>
        <p:spPr>
          <a:xfrm>
            <a:off x="10249795" y="5850986"/>
            <a:ext cx="416781" cy="169277"/>
          </a:xfrm>
          <a:prstGeom prst="rect">
            <a:avLst/>
          </a:prstGeom>
          <a:noFill/>
        </p:spPr>
        <p:txBody>
          <a:bodyPr wrap="none" lIns="0" tIns="0" rIns="0" bIns="0" anchor="t">
            <a:spAutoFit/>
          </a:bodyPr>
          <a:lstStyle/>
          <a:p>
            <a:r>
              <a:rPr lang="de-CH" sz="1100" dirty="0">
                <a:solidFill>
                  <a:srgbClr val="737373"/>
                </a:solidFill>
                <a:latin typeface="Aptos"/>
              </a:rPr>
              <a:t>Fragen</a:t>
            </a:r>
            <a:endParaRPr sz="1100" b="0" dirty="0">
              <a:solidFill>
                <a:srgbClr val="737373"/>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ounded Rectangle 1"/>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36137" y="542673"/>
            <a:ext cx="485710" cy="130805"/>
          </a:xfrm>
          <a:prstGeom prst="rect">
            <a:avLst/>
          </a:prstGeom>
          <a:noFill/>
        </p:spPr>
        <p:txBody>
          <a:bodyPr wrap="none" lIns="0" tIns="0" rIns="0" bIns="0" anchor="ctr">
            <a:spAutoFit/>
          </a:bodyPr>
          <a:lstStyle/>
          <a:p>
            <a:pPr algn="ctr"/>
            <a:r>
              <a:rPr lang="de-CH" sz="850" b="1" dirty="0">
                <a:solidFill>
                  <a:srgbClr val="737373"/>
                </a:solidFill>
                <a:latin typeface="Aptos"/>
              </a:rPr>
              <a:t>Übersicht	</a:t>
            </a:r>
            <a:endParaRPr sz="850" b="1" dirty="0">
              <a:solidFill>
                <a:srgbClr val="737373"/>
              </a:solidFill>
              <a:latin typeface="Aptos"/>
            </a:endParaRPr>
          </a:p>
        </p:txBody>
      </p:sp>
      <p:sp>
        <p:nvSpPr>
          <p:cNvPr id="4" name="TextBox 3"/>
          <p:cNvSpPr txBox="1"/>
          <p:nvPr/>
        </p:nvSpPr>
        <p:spPr>
          <a:xfrm>
            <a:off x="594360" y="932688"/>
            <a:ext cx="5990614" cy="477054"/>
          </a:xfrm>
          <a:prstGeom prst="rect">
            <a:avLst/>
          </a:prstGeom>
          <a:noFill/>
        </p:spPr>
        <p:txBody>
          <a:bodyPr wrap="none" lIns="0" tIns="0" rIns="0" bIns="0" anchor="t">
            <a:spAutoFit/>
          </a:bodyPr>
          <a:lstStyle/>
          <a:p>
            <a:pPr algn="l"/>
            <a:r>
              <a:rPr lang="de-CH" sz="3100" b="1" dirty="0">
                <a:solidFill>
                  <a:srgbClr val="171717"/>
                </a:solidFill>
                <a:latin typeface="Aptos"/>
              </a:rPr>
              <a:t>Was machen wir heute? (oder ihr)</a:t>
            </a:r>
            <a:endParaRPr sz="3100" b="1" dirty="0">
              <a:solidFill>
                <a:srgbClr val="171717"/>
              </a:solidFill>
              <a:latin typeface="Aptos"/>
            </a:endParaRPr>
          </a:p>
        </p:txBody>
      </p:sp>
      <p:sp>
        <p:nvSpPr>
          <p:cNvPr id="11" name="TextBox 10"/>
          <p:cNvSpPr txBox="1"/>
          <p:nvPr/>
        </p:nvSpPr>
        <p:spPr>
          <a:xfrm>
            <a:off x="914400" y="2761488"/>
            <a:ext cx="3247364" cy="1538883"/>
          </a:xfrm>
          <a:prstGeom prst="rect">
            <a:avLst/>
          </a:prstGeom>
          <a:noFill/>
        </p:spPr>
        <p:txBody>
          <a:bodyPr wrap="none" lIns="0" tIns="0" rIns="0" bIns="0" anchor="t">
            <a:spAutoFit/>
          </a:bodyPr>
          <a:lstStyle/>
          <a:p>
            <a:pPr marL="342900" indent="-342900" algn="l">
              <a:buFont typeface="Arial" panose="020B0604020202020204" pitchFamily="34" charset="0"/>
              <a:buChar char="•"/>
            </a:pPr>
            <a:r>
              <a:rPr lang="de-CH" sz="2000" b="0" dirty="0" err="1">
                <a:solidFill>
                  <a:srgbClr val="171717"/>
                </a:solidFill>
                <a:latin typeface="Aptos"/>
              </a:rPr>
              <a:t>Moodle</a:t>
            </a:r>
            <a:r>
              <a:rPr lang="de-CH" sz="2000" b="0" dirty="0">
                <a:solidFill>
                  <a:srgbClr val="171717"/>
                </a:solidFill>
                <a:latin typeface="Aptos"/>
              </a:rPr>
              <a:t> Quiz</a:t>
            </a:r>
          </a:p>
          <a:p>
            <a:pPr marL="342900" indent="-342900" algn="l">
              <a:buFont typeface="Arial" panose="020B0604020202020204" pitchFamily="34" charset="0"/>
              <a:buChar char="•"/>
            </a:pPr>
            <a:r>
              <a:rPr lang="de-CH" sz="2000" dirty="0">
                <a:solidFill>
                  <a:srgbClr val="171717"/>
                </a:solidFill>
                <a:latin typeface="Aptos"/>
              </a:rPr>
              <a:t>Besprechung </a:t>
            </a:r>
            <a:r>
              <a:rPr lang="de-CH" sz="2000" dirty="0" err="1">
                <a:solidFill>
                  <a:srgbClr val="171717"/>
                </a:solidFill>
                <a:latin typeface="Aptos"/>
              </a:rPr>
              <a:t>Moodle</a:t>
            </a:r>
            <a:r>
              <a:rPr lang="de-CH" sz="2000" dirty="0">
                <a:solidFill>
                  <a:srgbClr val="171717"/>
                </a:solidFill>
                <a:latin typeface="Aptos"/>
              </a:rPr>
              <a:t> Quiz</a:t>
            </a:r>
          </a:p>
          <a:p>
            <a:pPr marL="342900" indent="-342900" algn="l">
              <a:buFont typeface="Arial" panose="020B0604020202020204" pitchFamily="34" charset="0"/>
              <a:buChar char="•"/>
            </a:pPr>
            <a:r>
              <a:rPr lang="de-CH" sz="2000" dirty="0">
                <a:solidFill>
                  <a:srgbClr val="171717"/>
                </a:solidFill>
                <a:latin typeface="Aptos"/>
              </a:rPr>
              <a:t>How to ETH</a:t>
            </a:r>
          </a:p>
          <a:p>
            <a:pPr marL="342900" indent="-342900" algn="l">
              <a:buFont typeface="Arial" panose="020B0604020202020204" pitchFamily="34" charset="0"/>
              <a:buChar char="•"/>
            </a:pPr>
            <a:r>
              <a:rPr lang="de-CH" sz="2000" dirty="0">
                <a:solidFill>
                  <a:srgbClr val="171717"/>
                </a:solidFill>
                <a:latin typeface="Aptos"/>
              </a:rPr>
              <a:t>Repetition</a:t>
            </a:r>
          </a:p>
          <a:p>
            <a:pPr marL="342900" indent="-342900" algn="l">
              <a:buFont typeface="Arial" panose="020B0604020202020204" pitchFamily="34" charset="0"/>
              <a:buChar char="•"/>
            </a:pPr>
            <a:endParaRPr sz="2000" b="0" dirty="0">
              <a:solidFill>
                <a:srgbClr val="171717"/>
              </a:solidFill>
              <a:latin typeface="Aptos"/>
            </a:endParaRPr>
          </a:p>
        </p:txBody>
      </p:sp>
      <p:sp>
        <p:nvSpPr>
          <p:cNvPr id="15" name="Datumsplatzhalter 14">
            <a:extLst>
              <a:ext uri="{FF2B5EF4-FFF2-40B4-BE49-F238E27FC236}">
                <a16:creationId xmlns:a16="http://schemas.microsoft.com/office/drawing/2014/main" id="{FA1345AC-CE9B-7FE2-5382-D92AEFB1F35A}"/>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5890F6DA-FF1C-B12F-C9A4-D27FAC23DAF3}"/>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00071AF8-AC7C-5E34-152B-776853FD6453}"/>
              </a:ext>
            </a:extLst>
          </p:cNvPr>
          <p:cNvSpPr>
            <a:spLocks noGrp="1"/>
          </p:cNvSpPr>
          <p:nvPr>
            <p:ph type="sldNum" sz="quarter" idx="12"/>
          </p:nvPr>
        </p:nvSpPr>
        <p:spPr/>
        <p:txBody>
          <a:bodyPr/>
          <a:lstStyle/>
          <a:p>
            <a:fld id="{C1FF6DA9-008F-8B48-92A6-B652298478BF}"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7052C1C-1B92-11C0-84A9-B91D2B6F478A}"/>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9E917475-309F-C26E-F554-6645EE4A3F4D}"/>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99F390E-3921-5B80-E840-F002D5E63520}"/>
              </a:ext>
            </a:extLst>
          </p:cNvPr>
          <p:cNvSpPr txBox="1"/>
          <p:nvPr/>
        </p:nvSpPr>
        <p:spPr>
          <a:xfrm>
            <a:off x="966783" y="542673"/>
            <a:ext cx="224421" cy="130805"/>
          </a:xfrm>
          <a:prstGeom prst="rect">
            <a:avLst/>
          </a:prstGeom>
          <a:noFill/>
        </p:spPr>
        <p:txBody>
          <a:bodyPr wrap="none" lIns="0" tIns="0" rIns="0" bIns="0" anchor="ctr">
            <a:spAutoFit/>
          </a:bodyPr>
          <a:lstStyle/>
          <a:p>
            <a:pPr algn="ctr"/>
            <a:r>
              <a:rPr lang="de-CH" sz="850" b="1" dirty="0">
                <a:solidFill>
                  <a:srgbClr val="737373"/>
                </a:solidFill>
                <a:latin typeface="Aptos"/>
              </a:rPr>
              <a:t>Quiz</a:t>
            </a:r>
            <a:endParaRPr sz="850" b="1" dirty="0">
              <a:solidFill>
                <a:srgbClr val="737373"/>
              </a:solidFill>
              <a:latin typeface="Aptos"/>
            </a:endParaRPr>
          </a:p>
        </p:txBody>
      </p:sp>
      <p:sp>
        <p:nvSpPr>
          <p:cNvPr id="4" name="TextBox 3">
            <a:extLst>
              <a:ext uri="{FF2B5EF4-FFF2-40B4-BE49-F238E27FC236}">
                <a16:creationId xmlns:a16="http://schemas.microsoft.com/office/drawing/2014/main" id="{6F978152-6B12-5788-FB49-8F796412BF55}"/>
              </a:ext>
            </a:extLst>
          </p:cNvPr>
          <p:cNvSpPr txBox="1"/>
          <p:nvPr/>
        </p:nvSpPr>
        <p:spPr>
          <a:xfrm>
            <a:off x="594360" y="932688"/>
            <a:ext cx="1718419" cy="477054"/>
          </a:xfrm>
          <a:prstGeom prst="rect">
            <a:avLst/>
          </a:prstGeom>
          <a:noFill/>
        </p:spPr>
        <p:txBody>
          <a:bodyPr wrap="none" lIns="0" tIns="0" rIns="0" bIns="0" anchor="t">
            <a:spAutoFit/>
          </a:bodyPr>
          <a:lstStyle/>
          <a:p>
            <a:pPr algn="l"/>
            <a:r>
              <a:rPr lang="de-CH" sz="3100" b="1" dirty="0">
                <a:solidFill>
                  <a:srgbClr val="171717"/>
                </a:solidFill>
                <a:latin typeface="Aptos"/>
              </a:rPr>
              <a:t>Quiz time</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71745F85-517B-8FD5-19CB-28679E8B9240}"/>
              </a:ext>
            </a:extLst>
          </p:cNvPr>
          <p:cNvSpPr txBox="1"/>
          <p:nvPr/>
        </p:nvSpPr>
        <p:spPr>
          <a:xfrm>
            <a:off x="914400" y="2761488"/>
            <a:ext cx="6076920" cy="923330"/>
          </a:xfrm>
          <a:prstGeom prst="rect">
            <a:avLst/>
          </a:prstGeom>
          <a:noFill/>
        </p:spPr>
        <p:txBody>
          <a:bodyPr wrap="none" lIns="0" tIns="0" rIns="0" bIns="0" anchor="t">
            <a:spAutoFit/>
          </a:bodyPr>
          <a:lstStyle/>
          <a:p>
            <a:pPr marL="342900" indent="-342900" algn="l">
              <a:buFont typeface="Arial" panose="020B0604020202020204" pitchFamily="34" charset="0"/>
              <a:buChar char="•"/>
            </a:pPr>
            <a:r>
              <a:rPr lang="de-CH" sz="2000" b="0" dirty="0">
                <a:solidFill>
                  <a:srgbClr val="171717"/>
                </a:solidFill>
                <a:latin typeface="Aptos"/>
              </a:rPr>
              <a:t>30 min Zeit</a:t>
            </a:r>
          </a:p>
          <a:p>
            <a:pPr marL="342900" indent="-342900" algn="l">
              <a:buFont typeface="Arial" panose="020B0604020202020204" pitchFamily="34" charset="0"/>
              <a:buChar char="•"/>
            </a:pPr>
            <a:r>
              <a:rPr lang="de-CH" sz="2000" b="0" dirty="0">
                <a:solidFill>
                  <a:srgbClr val="171717"/>
                </a:solidFill>
                <a:latin typeface="Aptos"/>
              </a:rPr>
              <a:t>Aufgaben sind in etwa</a:t>
            </a:r>
            <a:r>
              <a:rPr lang="de-CH" sz="2000" dirty="0">
                <a:solidFill>
                  <a:srgbClr val="171717"/>
                </a:solidFill>
                <a:latin typeface="Aptos"/>
              </a:rPr>
              <a:t> wie Kurzfragen an der Prüfung</a:t>
            </a:r>
          </a:p>
          <a:p>
            <a:pPr marL="342900" indent="-342900" algn="l">
              <a:buFont typeface="Arial" panose="020B0604020202020204" pitchFamily="34" charset="0"/>
              <a:buChar char="•"/>
            </a:pPr>
            <a:r>
              <a:rPr lang="de-CH" sz="2000" dirty="0">
                <a:solidFill>
                  <a:srgbClr val="171717"/>
                </a:solidFill>
                <a:latin typeface="Aptos"/>
              </a:rPr>
              <a:t>Ist nicht relevant für Bonus!</a:t>
            </a:r>
            <a:endParaRPr sz="2000" b="0" dirty="0">
              <a:solidFill>
                <a:srgbClr val="171717"/>
              </a:solidFill>
              <a:latin typeface="Aptos"/>
            </a:endParaRPr>
          </a:p>
        </p:txBody>
      </p:sp>
      <p:sp>
        <p:nvSpPr>
          <p:cNvPr id="15" name="Datumsplatzhalter 14">
            <a:extLst>
              <a:ext uri="{FF2B5EF4-FFF2-40B4-BE49-F238E27FC236}">
                <a16:creationId xmlns:a16="http://schemas.microsoft.com/office/drawing/2014/main" id="{CE0E931C-C404-75BA-A8DC-03E0D440D489}"/>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8BFF1EEA-70C0-B5AE-D5C8-A2C7F8129406}"/>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2F862EA7-3D89-84F4-D3FF-1D246DA62B43}"/>
              </a:ext>
            </a:extLst>
          </p:cNvPr>
          <p:cNvSpPr>
            <a:spLocks noGrp="1"/>
          </p:cNvSpPr>
          <p:nvPr>
            <p:ph type="sldNum" sz="quarter" idx="12"/>
          </p:nvPr>
        </p:nvSpPr>
        <p:spPr/>
        <p:txBody>
          <a:bodyPr/>
          <a:lstStyle/>
          <a:p>
            <a:fld id="{C1FF6DA9-008F-8B48-92A6-B652298478BF}" type="slidenum">
              <a:rPr lang="en-US" smtClean="0"/>
              <a:t>3</a:t>
            </a:fld>
            <a:endParaRPr lang="en-US"/>
          </a:p>
        </p:txBody>
      </p:sp>
    </p:spTree>
    <p:extLst>
      <p:ext uri="{BB962C8B-B14F-4D97-AF65-F5344CB8AC3E}">
        <p14:creationId xmlns:p14="http://schemas.microsoft.com/office/powerpoint/2010/main" val="1936183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EFE23-96DF-605F-C5C4-C0C48DD84F2E}"/>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F1B017C7-7F4E-C1DA-1F1B-F79B065C02CB}"/>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2EF2942-888C-B362-5250-9ACCD60274A1}"/>
              </a:ext>
            </a:extLst>
          </p:cNvPr>
          <p:cNvSpPr txBox="1"/>
          <p:nvPr/>
        </p:nvSpPr>
        <p:spPr>
          <a:xfrm>
            <a:off x="594360" y="932688"/>
            <a:ext cx="3792320" cy="477054"/>
          </a:xfrm>
          <a:prstGeom prst="rect">
            <a:avLst/>
          </a:prstGeom>
          <a:noFill/>
        </p:spPr>
        <p:txBody>
          <a:bodyPr wrap="none" lIns="0" tIns="0" rIns="0" bIns="0" anchor="t">
            <a:spAutoFit/>
          </a:bodyPr>
          <a:lstStyle/>
          <a:p>
            <a:pPr algn="l"/>
            <a:r>
              <a:rPr lang="de-CH" sz="3100" b="1" dirty="0">
                <a:solidFill>
                  <a:srgbClr val="171717"/>
                </a:solidFill>
                <a:latin typeface="Aptos"/>
              </a:rPr>
              <a:t>Tipps zu den Fächern</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CD823625-5E37-C37B-CAF8-97BD523BB280}"/>
              </a:ext>
            </a:extLst>
          </p:cNvPr>
          <p:cNvSpPr txBox="1"/>
          <p:nvPr/>
        </p:nvSpPr>
        <p:spPr>
          <a:xfrm>
            <a:off x="594360" y="1574334"/>
            <a:ext cx="8402685" cy="1538883"/>
          </a:xfrm>
          <a:prstGeom prst="rect">
            <a:avLst/>
          </a:prstGeom>
          <a:noFill/>
        </p:spPr>
        <p:txBody>
          <a:bodyPr wrap="none" lIns="0" tIns="0" rIns="0" bIns="0" anchor="t">
            <a:spAutoFit/>
          </a:bodyPr>
          <a:lstStyle/>
          <a:p>
            <a:pPr marL="342900" indent="-342900" algn="l">
              <a:buFont typeface="Arial" panose="020B0604020202020204" pitchFamily="34" charset="0"/>
              <a:buChar char="•"/>
            </a:pPr>
            <a:r>
              <a:rPr lang="de-CH" sz="2000" dirty="0">
                <a:solidFill>
                  <a:srgbClr val="171717"/>
                </a:solidFill>
                <a:latin typeface="Aptos"/>
              </a:rPr>
              <a:t>Nus:</a:t>
            </a:r>
            <a:br>
              <a:rPr lang="de-CH" sz="2000" dirty="0">
                <a:solidFill>
                  <a:srgbClr val="171717"/>
                </a:solidFill>
                <a:latin typeface="Aptos"/>
              </a:rPr>
            </a:br>
            <a:r>
              <a:rPr lang="de-CH" sz="2000" dirty="0">
                <a:solidFill>
                  <a:srgbClr val="171717"/>
                </a:solidFill>
                <a:latin typeface="Aptos"/>
              </a:rPr>
              <a:t>- Verständnis ist wichtig und kann bei vielen Aufgaben helfen</a:t>
            </a:r>
            <a:br>
              <a:rPr lang="de-CH" sz="2000" dirty="0">
                <a:solidFill>
                  <a:srgbClr val="171717"/>
                </a:solidFill>
                <a:latin typeface="Aptos"/>
              </a:rPr>
            </a:br>
            <a:r>
              <a:rPr lang="de-CH" sz="2000" dirty="0">
                <a:solidFill>
                  <a:srgbClr val="171717"/>
                </a:solidFill>
                <a:latin typeface="Aptos"/>
              </a:rPr>
              <a:t>- Albach (War meine  Weihnachtslektüre letztes Jahr)</a:t>
            </a:r>
            <a:br>
              <a:rPr lang="de-CH" sz="2000" dirty="0">
                <a:solidFill>
                  <a:srgbClr val="171717"/>
                </a:solidFill>
                <a:latin typeface="Aptos"/>
              </a:rPr>
            </a:br>
            <a:r>
              <a:rPr lang="de-CH" sz="2000" dirty="0">
                <a:solidFill>
                  <a:srgbClr val="171717"/>
                </a:solidFill>
                <a:latin typeface="Aptos"/>
              </a:rPr>
              <a:t>- Pearson Aufgaben (Habe ich während den Lernferien gemacht)</a:t>
            </a:r>
            <a:br>
              <a:rPr lang="de-CH" sz="2000" dirty="0">
                <a:solidFill>
                  <a:srgbClr val="171717"/>
                </a:solidFill>
                <a:latin typeface="Aptos"/>
              </a:rPr>
            </a:br>
            <a:r>
              <a:rPr lang="de-CH" sz="2000" dirty="0">
                <a:solidFill>
                  <a:srgbClr val="171717"/>
                </a:solidFill>
                <a:latin typeface="Aptos"/>
              </a:rPr>
              <a:t>- Altprüfungen bekommt ihr noch Ende Semester (Leider gibt es keine ML)</a:t>
            </a:r>
          </a:p>
        </p:txBody>
      </p:sp>
      <p:sp>
        <p:nvSpPr>
          <p:cNvPr id="15" name="Datumsplatzhalter 14">
            <a:extLst>
              <a:ext uri="{FF2B5EF4-FFF2-40B4-BE49-F238E27FC236}">
                <a16:creationId xmlns:a16="http://schemas.microsoft.com/office/drawing/2014/main" id="{7D3D2523-2506-9AE4-A6F1-01E054F40E25}"/>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99D63C0A-1CB3-6606-09B7-5DEF09A82EFE}"/>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11911F56-D313-A539-E9C9-24133A1823E1}"/>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6" name="TextBox 10">
            <a:extLst>
              <a:ext uri="{FF2B5EF4-FFF2-40B4-BE49-F238E27FC236}">
                <a16:creationId xmlns:a16="http://schemas.microsoft.com/office/drawing/2014/main" id="{A3BC3D18-89BE-66AF-D374-837161A33BB4}"/>
              </a:ext>
            </a:extLst>
          </p:cNvPr>
          <p:cNvSpPr txBox="1"/>
          <p:nvPr/>
        </p:nvSpPr>
        <p:spPr>
          <a:xfrm>
            <a:off x="594359" y="3744783"/>
            <a:ext cx="9723752" cy="1538883"/>
          </a:xfrm>
          <a:prstGeom prst="rect">
            <a:avLst/>
          </a:prstGeom>
          <a:noFill/>
        </p:spPr>
        <p:txBody>
          <a:bodyPr wrap="none" lIns="0" tIns="0" rIns="0" bIns="0" anchor="t">
            <a:spAutoFit/>
          </a:bodyPr>
          <a:lstStyle/>
          <a:p>
            <a:pPr algn="l"/>
            <a:r>
              <a:rPr lang="de-CH" sz="2000" dirty="0">
                <a:solidFill>
                  <a:srgbClr val="171717"/>
                </a:solidFill>
                <a:latin typeface="Aptos"/>
              </a:rPr>
              <a:t>Tipps:</a:t>
            </a:r>
          </a:p>
          <a:p>
            <a:pPr marL="342900" indent="-342900" algn="l">
              <a:buFontTx/>
              <a:buChar char="-"/>
            </a:pPr>
            <a:r>
              <a:rPr lang="de-CH" sz="2000" dirty="0">
                <a:solidFill>
                  <a:srgbClr val="171717"/>
                </a:solidFill>
                <a:latin typeface="Aptos"/>
              </a:rPr>
              <a:t>Konstanten, die man oft braucht als Variablen speichern</a:t>
            </a:r>
          </a:p>
          <a:p>
            <a:pPr marL="342900" indent="-342900" algn="l">
              <a:buFontTx/>
              <a:buChar char="-"/>
            </a:pPr>
            <a:r>
              <a:rPr lang="de-CH" sz="2000" dirty="0">
                <a:solidFill>
                  <a:srgbClr val="171717"/>
                </a:solidFill>
                <a:latin typeface="Aptos"/>
              </a:rPr>
              <a:t>Zettel im Albach platzieren (Schneller um nachzuschauen) und macht das rechtzeitig</a:t>
            </a:r>
          </a:p>
          <a:p>
            <a:pPr marL="342900" indent="-342900" algn="l">
              <a:buFontTx/>
              <a:buChar char="-"/>
            </a:pPr>
            <a:r>
              <a:rPr lang="de-CH" sz="2000" dirty="0">
                <a:solidFill>
                  <a:srgbClr val="171717"/>
                </a:solidFill>
                <a:latin typeface="Aptos"/>
              </a:rPr>
              <a:t>Schreibt evtl. griechische Buchstaben auf FS wenn ihr sie nicht kennt (Wie ich z.B.)</a:t>
            </a:r>
          </a:p>
          <a:p>
            <a:pPr marL="342900" indent="-342900" algn="l">
              <a:buFontTx/>
              <a:buChar char="-"/>
            </a:pPr>
            <a:endParaRPr lang="de-CH" sz="2000" dirty="0">
              <a:solidFill>
                <a:srgbClr val="171717"/>
              </a:solidFill>
              <a:latin typeface="Aptos"/>
            </a:endParaRPr>
          </a:p>
        </p:txBody>
      </p:sp>
      <p:sp>
        <p:nvSpPr>
          <p:cNvPr id="8" name="TextBox 2">
            <a:extLst>
              <a:ext uri="{FF2B5EF4-FFF2-40B4-BE49-F238E27FC236}">
                <a16:creationId xmlns:a16="http://schemas.microsoft.com/office/drawing/2014/main" id="{CA74B008-B530-5B24-CDA6-F7CC8E8305B2}"/>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Tree>
    <p:extLst>
      <p:ext uri="{BB962C8B-B14F-4D97-AF65-F5344CB8AC3E}">
        <p14:creationId xmlns:p14="http://schemas.microsoft.com/office/powerpoint/2010/main" val="2236549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0559F-C92C-4CD7-9C19-D00315421DD8}"/>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CAF64A0D-C644-FF2A-CE9D-B080811D8AE1}"/>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A3CBC6C-64AF-9AFE-9D1C-8F816E2C79BD}"/>
              </a:ext>
            </a:extLst>
          </p:cNvPr>
          <p:cNvSpPr txBox="1"/>
          <p:nvPr/>
        </p:nvSpPr>
        <p:spPr>
          <a:xfrm>
            <a:off x="594360" y="932688"/>
            <a:ext cx="3792320" cy="477054"/>
          </a:xfrm>
          <a:prstGeom prst="rect">
            <a:avLst/>
          </a:prstGeom>
          <a:noFill/>
        </p:spPr>
        <p:txBody>
          <a:bodyPr wrap="none" lIns="0" tIns="0" rIns="0" bIns="0" anchor="t">
            <a:spAutoFit/>
          </a:bodyPr>
          <a:lstStyle/>
          <a:p>
            <a:pPr algn="l"/>
            <a:r>
              <a:rPr lang="de-CH" sz="3100" b="1" dirty="0">
                <a:solidFill>
                  <a:srgbClr val="171717"/>
                </a:solidFill>
                <a:latin typeface="Aptos"/>
              </a:rPr>
              <a:t>Tipps zu den Fächern</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77C56CD2-6497-36E7-F5CB-16B3CA696DE3}"/>
              </a:ext>
            </a:extLst>
          </p:cNvPr>
          <p:cNvSpPr txBox="1"/>
          <p:nvPr/>
        </p:nvSpPr>
        <p:spPr>
          <a:xfrm>
            <a:off x="594360" y="1574334"/>
            <a:ext cx="10246395" cy="1231106"/>
          </a:xfrm>
          <a:prstGeom prst="rect">
            <a:avLst/>
          </a:prstGeom>
          <a:noFill/>
        </p:spPr>
        <p:txBody>
          <a:bodyPr wrap="none" lIns="0" tIns="0" rIns="0" bIns="0" anchor="t">
            <a:spAutoFit/>
          </a:bodyPr>
          <a:lstStyle/>
          <a:p>
            <a:pPr marL="342900" indent="-342900" algn="l">
              <a:buFont typeface="Arial" panose="020B0604020202020204" pitchFamily="34" charset="0"/>
              <a:buChar char="•"/>
            </a:pPr>
            <a:r>
              <a:rPr lang="de-CH" sz="2000" dirty="0" err="1">
                <a:solidFill>
                  <a:srgbClr val="171717"/>
                </a:solidFill>
                <a:latin typeface="Aptos"/>
              </a:rPr>
              <a:t>Techmech</a:t>
            </a:r>
            <a:r>
              <a:rPr lang="de-CH" sz="2000" dirty="0">
                <a:solidFill>
                  <a:srgbClr val="171717"/>
                </a:solidFill>
                <a:latin typeface="Aptos"/>
              </a:rPr>
              <a:t>:</a:t>
            </a:r>
            <a:br>
              <a:rPr lang="de-CH" sz="2000" dirty="0">
                <a:solidFill>
                  <a:srgbClr val="171717"/>
                </a:solidFill>
                <a:latin typeface="Aptos"/>
              </a:rPr>
            </a:br>
            <a:r>
              <a:rPr lang="de-CH" sz="2000" dirty="0">
                <a:solidFill>
                  <a:srgbClr val="171717"/>
                </a:solidFill>
                <a:latin typeface="Aptos"/>
              </a:rPr>
              <a:t>- Serien versuchen zu verstehen (ich konnte auch nicht alles lösen ohne Hilfe der ML)</a:t>
            </a:r>
            <a:br>
              <a:rPr lang="de-CH" sz="2000" dirty="0">
                <a:solidFill>
                  <a:srgbClr val="171717"/>
                </a:solidFill>
                <a:latin typeface="Aptos"/>
              </a:rPr>
            </a:br>
            <a:r>
              <a:rPr lang="de-CH" sz="2000" dirty="0">
                <a:solidFill>
                  <a:srgbClr val="171717"/>
                </a:solidFill>
                <a:latin typeface="Aptos"/>
              </a:rPr>
              <a:t>- Alte Prüfungen sind sehr gute Vorbereitung</a:t>
            </a:r>
            <a:br>
              <a:rPr lang="de-CH" sz="2000" dirty="0">
                <a:solidFill>
                  <a:srgbClr val="171717"/>
                </a:solidFill>
                <a:latin typeface="Aptos"/>
              </a:rPr>
            </a:br>
            <a:r>
              <a:rPr lang="de-CH" sz="2000" dirty="0">
                <a:solidFill>
                  <a:srgbClr val="171717"/>
                </a:solidFill>
                <a:latin typeface="Aptos"/>
              </a:rPr>
              <a:t>- Mit viel Übung bekommt man ein wenig Intuition (Viele Aufgaben haben ähnliche Struktur)</a:t>
            </a:r>
          </a:p>
        </p:txBody>
      </p:sp>
      <p:sp>
        <p:nvSpPr>
          <p:cNvPr id="15" name="Datumsplatzhalter 14">
            <a:extLst>
              <a:ext uri="{FF2B5EF4-FFF2-40B4-BE49-F238E27FC236}">
                <a16:creationId xmlns:a16="http://schemas.microsoft.com/office/drawing/2014/main" id="{2D6B5D90-79DE-4F99-07BB-9E907BBF9740}"/>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58E4D1A9-7AFB-6D82-9F76-24FE7AB39EE1}"/>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58E6E950-10CE-CD93-BFCC-E6C53493DEA8}"/>
              </a:ext>
            </a:extLst>
          </p:cNvPr>
          <p:cNvSpPr>
            <a:spLocks noGrp="1"/>
          </p:cNvSpPr>
          <p:nvPr>
            <p:ph type="sldNum" sz="quarter" idx="12"/>
          </p:nvPr>
        </p:nvSpPr>
        <p:spPr/>
        <p:txBody>
          <a:bodyPr/>
          <a:lstStyle/>
          <a:p>
            <a:fld id="{C1FF6DA9-008F-8B48-92A6-B652298478BF}" type="slidenum">
              <a:rPr lang="en-US" smtClean="0"/>
              <a:t>5</a:t>
            </a:fld>
            <a:endParaRPr lang="en-US"/>
          </a:p>
        </p:txBody>
      </p:sp>
      <p:sp>
        <p:nvSpPr>
          <p:cNvPr id="6" name="TextBox 10">
            <a:extLst>
              <a:ext uri="{FF2B5EF4-FFF2-40B4-BE49-F238E27FC236}">
                <a16:creationId xmlns:a16="http://schemas.microsoft.com/office/drawing/2014/main" id="{EC47726B-3FAC-7EBD-43E0-316D3701237E}"/>
              </a:ext>
            </a:extLst>
          </p:cNvPr>
          <p:cNvSpPr txBox="1"/>
          <p:nvPr/>
        </p:nvSpPr>
        <p:spPr>
          <a:xfrm>
            <a:off x="594359" y="3744783"/>
            <a:ext cx="671659" cy="615553"/>
          </a:xfrm>
          <a:prstGeom prst="rect">
            <a:avLst/>
          </a:prstGeom>
          <a:noFill/>
        </p:spPr>
        <p:txBody>
          <a:bodyPr wrap="none" lIns="0" tIns="0" rIns="0" bIns="0" anchor="t">
            <a:spAutoFit/>
          </a:bodyPr>
          <a:lstStyle/>
          <a:p>
            <a:pPr algn="l"/>
            <a:r>
              <a:rPr lang="de-CH" sz="2000" dirty="0">
                <a:solidFill>
                  <a:srgbClr val="171717"/>
                </a:solidFill>
                <a:latin typeface="Aptos"/>
              </a:rPr>
              <a:t>Tipps:</a:t>
            </a:r>
          </a:p>
          <a:p>
            <a:pPr marL="342900" indent="-342900" algn="l">
              <a:buFontTx/>
              <a:buChar char="-"/>
            </a:pPr>
            <a:endParaRPr lang="de-CH" sz="2000" dirty="0">
              <a:solidFill>
                <a:srgbClr val="171717"/>
              </a:solidFill>
              <a:latin typeface="Aptos"/>
            </a:endParaRPr>
          </a:p>
        </p:txBody>
      </p:sp>
      <p:sp>
        <p:nvSpPr>
          <p:cNvPr id="8" name="TextBox 2">
            <a:extLst>
              <a:ext uri="{FF2B5EF4-FFF2-40B4-BE49-F238E27FC236}">
                <a16:creationId xmlns:a16="http://schemas.microsoft.com/office/drawing/2014/main" id="{CBC0D5F3-9E63-DEC8-12C2-48CC22B16639}"/>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Tree>
    <p:extLst>
      <p:ext uri="{BB962C8B-B14F-4D97-AF65-F5344CB8AC3E}">
        <p14:creationId xmlns:p14="http://schemas.microsoft.com/office/powerpoint/2010/main" val="3409887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37051-006D-2414-8AA3-F32E4AEA9F73}"/>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78D0430C-9FB6-CA3B-7383-C92FEEF30945}"/>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D375E90C-0C12-5198-AA56-30FE8F0D8C24}"/>
              </a:ext>
            </a:extLst>
          </p:cNvPr>
          <p:cNvSpPr txBox="1"/>
          <p:nvPr/>
        </p:nvSpPr>
        <p:spPr>
          <a:xfrm>
            <a:off x="594360" y="932688"/>
            <a:ext cx="3792320" cy="477054"/>
          </a:xfrm>
          <a:prstGeom prst="rect">
            <a:avLst/>
          </a:prstGeom>
          <a:noFill/>
        </p:spPr>
        <p:txBody>
          <a:bodyPr wrap="none" lIns="0" tIns="0" rIns="0" bIns="0" anchor="t">
            <a:spAutoFit/>
          </a:bodyPr>
          <a:lstStyle/>
          <a:p>
            <a:pPr algn="l"/>
            <a:r>
              <a:rPr lang="de-CH" sz="3100" b="1" dirty="0">
                <a:solidFill>
                  <a:srgbClr val="171717"/>
                </a:solidFill>
                <a:latin typeface="Aptos"/>
              </a:rPr>
              <a:t>Tipps zu den Fächern</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03BD9AF6-B624-A77D-2324-CDB7B0EB8B6E}"/>
              </a:ext>
            </a:extLst>
          </p:cNvPr>
          <p:cNvSpPr txBox="1"/>
          <p:nvPr/>
        </p:nvSpPr>
        <p:spPr>
          <a:xfrm>
            <a:off x="594360" y="1574334"/>
            <a:ext cx="11147697" cy="1538883"/>
          </a:xfrm>
          <a:prstGeom prst="rect">
            <a:avLst/>
          </a:prstGeom>
          <a:noFill/>
        </p:spPr>
        <p:txBody>
          <a:bodyPr wrap="square" lIns="0" tIns="0" rIns="0" bIns="0" anchor="t">
            <a:spAutoFit/>
          </a:bodyPr>
          <a:lstStyle/>
          <a:p>
            <a:pPr marL="342900" indent="-342900" algn="l">
              <a:buFont typeface="Arial" panose="020B0604020202020204" pitchFamily="34" charset="0"/>
              <a:buChar char="•"/>
            </a:pPr>
            <a:r>
              <a:rPr lang="de-CH" sz="2000" dirty="0">
                <a:solidFill>
                  <a:srgbClr val="171717"/>
                </a:solidFill>
                <a:latin typeface="Aptos"/>
              </a:rPr>
              <a:t>Digitec:</a:t>
            </a:r>
            <a:br>
              <a:rPr lang="de-CH" sz="2000" dirty="0">
                <a:solidFill>
                  <a:srgbClr val="171717"/>
                </a:solidFill>
                <a:latin typeface="Aptos"/>
              </a:rPr>
            </a:br>
            <a:r>
              <a:rPr lang="de-CH" sz="2000" dirty="0">
                <a:solidFill>
                  <a:srgbClr val="171717"/>
                </a:solidFill>
                <a:latin typeface="Aptos"/>
              </a:rPr>
              <a:t>- Serien sind recht anders zur Prüfung</a:t>
            </a:r>
            <a:br>
              <a:rPr lang="de-CH" sz="2000" dirty="0">
                <a:solidFill>
                  <a:srgbClr val="171717"/>
                </a:solidFill>
                <a:latin typeface="Aptos"/>
              </a:rPr>
            </a:br>
            <a:r>
              <a:rPr lang="de-CH" sz="2000" dirty="0">
                <a:solidFill>
                  <a:srgbClr val="171717"/>
                </a:solidFill>
                <a:latin typeface="Aptos"/>
              </a:rPr>
              <a:t>- Prüfung ist auf Zeitdruck ausgelegt (Löst so viele Altprüfungen wie nur möglich, nicht demotivieren lassen, wenn man am Anfang zu langsam ist, das ist normal)</a:t>
            </a:r>
          </a:p>
          <a:p>
            <a:pPr algn="l"/>
            <a:endParaRPr lang="de-CH" sz="2000" dirty="0">
              <a:solidFill>
                <a:srgbClr val="171717"/>
              </a:solidFill>
              <a:latin typeface="Aptos"/>
            </a:endParaRPr>
          </a:p>
        </p:txBody>
      </p:sp>
      <p:sp>
        <p:nvSpPr>
          <p:cNvPr id="15" name="Datumsplatzhalter 14">
            <a:extLst>
              <a:ext uri="{FF2B5EF4-FFF2-40B4-BE49-F238E27FC236}">
                <a16:creationId xmlns:a16="http://schemas.microsoft.com/office/drawing/2014/main" id="{BC457AE3-5B92-BF67-6AC6-68516F1592D3}"/>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ED0346FF-0E3D-43FC-4513-3F7AD961ECF0}"/>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A260C537-ABDC-59CF-E538-377320BC530E}"/>
              </a:ext>
            </a:extLst>
          </p:cNvPr>
          <p:cNvSpPr>
            <a:spLocks noGrp="1"/>
          </p:cNvSpPr>
          <p:nvPr>
            <p:ph type="sldNum" sz="quarter" idx="12"/>
          </p:nvPr>
        </p:nvSpPr>
        <p:spPr/>
        <p:txBody>
          <a:bodyPr/>
          <a:lstStyle/>
          <a:p>
            <a:fld id="{C1FF6DA9-008F-8B48-92A6-B652298478BF}" type="slidenum">
              <a:rPr lang="en-US" smtClean="0"/>
              <a:t>6</a:t>
            </a:fld>
            <a:endParaRPr lang="en-US"/>
          </a:p>
        </p:txBody>
      </p:sp>
      <p:sp>
        <p:nvSpPr>
          <p:cNvPr id="6" name="TextBox 10">
            <a:extLst>
              <a:ext uri="{FF2B5EF4-FFF2-40B4-BE49-F238E27FC236}">
                <a16:creationId xmlns:a16="http://schemas.microsoft.com/office/drawing/2014/main" id="{BFFE270C-4F17-E5B3-388D-54BEA5EFE931}"/>
              </a:ext>
            </a:extLst>
          </p:cNvPr>
          <p:cNvSpPr txBox="1"/>
          <p:nvPr/>
        </p:nvSpPr>
        <p:spPr>
          <a:xfrm>
            <a:off x="594359" y="3744783"/>
            <a:ext cx="11147698" cy="1538883"/>
          </a:xfrm>
          <a:prstGeom prst="rect">
            <a:avLst/>
          </a:prstGeom>
          <a:noFill/>
        </p:spPr>
        <p:txBody>
          <a:bodyPr wrap="square" lIns="0" tIns="0" rIns="0" bIns="0" anchor="t">
            <a:spAutoFit/>
          </a:bodyPr>
          <a:lstStyle/>
          <a:p>
            <a:pPr algn="l"/>
            <a:r>
              <a:rPr lang="de-CH" sz="2000" dirty="0">
                <a:solidFill>
                  <a:srgbClr val="171717"/>
                </a:solidFill>
                <a:latin typeface="Aptos"/>
              </a:rPr>
              <a:t>Tipps:</a:t>
            </a:r>
          </a:p>
          <a:p>
            <a:pPr marL="342900" indent="-342900" algn="l">
              <a:buFontTx/>
              <a:buChar char="-"/>
            </a:pPr>
            <a:r>
              <a:rPr lang="de-CH" sz="2000" dirty="0">
                <a:solidFill>
                  <a:srgbClr val="171717"/>
                </a:solidFill>
                <a:latin typeface="Aptos"/>
              </a:rPr>
              <a:t>Binärumrechnung: nutzt diese Tabelle da ihr so jeweils direkt den dazugehörigen Wert seht (und habt noch eine Tabelle dabei mit Zahlen von so ca. 0-200  </a:t>
            </a:r>
          </a:p>
          <a:p>
            <a:pPr marL="342900" indent="-342900" algn="l">
              <a:buFontTx/>
              <a:buChar char="-"/>
            </a:pPr>
            <a:r>
              <a:rPr lang="de-CH" sz="2000" dirty="0">
                <a:solidFill>
                  <a:srgbClr val="171717"/>
                </a:solidFill>
                <a:latin typeface="Aptos"/>
              </a:rPr>
              <a:t>Schreibt Zahlen in Hex hin also A=10, B=11 etc. Spart euch </a:t>
            </a:r>
            <a:r>
              <a:rPr lang="de-CH" sz="2000" dirty="0" err="1">
                <a:solidFill>
                  <a:srgbClr val="171717"/>
                </a:solidFill>
                <a:latin typeface="Aptos"/>
              </a:rPr>
              <a:t>Denkzeit</a:t>
            </a:r>
            <a:endParaRPr lang="de-CH" sz="2000" dirty="0">
              <a:solidFill>
                <a:srgbClr val="171717"/>
              </a:solidFill>
              <a:latin typeface="Aptos"/>
            </a:endParaRPr>
          </a:p>
          <a:p>
            <a:pPr marL="342900" indent="-342900" algn="l">
              <a:buFontTx/>
              <a:buChar char="-"/>
            </a:pPr>
            <a:endParaRPr lang="de-CH" sz="2000" dirty="0">
              <a:solidFill>
                <a:srgbClr val="171717"/>
              </a:solidFill>
              <a:latin typeface="Aptos"/>
            </a:endParaRPr>
          </a:p>
        </p:txBody>
      </p:sp>
      <p:pic>
        <p:nvPicPr>
          <p:cNvPr id="10" name="Grafik 9">
            <a:extLst>
              <a:ext uri="{FF2B5EF4-FFF2-40B4-BE49-F238E27FC236}">
                <a16:creationId xmlns:a16="http://schemas.microsoft.com/office/drawing/2014/main" id="{888E860D-3FE3-FCE3-2875-52851F7E6624}"/>
              </a:ext>
            </a:extLst>
          </p:cNvPr>
          <p:cNvPicPr>
            <a:picLocks noChangeAspect="1"/>
          </p:cNvPicPr>
          <p:nvPr/>
        </p:nvPicPr>
        <p:blipFill>
          <a:blip r:embed="rId3"/>
          <a:stretch>
            <a:fillRect/>
          </a:stretch>
        </p:blipFill>
        <p:spPr>
          <a:xfrm>
            <a:off x="7971286" y="2924104"/>
            <a:ext cx="3429479" cy="1009791"/>
          </a:xfrm>
          <a:prstGeom prst="rect">
            <a:avLst/>
          </a:prstGeom>
        </p:spPr>
      </p:pic>
      <p:pic>
        <p:nvPicPr>
          <p:cNvPr id="13" name="Grafik 12">
            <a:extLst>
              <a:ext uri="{FF2B5EF4-FFF2-40B4-BE49-F238E27FC236}">
                <a16:creationId xmlns:a16="http://schemas.microsoft.com/office/drawing/2014/main" id="{DF6E84DC-1A48-FB30-B7A0-66D683E1B787}"/>
              </a:ext>
            </a:extLst>
          </p:cNvPr>
          <p:cNvPicPr>
            <a:picLocks noChangeAspect="1"/>
          </p:cNvPicPr>
          <p:nvPr/>
        </p:nvPicPr>
        <p:blipFill>
          <a:blip r:embed="rId4"/>
          <a:stretch>
            <a:fillRect/>
          </a:stretch>
        </p:blipFill>
        <p:spPr>
          <a:xfrm>
            <a:off x="8561919" y="4723152"/>
            <a:ext cx="2838846" cy="219106"/>
          </a:xfrm>
          <a:prstGeom prst="rect">
            <a:avLst/>
          </a:prstGeom>
        </p:spPr>
      </p:pic>
      <p:sp>
        <p:nvSpPr>
          <p:cNvPr id="18" name="TextBox 2">
            <a:extLst>
              <a:ext uri="{FF2B5EF4-FFF2-40B4-BE49-F238E27FC236}">
                <a16:creationId xmlns:a16="http://schemas.microsoft.com/office/drawing/2014/main" id="{7134F061-4446-1703-3BFF-5D8EF954E2A9}"/>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Tree>
    <p:extLst>
      <p:ext uri="{BB962C8B-B14F-4D97-AF65-F5344CB8AC3E}">
        <p14:creationId xmlns:p14="http://schemas.microsoft.com/office/powerpoint/2010/main" val="888822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15859-4927-27C3-4EE0-9877F2A5E90C}"/>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8E7B0AD4-DFF5-EADF-A34A-6A7AB9A0A55D}"/>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6291383-F4A6-9707-E7D9-A3BA450579AE}"/>
              </a:ext>
            </a:extLst>
          </p:cNvPr>
          <p:cNvSpPr txBox="1"/>
          <p:nvPr/>
        </p:nvSpPr>
        <p:spPr>
          <a:xfrm>
            <a:off x="594360" y="932688"/>
            <a:ext cx="5906553" cy="477054"/>
          </a:xfrm>
          <a:prstGeom prst="rect">
            <a:avLst/>
          </a:prstGeom>
          <a:noFill/>
        </p:spPr>
        <p:txBody>
          <a:bodyPr wrap="none" lIns="0" tIns="0" rIns="0" bIns="0" anchor="t">
            <a:spAutoFit/>
          </a:bodyPr>
          <a:lstStyle/>
          <a:p>
            <a:pPr algn="l"/>
            <a:r>
              <a:rPr lang="de-CH" sz="3100" b="1" dirty="0">
                <a:solidFill>
                  <a:srgbClr val="171717"/>
                </a:solidFill>
                <a:latin typeface="Aptos"/>
              </a:rPr>
              <a:t>KV-Diagramme schnell ausfüllen</a:t>
            </a:r>
            <a:endParaRPr sz="3100" b="1" dirty="0">
              <a:solidFill>
                <a:srgbClr val="171717"/>
              </a:solidFill>
              <a:latin typeface="Aptos"/>
            </a:endParaRPr>
          </a:p>
        </p:txBody>
      </p:sp>
      <p:sp>
        <p:nvSpPr>
          <p:cNvPr id="15" name="Datumsplatzhalter 14">
            <a:extLst>
              <a:ext uri="{FF2B5EF4-FFF2-40B4-BE49-F238E27FC236}">
                <a16:creationId xmlns:a16="http://schemas.microsoft.com/office/drawing/2014/main" id="{1B6E612E-399D-E861-3E93-AD5F2B4D562A}"/>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EA4248B5-5B7B-ACB4-CF82-0D10F7232FF3}"/>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38685742-5F09-F701-06F5-8453FBFB651E}"/>
              </a:ext>
            </a:extLst>
          </p:cNvPr>
          <p:cNvSpPr>
            <a:spLocks noGrp="1"/>
          </p:cNvSpPr>
          <p:nvPr>
            <p:ph type="sldNum" sz="quarter" idx="12"/>
          </p:nvPr>
        </p:nvSpPr>
        <p:spPr/>
        <p:txBody>
          <a:bodyPr/>
          <a:lstStyle/>
          <a:p>
            <a:fld id="{C1FF6DA9-008F-8B48-92A6-B652298478BF}" type="slidenum">
              <a:rPr lang="en-US" smtClean="0"/>
              <a:t>7</a:t>
            </a:fld>
            <a:endParaRPr lang="en-US"/>
          </a:p>
        </p:txBody>
      </p:sp>
      <p:sp>
        <p:nvSpPr>
          <p:cNvPr id="7" name="TextBox 2">
            <a:extLst>
              <a:ext uri="{FF2B5EF4-FFF2-40B4-BE49-F238E27FC236}">
                <a16:creationId xmlns:a16="http://schemas.microsoft.com/office/drawing/2014/main" id="{3470E193-E95B-1DC8-A133-F8CFD0370D85}"/>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pic>
        <p:nvPicPr>
          <p:cNvPr id="9" name="Grafik 8">
            <a:extLst>
              <a:ext uri="{FF2B5EF4-FFF2-40B4-BE49-F238E27FC236}">
                <a16:creationId xmlns:a16="http://schemas.microsoft.com/office/drawing/2014/main" id="{0B3FF0FA-D0B9-E934-9951-9E381AF1A81A}"/>
              </a:ext>
            </a:extLst>
          </p:cNvPr>
          <p:cNvPicPr>
            <a:picLocks noChangeAspect="1"/>
          </p:cNvPicPr>
          <p:nvPr/>
        </p:nvPicPr>
        <p:blipFill>
          <a:blip r:embed="rId3"/>
          <a:stretch>
            <a:fillRect/>
          </a:stretch>
        </p:blipFill>
        <p:spPr>
          <a:xfrm>
            <a:off x="1540166" y="1449851"/>
            <a:ext cx="8733614" cy="4932661"/>
          </a:xfrm>
          <a:prstGeom prst="rect">
            <a:avLst/>
          </a:prstGeom>
        </p:spPr>
      </p:pic>
    </p:spTree>
    <p:extLst>
      <p:ext uri="{BB962C8B-B14F-4D97-AF65-F5344CB8AC3E}">
        <p14:creationId xmlns:p14="http://schemas.microsoft.com/office/powerpoint/2010/main" val="2789090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36F0E-243F-8257-73F1-D3FDFB8D1DAE}"/>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EA023B87-9502-11E0-E59B-795315BE3150}"/>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D7F96D1-A651-8D18-C41F-9A45DBC998D1}"/>
              </a:ext>
            </a:extLst>
          </p:cNvPr>
          <p:cNvSpPr txBox="1"/>
          <p:nvPr/>
        </p:nvSpPr>
        <p:spPr>
          <a:xfrm>
            <a:off x="594360" y="932688"/>
            <a:ext cx="3792320" cy="477054"/>
          </a:xfrm>
          <a:prstGeom prst="rect">
            <a:avLst/>
          </a:prstGeom>
          <a:noFill/>
        </p:spPr>
        <p:txBody>
          <a:bodyPr wrap="none" lIns="0" tIns="0" rIns="0" bIns="0" anchor="t">
            <a:spAutoFit/>
          </a:bodyPr>
          <a:lstStyle/>
          <a:p>
            <a:pPr algn="l"/>
            <a:r>
              <a:rPr lang="de-CH" sz="3100" b="1" dirty="0">
                <a:solidFill>
                  <a:srgbClr val="171717"/>
                </a:solidFill>
                <a:latin typeface="Aptos"/>
              </a:rPr>
              <a:t>Tipps zu den Fächern</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A842F46E-AF42-F6E5-10F4-C82118C209B7}"/>
              </a:ext>
            </a:extLst>
          </p:cNvPr>
          <p:cNvSpPr txBox="1"/>
          <p:nvPr/>
        </p:nvSpPr>
        <p:spPr>
          <a:xfrm>
            <a:off x="594360" y="1574334"/>
            <a:ext cx="8948796" cy="1231106"/>
          </a:xfrm>
          <a:prstGeom prst="rect">
            <a:avLst/>
          </a:prstGeom>
          <a:noFill/>
        </p:spPr>
        <p:txBody>
          <a:bodyPr wrap="none" lIns="0" tIns="0" rIns="0" bIns="0" anchor="t">
            <a:spAutoFit/>
          </a:bodyPr>
          <a:lstStyle/>
          <a:p>
            <a:pPr marL="342900" indent="-342900" algn="l">
              <a:buFont typeface="Arial" panose="020B0604020202020204" pitchFamily="34" charset="0"/>
              <a:buChar char="•"/>
            </a:pPr>
            <a:r>
              <a:rPr lang="de-CH" sz="2000" dirty="0" err="1">
                <a:solidFill>
                  <a:srgbClr val="171717"/>
                </a:solidFill>
                <a:latin typeface="Aptos"/>
              </a:rPr>
              <a:t>LinAlg</a:t>
            </a:r>
            <a:r>
              <a:rPr lang="de-CH" sz="2000" dirty="0">
                <a:solidFill>
                  <a:srgbClr val="171717"/>
                </a:solidFill>
                <a:latin typeface="Aptos"/>
              </a:rPr>
              <a:t>: (Leider andere Prof)</a:t>
            </a:r>
            <a:br>
              <a:rPr lang="de-CH" sz="2000" dirty="0">
                <a:solidFill>
                  <a:srgbClr val="171717"/>
                </a:solidFill>
                <a:latin typeface="Aptos"/>
              </a:rPr>
            </a:br>
            <a:r>
              <a:rPr lang="de-CH" sz="2000" dirty="0">
                <a:solidFill>
                  <a:srgbClr val="171717"/>
                </a:solidFill>
                <a:latin typeface="Aptos"/>
              </a:rPr>
              <a:t>- Serien sind sicher wichtig</a:t>
            </a:r>
            <a:br>
              <a:rPr lang="de-CH" sz="2000" dirty="0">
                <a:solidFill>
                  <a:srgbClr val="171717"/>
                </a:solidFill>
                <a:latin typeface="Aptos"/>
              </a:rPr>
            </a:br>
            <a:r>
              <a:rPr lang="de-CH" sz="2000" dirty="0">
                <a:solidFill>
                  <a:srgbClr val="171717"/>
                </a:solidFill>
                <a:latin typeface="Aptos"/>
              </a:rPr>
              <a:t>- Versucht zu verstehen was genau dahinter ist. Somit fällt es euch viel leichter</a:t>
            </a:r>
            <a:br>
              <a:rPr lang="de-CH" sz="2000" dirty="0">
                <a:solidFill>
                  <a:srgbClr val="171717"/>
                </a:solidFill>
                <a:latin typeface="Aptos"/>
              </a:rPr>
            </a:br>
            <a:r>
              <a:rPr lang="de-CH" sz="2000" dirty="0">
                <a:solidFill>
                  <a:srgbClr val="171717"/>
                </a:solidFill>
                <a:latin typeface="Aptos"/>
              </a:rPr>
              <a:t>- Prüfung kann je nachdem schwer werden (</a:t>
            </a:r>
            <a:r>
              <a:rPr lang="de-CH" sz="2000" dirty="0" err="1">
                <a:solidFill>
                  <a:srgbClr val="171717"/>
                </a:solidFill>
                <a:latin typeface="Aptos"/>
              </a:rPr>
              <a:t>aaaber</a:t>
            </a:r>
            <a:r>
              <a:rPr lang="de-CH" sz="2000" dirty="0">
                <a:solidFill>
                  <a:srgbClr val="171717"/>
                </a:solidFill>
                <a:latin typeface="Aptos"/>
              </a:rPr>
              <a:t>, sie korrigieren sehr nett)</a:t>
            </a:r>
          </a:p>
        </p:txBody>
      </p:sp>
      <p:sp>
        <p:nvSpPr>
          <p:cNvPr id="15" name="Datumsplatzhalter 14">
            <a:extLst>
              <a:ext uri="{FF2B5EF4-FFF2-40B4-BE49-F238E27FC236}">
                <a16:creationId xmlns:a16="http://schemas.microsoft.com/office/drawing/2014/main" id="{52AFB802-066D-87CC-AB37-F5CFD0F1A64C}"/>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4D911AE1-AEC2-D530-48F1-62696D869462}"/>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EA100372-BEED-6870-A29C-EECD8D01ED18}"/>
              </a:ext>
            </a:extLst>
          </p:cNvPr>
          <p:cNvSpPr>
            <a:spLocks noGrp="1"/>
          </p:cNvSpPr>
          <p:nvPr>
            <p:ph type="sldNum" sz="quarter" idx="12"/>
          </p:nvPr>
        </p:nvSpPr>
        <p:spPr/>
        <p:txBody>
          <a:bodyPr/>
          <a:lstStyle/>
          <a:p>
            <a:fld id="{C1FF6DA9-008F-8B48-92A6-B652298478BF}" type="slidenum">
              <a:rPr lang="en-US" smtClean="0"/>
              <a:t>8</a:t>
            </a:fld>
            <a:endParaRPr lang="en-US"/>
          </a:p>
        </p:txBody>
      </p:sp>
      <p:sp>
        <p:nvSpPr>
          <p:cNvPr id="6" name="TextBox 10">
            <a:extLst>
              <a:ext uri="{FF2B5EF4-FFF2-40B4-BE49-F238E27FC236}">
                <a16:creationId xmlns:a16="http://schemas.microsoft.com/office/drawing/2014/main" id="{5545EC9A-CC08-6474-D524-5B5EB5BEA555}"/>
              </a:ext>
            </a:extLst>
          </p:cNvPr>
          <p:cNvSpPr txBox="1"/>
          <p:nvPr/>
        </p:nvSpPr>
        <p:spPr>
          <a:xfrm>
            <a:off x="594359" y="3744783"/>
            <a:ext cx="9367788" cy="2462213"/>
          </a:xfrm>
          <a:prstGeom prst="rect">
            <a:avLst/>
          </a:prstGeom>
          <a:noFill/>
        </p:spPr>
        <p:txBody>
          <a:bodyPr wrap="square" lIns="0" tIns="0" rIns="0" bIns="0" anchor="t">
            <a:spAutoFit/>
          </a:bodyPr>
          <a:lstStyle/>
          <a:p>
            <a:r>
              <a:rPr lang="de-CH" sz="2000" dirty="0">
                <a:solidFill>
                  <a:srgbClr val="171717"/>
                </a:solidFill>
                <a:latin typeface="Aptos"/>
              </a:rPr>
              <a:t>Tipps:</a:t>
            </a:r>
            <a:br>
              <a:rPr lang="de-CH" sz="2000" dirty="0">
                <a:solidFill>
                  <a:srgbClr val="171717"/>
                </a:solidFill>
                <a:latin typeface="Aptos"/>
              </a:rPr>
            </a:br>
            <a:r>
              <a:rPr lang="de-CH" sz="2000" dirty="0">
                <a:solidFill>
                  <a:srgbClr val="171717"/>
                </a:solidFill>
                <a:latin typeface="Aptos"/>
              </a:rPr>
              <a:t>- Sehr gute Playlist zur Veranschaulichung: </a:t>
            </a:r>
            <a:r>
              <a:rPr lang="de-CH" sz="2000" dirty="0">
                <a:solidFill>
                  <a:srgbClr val="171717"/>
                </a:solidFill>
                <a:latin typeface="Aptos"/>
                <a:hlinkClick r:id="rId3"/>
              </a:rPr>
              <a:t>https://www.youtube.com/playlist?list=PLZHQObOWTQDPD3MizzM2xVFitgF8hE_ab</a:t>
            </a:r>
            <a:endParaRPr lang="de-CH" sz="2000" dirty="0">
              <a:solidFill>
                <a:srgbClr val="171717"/>
              </a:solidFill>
              <a:latin typeface="Aptos"/>
            </a:endParaRPr>
          </a:p>
          <a:p>
            <a:pPr marL="342900" indent="-342900" algn="l">
              <a:buFontTx/>
              <a:buChar char="-"/>
            </a:pPr>
            <a:r>
              <a:rPr lang="de-CH" sz="2000" dirty="0">
                <a:solidFill>
                  <a:srgbClr val="171717"/>
                </a:solidFill>
                <a:latin typeface="Aptos"/>
              </a:rPr>
              <a:t>Übung macht den Meister, viel üben ist hier wichtig, um Fehler zu vermeiden</a:t>
            </a:r>
          </a:p>
          <a:p>
            <a:pPr marL="342900" indent="-342900" algn="l">
              <a:buFontTx/>
              <a:buChar char="-"/>
            </a:pPr>
            <a:r>
              <a:rPr lang="de-CH" sz="2000" dirty="0">
                <a:solidFill>
                  <a:srgbClr val="171717"/>
                </a:solidFill>
                <a:latin typeface="Aptos"/>
              </a:rPr>
              <a:t>Spur einer Matrix (Also Summe der Diagonalelemente) ist die Summe der Eigenwerte</a:t>
            </a:r>
          </a:p>
          <a:p>
            <a:pPr marL="342900" indent="-342900" algn="l">
              <a:buFontTx/>
              <a:buChar char="-"/>
            </a:pPr>
            <a:r>
              <a:rPr lang="de-CH" sz="2000" dirty="0">
                <a:solidFill>
                  <a:srgbClr val="171717"/>
                </a:solidFill>
                <a:latin typeface="Aptos"/>
              </a:rPr>
              <a:t>Wissen wie man 2x2 Matrix schnell invertiert</a:t>
            </a:r>
          </a:p>
          <a:p>
            <a:pPr marL="342900" indent="-342900" algn="l">
              <a:buFontTx/>
              <a:buChar char="-"/>
            </a:pPr>
            <a:endParaRPr lang="de-CH" sz="2000" dirty="0">
              <a:solidFill>
                <a:srgbClr val="171717"/>
              </a:solidFill>
              <a:latin typeface="Aptos"/>
            </a:endParaRPr>
          </a:p>
        </p:txBody>
      </p:sp>
      <p:pic>
        <p:nvPicPr>
          <p:cNvPr id="5" name="Grafik 4" descr="Spur einer Matrix">
            <a:extLst>
              <a:ext uri="{FF2B5EF4-FFF2-40B4-BE49-F238E27FC236}">
                <a16:creationId xmlns:a16="http://schemas.microsoft.com/office/drawing/2014/main" id="{D4C2D3C3-7315-DF97-B61E-28438B954027}"/>
              </a:ext>
            </a:extLst>
          </p:cNvPr>
          <p:cNvPicPr>
            <a:picLocks noChangeAspect="1"/>
          </p:cNvPicPr>
          <p:nvPr/>
        </p:nvPicPr>
        <p:blipFill>
          <a:blip r:embed="rId4"/>
          <a:stretch>
            <a:fillRect/>
          </a:stretch>
        </p:blipFill>
        <p:spPr>
          <a:xfrm>
            <a:off x="9296400" y="4728210"/>
            <a:ext cx="2895600" cy="1628140"/>
          </a:xfrm>
          <a:prstGeom prst="rect">
            <a:avLst/>
          </a:prstGeom>
        </p:spPr>
      </p:pic>
      <p:pic>
        <p:nvPicPr>
          <p:cNvPr id="7" name="Grafik 6" descr="Inverse 2x2">
            <a:extLst>
              <a:ext uri="{FF2B5EF4-FFF2-40B4-BE49-F238E27FC236}">
                <a16:creationId xmlns:a16="http://schemas.microsoft.com/office/drawing/2014/main" id="{B999007D-8412-8714-E393-10ABB193A6AA}"/>
              </a:ext>
            </a:extLst>
          </p:cNvPr>
          <p:cNvPicPr>
            <a:picLocks noChangeAspect="1"/>
          </p:cNvPicPr>
          <p:nvPr/>
        </p:nvPicPr>
        <p:blipFill>
          <a:blip r:embed="rId5"/>
          <a:stretch>
            <a:fillRect/>
          </a:stretch>
        </p:blipFill>
        <p:spPr>
          <a:xfrm>
            <a:off x="8608509" y="115387"/>
            <a:ext cx="3517426" cy="1978552"/>
          </a:xfrm>
          <a:prstGeom prst="rect">
            <a:avLst/>
          </a:prstGeom>
        </p:spPr>
      </p:pic>
      <p:sp>
        <p:nvSpPr>
          <p:cNvPr id="9" name="TextBox 2">
            <a:extLst>
              <a:ext uri="{FF2B5EF4-FFF2-40B4-BE49-F238E27FC236}">
                <a16:creationId xmlns:a16="http://schemas.microsoft.com/office/drawing/2014/main" id="{0758F32A-641A-00FF-AE2D-F7FE22D460C3}"/>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Tree>
    <p:extLst>
      <p:ext uri="{BB962C8B-B14F-4D97-AF65-F5344CB8AC3E}">
        <p14:creationId xmlns:p14="http://schemas.microsoft.com/office/powerpoint/2010/main" val="43130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D7532-8DFD-64FD-FC38-B22DE7F403F3}"/>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FC38BE7A-F478-806E-CB58-FD2D2D2726DC}"/>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97DEB171-9B20-1F57-EED5-4A18F4CD9E17}"/>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
        <p:nvSpPr>
          <p:cNvPr id="4" name="TextBox 3">
            <a:extLst>
              <a:ext uri="{FF2B5EF4-FFF2-40B4-BE49-F238E27FC236}">
                <a16:creationId xmlns:a16="http://schemas.microsoft.com/office/drawing/2014/main" id="{6E18CFE2-7EC2-CC12-F747-6C9C43398025}"/>
              </a:ext>
            </a:extLst>
          </p:cNvPr>
          <p:cNvSpPr txBox="1"/>
          <p:nvPr/>
        </p:nvSpPr>
        <p:spPr>
          <a:xfrm>
            <a:off x="594360" y="932688"/>
            <a:ext cx="3792320" cy="477054"/>
          </a:xfrm>
          <a:prstGeom prst="rect">
            <a:avLst/>
          </a:prstGeom>
          <a:noFill/>
        </p:spPr>
        <p:txBody>
          <a:bodyPr wrap="none" lIns="0" tIns="0" rIns="0" bIns="0" anchor="t">
            <a:spAutoFit/>
          </a:bodyPr>
          <a:lstStyle/>
          <a:p>
            <a:pPr algn="l"/>
            <a:r>
              <a:rPr lang="de-CH" sz="3100" b="1" dirty="0">
                <a:solidFill>
                  <a:srgbClr val="171717"/>
                </a:solidFill>
                <a:latin typeface="Aptos"/>
              </a:rPr>
              <a:t>Tipps zu den Fächern</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36726220-3227-ED26-88C6-F2CB2B3E5867}"/>
              </a:ext>
            </a:extLst>
          </p:cNvPr>
          <p:cNvSpPr txBox="1"/>
          <p:nvPr/>
        </p:nvSpPr>
        <p:spPr>
          <a:xfrm>
            <a:off x="594360" y="1479211"/>
            <a:ext cx="11335971" cy="4001095"/>
          </a:xfrm>
          <a:prstGeom prst="rect">
            <a:avLst/>
          </a:prstGeom>
          <a:noFill/>
        </p:spPr>
        <p:txBody>
          <a:bodyPr wrap="square" lIns="0" tIns="0" rIns="0" bIns="0" anchor="t">
            <a:spAutoFit/>
          </a:bodyPr>
          <a:lstStyle/>
          <a:p>
            <a:pPr marL="342900" indent="-342900">
              <a:buFont typeface="Arial" panose="020B0604020202020204" pitchFamily="34" charset="0"/>
              <a:buChar char="•"/>
            </a:pPr>
            <a:r>
              <a:rPr lang="de-CH" sz="2000" dirty="0">
                <a:solidFill>
                  <a:srgbClr val="171717"/>
                </a:solidFill>
                <a:latin typeface="Aptos"/>
              </a:rPr>
              <a:t>Analysis</a:t>
            </a:r>
          </a:p>
          <a:p>
            <a:pPr lvl="1"/>
            <a:r>
              <a:rPr lang="de-CH" sz="2000" dirty="0">
                <a:solidFill>
                  <a:srgbClr val="171717"/>
                </a:solidFill>
                <a:latin typeface="Aptos"/>
              </a:rPr>
              <a:t>-Serien-Fokus: Versucht die Serien zu lösen – im Zweifel zumindest die Aufgaben mit Stern (*). Im Notfall nicht komplett abreißen lassen, sondern dranbleiben.</a:t>
            </a:r>
          </a:p>
          <a:p>
            <a:pPr lvl="1"/>
            <a:r>
              <a:rPr lang="de-CH" sz="2000" dirty="0">
                <a:solidFill>
                  <a:srgbClr val="171717"/>
                </a:solidFill>
                <a:latin typeface="Aptos"/>
              </a:rPr>
              <a:t>- Aktives Verstehen via KI (Feynman-Methode): Geht das Skript zusammen mit einer KI durch und erklärt der KI die Definitionen selbst. Lasst euch von ihr überprüfen, wo ihr ungenau seid. Wenn man Dinge nur passiv liest, vergisst man sie sofort wieder. (Achtung KI, kann oft zu bestätigend sein, ihr müsst ihr sagen, dass sie kritisch sein soll) (Gemini hat unendlich Uploads und ihr könnt </a:t>
            </a:r>
            <a:r>
              <a:rPr lang="de-CH" sz="2000" dirty="0" err="1">
                <a:solidFill>
                  <a:srgbClr val="171717"/>
                </a:solidFill>
                <a:latin typeface="Aptos"/>
              </a:rPr>
              <a:t>edu</a:t>
            </a:r>
            <a:r>
              <a:rPr lang="de-CH" sz="2000" dirty="0">
                <a:solidFill>
                  <a:srgbClr val="171717"/>
                </a:solidFill>
                <a:latin typeface="Aptos"/>
              </a:rPr>
              <a:t> plan über ETH bekommen)</a:t>
            </a:r>
          </a:p>
          <a:p>
            <a:pPr lvl="1"/>
            <a:r>
              <a:rPr lang="de-CH" sz="2000" dirty="0">
                <a:solidFill>
                  <a:srgbClr val="171717"/>
                </a:solidFill>
                <a:latin typeface="Aptos"/>
              </a:rPr>
              <a:t>- Frühe Formelsammlung: Fangt früh mit der Formelsammlung an. So könnt ihr direkt anfangen zu sehen wo was ist und müsst viele Definitionen nicht mühsam online oder im Skript nachschauen</a:t>
            </a:r>
            <a:br>
              <a:rPr lang="de-CH" sz="2000" dirty="0">
                <a:solidFill>
                  <a:srgbClr val="171717"/>
                </a:solidFill>
                <a:latin typeface="Aptos"/>
              </a:rPr>
            </a:br>
            <a:r>
              <a:rPr lang="de-CH" sz="2000" dirty="0">
                <a:solidFill>
                  <a:srgbClr val="171717"/>
                </a:solidFill>
                <a:latin typeface="Aptos"/>
              </a:rPr>
              <a:t>- Formelsammlung zuerst eine bekannte ausdrucken und dann im Sommer abschreiben :) (ich lade euch die hoch die ich verwendet habe)</a:t>
            </a:r>
            <a:br>
              <a:rPr lang="de-CH" sz="2000" dirty="0">
                <a:solidFill>
                  <a:srgbClr val="171717"/>
                </a:solidFill>
                <a:latin typeface="Aptos"/>
              </a:rPr>
            </a:br>
            <a:endParaRPr lang="de-CH" sz="2000" dirty="0">
              <a:solidFill>
                <a:srgbClr val="171717"/>
              </a:solidFill>
              <a:latin typeface="Aptos"/>
            </a:endParaRPr>
          </a:p>
        </p:txBody>
      </p:sp>
      <p:sp>
        <p:nvSpPr>
          <p:cNvPr id="15" name="Datumsplatzhalter 14">
            <a:extLst>
              <a:ext uri="{FF2B5EF4-FFF2-40B4-BE49-F238E27FC236}">
                <a16:creationId xmlns:a16="http://schemas.microsoft.com/office/drawing/2014/main" id="{63DD2982-DF23-E1EE-49BB-A7A353F7FCEB}"/>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53D8A669-14B0-DC8B-F3E6-F163E673FC73}"/>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254FE08D-9D98-4DF9-AFEA-D655295829D4}"/>
              </a:ext>
            </a:extLst>
          </p:cNvPr>
          <p:cNvSpPr>
            <a:spLocks noGrp="1"/>
          </p:cNvSpPr>
          <p:nvPr>
            <p:ph type="sldNum" sz="quarter" idx="12"/>
          </p:nvPr>
        </p:nvSpPr>
        <p:spPr/>
        <p:txBody>
          <a:bodyPr/>
          <a:lstStyle/>
          <a:p>
            <a:fld id="{C1FF6DA9-008F-8B48-92A6-B652298478BF}" type="slidenum">
              <a:rPr lang="en-US" smtClean="0"/>
              <a:t>9</a:t>
            </a:fld>
            <a:endParaRPr lang="en-US"/>
          </a:p>
        </p:txBody>
      </p:sp>
    </p:spTree>
    <p:extLst>
      <p:ext uri="{BB962C8B-B14F-4D97-AF65-F5344CB8AC3E}">
        <p14:creationId xmlns:p14="http://schemas.microsoft.com/office/powerpoint/2010/main" val="1809696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CE74B-0E22-9250-12EC-C032C7BA9233}"/>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24342547-81C7-DD5C-E168-124467B902DC}"/>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5DE4556D-3B0F-7115-CFD6-4ABF4853F1DD}"/>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
        <p:nvSpPr>
          <p:cNvPr id="4" name="TextBox 3">
            <a:extLst>
              <a:ext uri="{FF2B5EF4-FFF2-40B4-BE49-F238E27FC236}">
                <a16:creationId xmlns:a16="http://schemas.microsoft.com/office/drawing/2014/main" id="{5620966F-E48B-F6CE-4B47-278F75B80FFF}"/>
              </a:ext>
            </a:extLst>
          </p:cNvPr>
          <p:cNvSpPr txBox="1"/>
          <p:nvPr/>
        </p:nvSpPr>
        <p:spPr>
          <a:xfrm>
            <a:off x="594360" y="932688"/>
            <a:ext cx="7320017" cy="477054"/>
          </a:xfrm>
          <a:prstGeom prst="rect">
            <a:avLst/>
          </a:prstGeom>
          <a:noFill/>
        </p:spPr>
        <p:txBody>
          <a:bodyPr wrap="none" lIns="0" tIns="0" rIns="0" bIns="0" anchor="t">
            <a:spAutoFit/>
          </a:bodyPr>
          <a:lstStyle/>
          <a:p>
            <a:pPr algn="l"/>
            <a:r>
              <a:rPr lang="de-CH" sz="3100" b="1" dirty="0">
                <a:solidFill>
                  <a:srgbClr val="171717"/>
                </a:solidFill>
                <a:latin typeface="Aptos"/>
              </a:rPr>
              <a:t>Auf was während dem Semester achten?</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6A6A83B5-2768-E639-AB63-A1020102EBF4}"/>
              </a:ext>
            </a:extLst>
          </p:cNvPr>
          <p:cNvSpPr txBox="1"/>
          <p:nvPr/>
        </p:nvSpPr>
        <p:spPr>
          <a:xfrm>
            <a:off x="594360" y="1574334"/>
            <a:ext cx="10945368" cy="1538883"/>
          </a:xfrm>
          <a:prstGeom prst="rect">
            <a:avLst/>
          </a:prstGeom>
          <a:noFill/>
        </p:spPr>
        <p:txBody>
          <a:bodyPr wrap="square" lIns="0" tIns="0" rIns="0" bIns="0" anchor="t">
            <a:spAutoFit/>
          </a:bodyPr>
          <a:lstStyle/>
          <a:p>
            <a:pPr marL="342900" indent="-342900" algn="l">
              <a:buFont typeface="Arial" panose="020B0604020202020204" pitchFamily="34" charset="0"/>
              <a:buChar char="•"/>
            </a:pPr>
            <a:r>
              <a:rPr lang="de-CH" sz="2000" dirty="0">
                <a:solidFill>
                  <a:srgbClr val="171717"/>
                </a:solidFill>
                <a:latin typeface="Aptos"/>
              </a:rPr>
              <a:t>Notenbonus/Midterms (Nicht verpassen und sind wirklich </a:t>
            </a:r>
            <a:r>
              <a:rPr lang="de-CH" sz="2000" dirty="0" err="1">
                <a:solidFill>
                  <a:srgbClr val="171717"/>
                </a:solidFill>
                <a:latin typeface="Aptos"/>
              </a:rPr>
              <a:t>free</a:t>
            </a:r>
            <a:r>
              <a:rPr lang="de-CH" sz="2000" dirty="0">
                <a:solidFill>
                  <a:srgbClr val="171717"/>
                </a:solidFill>
                <a:latin typeface="Aptos"/>
              </a:rPr>
              <a:t> Note)</a:t>
            </a:r>
          </a:p>
          <a:p>
            <a:pPr marL="342900" indent="-342900" algn="l">
              <a:buFont typeface="Arial" panose="020B0604020202020204" pitchFamily="34" charset="0"/>
              <a:buChar char="•"/>
            </a:pPr>
            <a:r>
              <a:rPr lang="de-CH" sz="2000" dirty="0">
                <a:solidFill>
                  <a:srgbClr val="171717"/>
                </a:solidFill>
                <a:latin typeface="Aptos"/>
              </a:rPr>
              <a:t>Ausgleich nicht vergessen (Das Leben besteht nicht nur aus Studium)</a:t>
            </a:r>
          </a:p>
          <a:p>
            <a:pPr marL="342900" indent="-342900" algn="l">
              <a:buFont typeface="Arial" panose="020B0604020202020204" pitchFamily="34" charset="0"/>
              <a:buChar char="•"/>
            </a:pPr>
            <a:r>
              <a:rPr lang="de-CH" sz="2000" dirty="0">
                <a:solidFill>
                  <a:srgbClr val="171717"/>
                </a:solidFill>
                <a:latin typeface="Aptos"/>
              </a:rPr>
              <a:t>Serien (Löst die Serien, um euer Wissen zu festigen, Prüfungsaufgaben sind oft ähnlich zu den Serien)</a:t>
            </a:r>
          </a:p>
          <a:p>
            <a:pPr marL="342900" indent="-342900" algn="l">
              <a:buFont typeface="Arial" panose="020B0604020202020204" pitchFamily="34" charset="0"/>
              <a:buChar char="•"/>
            </a:pPr>
            <a:r>
              <a:rPr lang="de-CH" sz="2000" dirty="0">
                <a:solidFill>
                  <a:srgbClr val="171717"/>
                </a:solidFill>
                <a:latin typeface="Aptos"/>
              </a:rPr>
              <a:t>Vorlesungen: Besucht die Vorlesungen, bei denen ihr das Gefühl habt es bringt euch etwas</a:t>
            </a:r>
          </a:p>
        </p:txBody>
      </p:sp>
      <p:sp>
        <p:nvSpPr>
          <p:cNvPr id="15" name="Datumsplatzhalter 14">
            <a:extLst>
              <a:ext uri="{FF2B5EF4-FFF2-40B4-BE49-F238E27FC236}">
                <a16:creationId xmlns:a16="http://schemas.microsoft.com/office/drawing/2014/main" id="{6AA92D83-13EB-93E5-DFC9-C88FF77F98E3}"/>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7D0E1C44-4184-4777-8F19-6306772A05F3}"/>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AB15814B-E2B5-090E-1079-980E5AAD6DF2}"/>
              </a:ext>
            </a:extLst>
          </p:cNvPr>
          <p:cNvSpPr>
            <a:spLocks noGrp="1"/>
          </p:cNvSpPr>
          <p:nvPr>
            <p:ph type="sldNum" sz="quarter" idx="12"/>
          </p:nvPr>
        </p:nvSpPr>
        <p:spPr/>
        <p:txBody>
          <a:bodyPr/>
          <a:lstStyle/>
          <a:p>
            <a:fld id="{C1FF6DA9-008F-8B48-92A6-B652298478BF}" type="slidenum">
              <a:rPr lang="en-US" smtClean="0"/>
              <a:t>10</a:t>
            </a:fld>
            <a:endParaRPr lang="en-US"/>
          </a:p>
        </p:txBody>
      </p:sp>
    </p:spTree>
    <p:extLst>
      <p:ext uri="{BB962C8B-B14F-4D97-AF65-F5344CB8AC3E}">
        <p14:creationId xmlns:p14="http://schemas.microsoft.com/office/powerpoint/2010/main" val="14777956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9F6A8-A4DF-6750-B407-C50281CBD526}"/>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05E462BD-7F9B-38AB-CB28-59C7DBB0A871}"/>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478FDDB-74F5-861C-E7CC-B27B7D76F7C9}"/>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
        <p:nvSpPr>
          <p:cNvPr id="4" name="TextBox 3">
            <a:extLst>
              <a:ext uri="{FF2B5EF4-FFF2-40B4-BE49-F238E27FC236}">
                <a16:creationId xmlns:a16="http://schemas.microsoft.com/office/drawing/2014/main" id="{839BEF7A-C228-5B56-8C47-B4439DDA4DDC}"/>
              </a:ext>
            </a:extLst>
          </p:cNvPr>
          <p:cNvSpPr txBox="1"/>
          <p:nvPr/>
        </p:nvSpPr>
        <p:spPr>
          <a:xfrm>
            <a:off x="594360" y="932688"/>
            <a:ext cx="9073894" cy="477054"/>
          </a:xfrm>
          <a:prstGeom prst="rect">
            <a:avLst/>
          </a:prstGeom>
          <a:noFill/>
        </p:spPr>
        <p:txBody>
          <a:bodyPr wrap="none" lIns="0" tIns="0" rIns="0" bIns="0" anchor="t">
            <a:spAutoFit/>
          </a:bodyPr>
          <a:lstStyle/>
          <a:p>
            <a:pPr algn="l"/>
            <a:r>
              <a:rPr lang="de-CH" sz="3100" b="1" dirty="0">
                <a:solidFill>
                  <a:srgbClr val="171717"/>
                </a:solidFill>
                <a:latin typeface="Aptos"/>
              </a:rPr>
              <a:t>Ihr kommt nicht mehr nach oder versteht es nicht?</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BEFE55BF-C393-4C87-7799-89D4124EC5BA}"/>
              </a:ext>
            </a:extLst>
          </p:cNvPr>
          <p:cNvSpPr txBox="1"/>
          <p:nvPr/>
        </p:nvSpPr>
        <p:spPr>
          <a:xfrm>
            <a:off x="594360" y="1574334"/>
            <a:ext cx="10945368" cy="1231106"/>
          </a:xfrm>
          <a:prstGeom prst="rect">
            <a:avLst/>
          </a:prstGeom>
          <a:noFill/>
        </p:spPr>
        <p:txBody>
          <a:bodyPr wrap="square" lIns="0" tIns="0" rIns="0" bIns="0" anchor="t">
            <a:spAutoFit/>
          </a:bodyPr>
          <a:lstStyle/>
          <a:p>
            <a:pPr marL="342900" indent="-342900" algn="l">
              <a:buFont typeface="Arial" panose="020B0604020202020204" pitchFamily="34" charset="0"/>
              <a:buChar char="•"/>
            </a:pPr>
            <a:r>
              <a:rPr lang="de-CH" sz="2000" dirty="0">
                <a:solidFill>
                  <a:srgbClr val="171717"/>
                </a:solidFill>
                <a:latin typeface="Aptos"/>
              </a:rPr>
              <a:t>Kein Stress (Ich hatte auch während dem Semester Mühe in gewissen Fächern)</a:t>
            </a:r>
          </a:p>
          <a:p>
            <a:pPr marL="342900" indent="-342900" algn="l">
              <a:buFont typeface="Arial" panose="020B0604020202020204" pitchFamily="34" charset="0"/>
              <a:buChar char="•"/>
            </a:pPr>
            <a:r>
              <a:rPr lang="de-CH" sz="2000" dirty="0">
                <a:solidFill>
                  <a:srgbClr val="171717"/>
                </a:solidFill>
                <a:latin typeface="Aptos"/>
              </a:rPr>
              <a:t>Über Winter könnt ihr locker gewisse Lücken füllen wenn ihr sonst gut mitgemacht habt. Aber überschätzt nicht die Zeit, im Winter ist die Zeit knapp. </a:t>
            </a:r>
          </a:p>
          <a:p>
            <a:pPr marL="342900" indent="-342900" algn="l">
              <a:buFont typeface="Arial" panose="020B0604020202020204" pitchFamily="34" charset="0"/>
              <a:buChar char="•"/>
            </a:pPr>
            <a:r>
              <a:rPr lang="de-CH" sz="2000" dirty="0">
                <a:solidFill>
                  <a:srgbClr val="171717"/>
                </a:solidFill>
                <a:latin typeface="Aptos"/>
              </a:rPr>
              <a:t>Nicht aufgeben, versucht weiterzumachen und versucht so viel zu verstehen wie möglich</a:t>
            </a:r>
          </a:p>
        </p:txBody>
      </p:sp>
      <p:sp>
        <p:nvSpPr>
          <p:cNvPr id="15" name="Datumsplatzhalter 14">
            <a:extLst>
              <a:ext uri="{FF2B5EF4-FFF2-40B4-BE49-F238E27FC236}">
                <a16:creationId xmlns:a16="http://schemas.microsoft.com/office/drawing/2014/main" id="{DEDEF7E2-1B25-8F8A-9E8F-41B1DE8DF22D}"/>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4FE6281F-A7AB-78FD-4D0A-663EEEAB184A}"/>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978814FE-939B-1DA3-E3B5-5676D5A9D9A1}"/>
              </a:ext>
            </a:extLst>
          </p:cNvPr>
          <p:cNvSpPr>
            <a:spLocks noGrp="1"/>
          </p:cNvSpPr>
          <p:nvPr>
            <p:ph type="sldNum" sz="quarter" idx="12"/>
          </p:nvPr>
        </p:nvSpPr>
        <p:spPr/>
        <p:txBody>
          <a:bodyPr/>
          <a:lstStyle/>
          <a:p>
            <a:fld id="{C1FF6DA9-008F-8B48-92A6-B652298478BF}" type="slidenum">
              <a:rPr lang="en-US" smtClean="0"/>
              <a:t>11</a:t>
            </a:fld>
            <a:endParaRPr lang="en-US"/>
          </a:p>
        </p:txBody>
      </p:sp>
    </p:spTree>
    <p:extLst>
      <p:ext uri="{BB962C8B-B14F-4D97-AF65-F5344CB8AC3E}">
        <p14:creationId xmlns:p14="http://schemas.microsoft.com/office/powerpoint/2010/main" val="56805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7E5FA-0CF1-34A6-2C60-97FDF511EE76}"/>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0150A29D-60D5-6EED-6474-A6A2A4C45B90}"/>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9EB889A9-DA5D-447D-1CF6-F01649A3ECCD}"/>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
        <p:nvSpPr>
          <p:cNvPr id="4" name="TextBox 3">
            <a:extLst>
              <a:ext uri="{FF2B5EF4-FFF2-40B4-BE49-F238E27FC236}">
                <a16:creationId xmlns:a16="http://schemas.microsoft.com/office/drawing/2014/main" id="{1544D8D6-4DBF-5725-A017-C47FF4E546FF}"/>
              </a:ext>
            </a:extLst>
          </p:cNvPr>
          <p:cNvSpPr txBox="1"/>
          <p:nvPr/>
        </p:nvSpPr>
        <p:spPr>
          <a:xfrm>
            <a:off x="594360" y="932688"/>
            <a:ext cx="3882409" cy="477054"/>
          </a:xfrm>
          <a:prstGeom prst="rect">
            <a:avLst/>
          </a:prstGeom>
          <a:noFill/>
        </p:spPr>
        <p:txBody>
          <a:bodyPr wrap="none" lIns="0" tIns="0" rIns="0" bIns="0" anchor="t">
            <a:spAutoFit/>
          </a:bodyPr>
          <a:lstStyle/>
          <a:p>
            <a:pPr algn="l"/>
            <a:r>
              <a:rPr lang="de-CH" sz="3100" b="1" dirty="0">
                <a:solidFill>
                  <a:srgbClr val="171717"/>
                </a:solidFill>
                <a:latin typeface="Aptos"/>
              </a:rPr>
              <a:t>Wie habe ich gelernt?</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C4A93B7A-9EFC-C6D4-FC3B-F96B2121A3F8}"/>
              </a:ext>
            </a:extLst>
          </p:cNvPr>
          <p:cNvSpPr txBox="1"/>
          <p:nvPr/>
        </p:nvSpPr>
        <p:spPr>
          <a:xfrm>
            <a:off x="594360" y="1574334"/>
            <a:ext cx="10945368" cy="923330"/>
          </a:xfrm>
          <a:prstGeom prst="rect">
            <a:avLst/>
          </a:prstGeom>
          <a:noFill/>
        </p:spPr>
        <p:txBody>
          <a:bodyPr wrap="square" lIns="0" tIns="0" rIns="0" bIns="0" anchor="t">
            <a:spAutoFit/>
          </a:bodyPr>
          <a:lstStyle/>
          <a:p>
            <a:pPr marL="342900" indent="-342900" algn="l">
              <a:buFont typeface="Arial" panose="020B0604020202020204" pitchFamily="34" charset="0"/>
              <a:buChar char="•"/>
            </a:pPr>
            <a:r>
              <a:rPr lang="de-CH" sz="2000" dirty="0">
                <a:solidFill>
                  <a:srgbClr val="171717"/>
                </a:solidFill>
                <a:latin typeface="Aptos"/>
              </a:rPr>
              <a:t>Ich habe immer die Serien gemacht (Analysis war bodenlos ich brauchte bei jeder Serie die ML)</a:t>
            </a:r>
          </a:p>
          <a:p>
            <a:pPr marL="342900" indent="-342900">
              <a:buFont typeface="Arial" panose="020B0604020202020204" pitchFamily="34" charset="0"/>
              <a:buChar char="•"/>
            </a:pPr>
            <a:r>
              <a:rPr lang="de-CH" sz="2000" dirty="0">
                <a:solidFill>
                  <a:srgbClr val="171717"/>
                </a:solidFill>
                <a:latin typeface="Aptos"/>
              </a:rPr>
              <a:t>Den Stoff der Vorlesung mit KI (Feynman-Methode) wiederholt, um eine Intuition und das Verständnis zu stärken</a:t>
            </a:r>
          </a:p>
        </p:txBody>
      </p:sp>
      <p:sp>
        <p:nvSpPr>
          <p:cNvPr id="15" name="Datumsplatzhalter 14">
            <a:extLst>
              <a:ext uri="{FF2B5EF4-FFF2-40B4-BE49-F238E27FC236}">
                <a16:creationId xmlns:a16="http://schemas.microsoft.com/office/drawing/2014/main" id="{5638FB19-4634-0484-5500-D0C483CC7FC5}"/>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40F9CD82-3631-47F2-6831-855F123C0FCC}"/>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BBA6A476-6702-4591-B733-B806BF6B3525}"/>
              </a:ext>
            </a:extLst>
          </p:cNvPr>
          <p:cNvSpPr>
            <a:spLocks noGrp="1"/>
          </p:cNvSpPr>
          <p:nvPr>
            <p:ph type="sldNum" sz="quarter" idx="12"/>
          </p:nvPr>
        </p:nvSpPr>
        <p:spPr/>
        <p:txBody>
          <a:bodyPr/>
          <a:lstStyle/>
          <a:p>
            <a:fld id="{C1FF6DA9-008F-8B48-92A6-B652298478BF}" type="slidenum">
              <a:rPr lang="en-US" smtClean="0"/>
              <a:t>12</a:t>
            </a:fld>
            <a:endParaRPr lang="en-US"/>
          </a:p>
        </p:txBody>
      </p:sp>
      <p:sp>
        <p:nvSpPr>
          <p:cNvPr id="6" name="TextBox 10">
            <a:extLst>
              <a:ext uri="{FF2B5EF4-FFF2-40B4-BE49-F238E27FC236}">
                <a16:creationId xmlns:a16="http://schemas.microsoft.com/office/drawing/2014/main" id="{8587F3F7-21CA-A994-2697-26518AEC4272}"/>
              </a:ext>
            </a:extLst>
          </p:cNvPr>
          <p:cNvSpPr txBox="1"/>
          <p:nvPr/>
        </p:nvSpPr>
        <p:spPr>
          <a:xfrm>
            <a:off x="623316" y="3100558"/>
            <a:ext cx="10945368" cy="923330"/>
          </a:xfrm>
          <a:prstGeom prst="rect">
            <a:avLst/>
          </a:prstGeom>
          <a:noFill/>
        </p:spPr>
        <p:txBody>
          <a:bodyPr wrap="square" lIns="0" tIns="0" rIns="0" bIns="0" anchor="t">
            <a:spAutoFit/>
          </a:bodyPr>
          <a:lstStyle/>
          <a:p>
            <a:pPr algn="l"/>
            <a:r>
              <a:rPr lang="de-CH" sz="2000" dirty="0">
                <a:solidFill>
                  <a:srgbClr val="171717"/>
                </a:solidFill>
                <a:latin typeface="Aptos"/>
              </a:rPr>
              <a:t>Lernphase:</a:t>
            </a:r>
          </a:p>
          <a:p>
            <a:pPr marL="342900" indent="-342900" algn="l">
              <a:buFont typeface="Arial" panose="020B0604020202020204" pitchFamily="34" charset="0"/>
              <a:buChar char="•"/>
            </a:pPr>
            <a:r>
              <a:rPr lang="de-CH" sz="2000" dirty="0">
                <a:solidFill>
                  <a:srgbClr val="171717"/>
                </a:solidFill>
                <a:latin typeface="Aptos"/>
              </a:rPr>
              <a:t>Theorie </a:t>
            </a:r>
            <a:r>
              <a:rPr lang="de-CH" sz="2000" dirty="0" err="1">
                <a:solidFill>
                  <a:srgbClr val="171717"/>
                </a:solidFill>
                <a:latin typeface="Aptos"/>
              </a:rPr>
              <a:t>Recap</a:t>
            </a:r>
            <a:r>
              <a:rPr lang="de-CH" sz="2000" dirty="0">
                <a:solidFill>
                  <a:srgbClr val="171717"/>
                </a:solidFill>
                <a:latin typeface="Aptos"/>
              </a:rPr>
              <a:t> (Also ich bin durch die ganze Theorie durchgegangen)</a:t>
            </a:r>
          </a:p>
          <a:p>
            <a:pPr marL="342900" indent="-342900" algn="l">
              <a:buFont typeface="Arial" panose="020B0604020202020204" pitchFamily="34" charset="0"/>
              <a:buChar char="•"/>
            </a:pPr>
            <a:r>
              <a:rPr lang="de-CH" sz="2000" dirty="0">
                <a:solidFill>
                  <a:srgbClr val="171717"/>
                </a:solidFill>
                <a:latin typeface="Aptos"/>
              </a:rPr>
              <a:t>Danach Üben, üben, äh und nochmals üben</a:t>
            </a:r>
          </a:p>
        </p:txBody>
      </p:sp>
    </p:spTree>
    <p:extLst>
      <p:ext uri="{BB962C8B-B14F-4D97-AF65-F5344CB8AC3E}">
        <p14:creationId xmlns:p14="http://schemas.microsoft.com/office/powerpoint/2010/main" val="62763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074C3-71B6-2A92-F3BF-FCC9D69A3F62}"/>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AACCD529-7532-E1F7-3B30-7FCBE9392E91}"/>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0ED3266E-FA53-D94F-D760-8C1F2844F0F9}"/>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
        <p:nvSpPr>
          <p:cNvPr id="4" name="TextBox 3">
            <a:extLst>
              <a:ext uri="{FF2B5EF4-FFF2-40B4-BE49-F238E27FC236}">
                <a16:creationId xmlns:a16="http://schemas.microsoft.com/office/drawing/2014/main" id="{732BB2A3-C752-FCCD-4478-705966921C19}"/>
              </a:ext>
            </a:extLst>
          </p:cNvPr>
          <p:cNvSpPr txBox="1"/>
          <p:nvPr/>
        </p:nvSpPr>
        <p:spPr>
          <a:xfrm>
            <a:off x="594360" y="932688"/>
            <a:ext cx="5853525" cy="477054"/>
          </a:xfrm>
          <a:prstGeom prst="rect">
            <a:avLst/>
          </a:prstGeom>
          <a:noFill/>
        </p:spPr>
        <p:txBody>
          <a:bodyPr wrap="none" lIns="0" tIns="0" rIns="0" bIns="0" anchor="t">
            <a:spAutoFit/>
          </a:bodyPr>
          <a:lstStyle/>
          <a:p>
            <a:pPr algn="l"/>
            <a:r>
              <a:rPr lang="de-CH" sz="3100" b="1" dirty="0">
                <a:solidFill>
                  <a:srgbClr val="171717"/>
                </a:solidFill>
                <a:latin typeface="Aptos"/>
              </a:rPr>
              <a:t>Wie ist euer Studium aufgebaut?</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ED477E61-48E2-4E01-505C-92D7B8920FB7}"/>
              </a:ext>
            </a:extLst>
          </p:cNvPr>
          <p:cNvSpPr txBox="1"/>
          <p:nvPr/>
        </p:nvSpPr>
        <p:spPr>
          <a:xfrm>
            <a:off x="594360" y="1574334"/>
            <a:ext cx="10945368" cy="3077766"/>
          </a:xfrm>
          <a:prstGeom prst="rect">
            <a:avLst/>
          </a:prstGeom>
          <a:noFill/>
        </p:spPr>
        <p:txBody>
          <a:bodyPr wrap="square" lIns="0" tIns="0" rIns="0" bIns="0" anchor="t">
            <a:spAutoFit/>
          </a:bodyPr>
          <a:lstStyle/>
          <a:p>
            <a:pPr marL="342900" indent="-342900">
              <a:buFont typeface="Arial" panose="020B0604020202020204" pitchFamily="34" charset="0"/>
              <a:buChar char="•"/>
            </a:pPr>
            <a:r>
              <a:rPr lang="de-CH" sz="2000" dirty="0"/>
              <a:t>180 ECTS (soweit so gut, aber wie viele von welchen?) </a:t>
            </a:r>
          </a:p>
          <a:p>
            <a:pPr marL="342900" indent="-342900">
              <a:buFont typeface="Arial" panose="020B0604020202020204" pitchFamily="34" charset="0"/>
              <a:buChar char="•"/>
            </a:pPr>
            <a:r>
              <a:rPr lang="de-CH" sz="2000" dirty="0">
                <a:solidFill>
                  <a:srgbClr val="00B050"/>
                </a:solidFill>
              </a:rPr>
              <a:t>BASISJAHR (obligatorisch 56 ECTS) (</a:t>
            </a:r>
            <a:r>
              <a:rPr lang="de-CH" sz="2000" dirty="0" err="1">
                <a:solidFill>
                  <a:srgbClr val="00B050"/>
                </a:solidFill>
              </a:rPr>
              <a:t>You</a:t>
            </a:r>
            <a:r>
              <a:rPr lang="de-CH" sz="2000" dirty="0">
                <a:solidFill>
                  <a:srgbClr val="00B050"/>
                </a:solidFill>
              </a:rPr>
              <a:t> </a:t>
            </a:r>
            <a:r>
              <a:rPr lang="de-CH" sz="2000" dirty="0" err="1">
                <a:solidFill>
                  <a:srgbClr val="00B050"/>
                </a:solidFill>
              </a:rPr>
              <a:t>are</a:t>
            </a:r>
            <a:r>
              <a:rPr lang="de-CH" sz="2000" dirty="0">
                <a:solidFill>
                  <a:srgbClr val="00B050"/>
                </a:solidFill>
              </a:rPr>
              <a:t> </a:t>
            </a:r>
            <a:r>
              <a:rPr lang="de-CH" sz="2000" dirty="0" err="1">
                <a:solidFill>
                  <a:srgbClr val="00B050"/>
                </a:solidFill>
              </a:rPr>
              <a:t>here</a:t>
            </a:r>
            <a:r>
              <a:rPr lang="de-CH" sz="2000" dirty="0">
                <a:solidFill>
                  <a:srgbClr val="00B050"/>
                </a:solidFill>
              </a:rPr>
              <a:t>)</a:t>
            </a:r>
          </a:p>
          <a:p>
            <a:pPr marL="342900" indent="-342900">
              <a:buFont typeface="Arial" panose="020B0604020202020204" pitchFamily="34" charset="0"/>
              <a:buChar char="•"/>
            </a:pPr>
            <a:r>
              <a:rPr lang="de-CH" sz="2000" dirty="0"/>
              <a:t>2. STUDIENJAHR ( obligatorisch 53 ECTS) </a:t>
            </a:r>
          </a:p>
          <a:p>
            <a:pPr marL="342900" indent="-342900">
              <a:buFont typeface="Arial" panose="020B0604020202020204" pitchFamily="34" charset="0"/>
              <a:buChar char="•"/>
            </a:pPr>
            <a:r>
              <a:rPr lang="de-CH" sz="2000" dirty="0"/>
              <a:t>GRUNDLAGENF. (nur HS, “wählbar” 8 ECTS) </a:t>
            </a:r>
          </a:p>
          <a:p>
            <a:pPr marL="342900" indent="-342900">
              <a:buFont typeface="Arial" panose="020B0604020202020204" pitchFamily="34" charset="0"/>
              <a:buChar char="•"/>
            </a:pPr>
            <a:r>
              <a:rPr lang="de-CH" sz="2000" dirty="0"/>
              <a:t>KERNFÄCHER (wählbar 18 ECTS) </a:t>
            </a:r>
          </a:p>
          <a:p>
            <a:pPr marL="342900" indent="-342900">
              <a:buFont typeface="Arial" panose="020B0604020202020204" pitchFamily="34" charset="0"/>
              <a:buChar char="•"/>
            </a:pPr>
            <a:r>
              <a:rPr lang="de-CH" sz="2000" dirty="0"/>
              <a:t>WAHLFÄCHER (wählbar 6 ECTS) </a:t>
            </a:r>
          </a:p>
          <a:p>
            <a:pPr marL="342900" indent="-342900">
              <a:buFont typeface="Arial" panose="020B0604020202020204" pitchFamily="34" charset="0"/>
              <a:buChar char="•"/>
            </a:pPr>
            <a:r>
              <a:rPr lang="de-CH" sz="2000" dirty="0">
                <a:solidFill>
                  <a:srgbClr val="00B050"/>
                </a:solidFill>
              </a:rPr>
              <a:t>PRAKTIKA/PROJEKTE/SEMINARE (wählbar, 15 ECTS) (Evtl.. Auch schon hier 2-3KP machen)</a:t>
            </a:r>
          </a:p>
          <a:p>
            <a:pPr marL="342900" indent="-342900">
              <a:buFont typeface="Arial" panose="020B0604020202020204" pitchFamily="34" charset="0"/>
              <a:buChar char="•"/>
            </a:pPr>
            <a:r>
              <a:rPr lang="de-CH" sz="2000" dirty="0">
                <a:solidFill>
                  <a:srgbClr val="00B050"/>
                </a:solidFill>
              </a:rPr>
              <a:t>GESS/SPRACHEN (wählbar 6 ECTS) (Evtl.. im 2. Semester 2-3KP machen)</a:t>
            </a:r>
          </a:p>
          <a:p>
            <a:pPr marL="342900" indent="-342900">
              <a:buFont typeface="Arial" panose="020B0604020202020204" pitchFamily="34" charset="0"/>
              <a:buChar char="•"/>
            </a:pPr>
            <a:r>
              <a:rPr lang="de-CH" sz="2000" dirty="0"/>
              <a:t>BACHELORARBEIT (obligatorisch, 12 ECTS) </a:t>
            </a:r>
          </a:p>
          <a:p>
            <a:pPr marL="342900" indent="-342900">
              <a:buFont typeface="Arial" panose="020B0604020202020204" pitchFamily="34" charset="0"/>
              <a:buChar char="•"/>
            </a:pPr>
            <a:r>
              <a:rPr lang="de-CH" sz="2000" dirty="0">
                <a:solidFill>
                  <a:srgbClr val="FF0000"/>
                </a:solidFill>
              </a:rPr>
              <a:t>GHOST CREDITS (wählbar 6 ECTS)</a:t>
            </a:r>
            <a:endParaRPr lang="de-CH" sz="2000" dirty="0">
              <a:solidFill>
                <a:srgbClr val="FF0000"/>
              </a:solidFill>
              <a:latin typeface="Aptos"/>
            </a:endParaRPr>
          </a:p>
        </p:txBody>
      </p:sp>
      <p:sp>
        <p:nvSpPr>
          <p:cNvPr id="15" name="Datumsplatzhalter 14">
            <a:extLst>
              <a:ext uri="{FF2B5EF4-FFF2-40B4-BE49-F238E27FC236}">
                <a16:creationId xmlns:a16="http://schemas.microsoft.com/office/drawing/2014/main" id="{A5B80B57-020A-B950-9E44-442D38F8EDD8}"/>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33D2BFC7-1329-4AED-0724-368E8E47AEB4}"/>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995F96F1-B403-D454-8F10-47CE4AB2C637}"/>
              </a:ext>
            </a:extLst>
          </p:cNvPr>
          <p:cNvSpPr>
            <a:spLocks noGrp="1"/>
          </p:cNvSpPr>
          <p:nvPr>
            <p:ph type="sldNum" sz="quarter" idx="12"/>
          </p:nvPr>
        </p:nvSpPr>
        <p:spPr/>
        <p:txBody>
          <a:bodyPr/>
          <a:lstStyle/>
          <a:p>
            <a:fld id="{C1FF6DA9-008F-8B48-92A6-B652298478BF}" type="slidenum">
              <a:rPr lang="en-US" smtClean="0"/>
              <a:t>13</a:t>
            </a:fld>
            <a:endParaRPr lang="en-US"/>
          </a:p>
        </p:txBody>
      </p:sp>
    </p:spTree>
    <p:extLst>
      <p:ext uri="{BB962C8B-B14F-4D97-AF65-F5344CB8AC3E}">
        <p14:creationId xmlns:p14="http://schemas.microsoft.com/office/powerpoint/2010/main" val="33752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2E2D9-CC59-F34A-8CEE-45A54D0FAFB5}"/>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22F444D-9637-CB37-4107-598394E8CB4D}"/>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A666CA1-D3F1-5CB8-AAA6-0A057245463D}"/>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
        <p:nvSpPr>
          <p:cNvPr id="4" name="TextBox 3">
            <a:extLst>
              <a:ext uri="{FF2B5EF4-FFF2-40B4-BE49-F238E27FC236}">
                <a16:creationId xmlns:a16="http://schemas.microsoft.com/office/drawing/2014/main" id="{3DCBFB35-D605-C3F6-D523-1CF9641251DA}"/>
              </a:ext>
            </a:extLst>
          </p:cNvPr>
          <p:cNvSpPr txBox="1"/>
          <p:nvPr/>
        </p:nvSpPr>
        <p:spPr>
          <a:xfrm>
            <a:off x="594360" y="932688"/>
            <a:ext cx="2983189" cy="477054"/>
          </a:xfrm>
          <a:prstGeom prst="rect">
            <a:avLst/>
          </a:prstGeom>
          <a:noFill/>
        </p:spPr>
        <p:txBody>
          <a:bodyPr wrap="none" lIns="0" tIns="0" rIns="0" bIns="0" anchor="t">
            <a:spAutoFit/>
          </a:bodyPr>
          <a:lstStyle/>
          <a:p>
            <a:pPr algn="l"/>
            <a:r>
              <a:rPr lang="de-CH" sz="3100" b="1" dirty="0">
                <a:solidFill>
                  <a:srgbClr val="171717"/>
                </a:solidFill>
                <a:latin typeface="Aptos"/>
              </a:rPr>
              <a:t>Studienplanung:</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125F833D-28FA-5E66-DF1E-85D00B0B187E}"/>
              </a:ext>
            </a:extLst>
          </p:cNvPr>
          <p:cNvSpPr txBox="1"/>
          <p:nvPr/>
        </p:nvSpPr>
        <p:spPr>
          <a:xfrm>
            <a:off x="594360" y="1574334"/>
            <a:ext cx="10945368" cy="1846659"/>
          </a:xfrm>
          <a:prstGeom prst="rect">
            <a:avLst/>
          </a:prstGeom>
          <a:noFill/>
        </p:spPr>
        <p:txBody>
          <a:bodyPr wrap="square" lIns="0" tIns="0" rIns="0" bIns="0" anchor="t">
            <a:spAutoFit/>
          </a:bodyPr>
          <a:lstStyle/>
          <a:p>
            <a:pPr marL="342900" indent="-342900">
              <a:buFont typeface="Arial" panose="020B0604020202020204" pitchFamily="34" charset="0"/>
              <a:buChar char="•"/>
            </a:pPr>
            <a:r>
              <a:rPr lang="de-CH" sz="2000" dirty="0"/>
              <a:t>Die meisten Fächer sind sowieso obligatorisch, aber den Rest kann man sich anstrengender, oder weniger anstrengend machen.</a:t>
            </a:r>
          </a:p>
          <a:p>
            <a:pPr marL="342900" indent="-342900">
              <a:buFont typeface="Arial" panose="020B0604020202020204" pitchFamily="34" charset="0"/>
              <a:buChar char="•"/>
            </a:pPr>
            <a:r>
              <a:rPr lang="de-CH" sz="2000" dirty="0"/>
              <a:t>SEMESTERENDPRÜFUNG(oder bewertete Semesterleistung – bei </a:t>
            </a:r>
            <a:r>
              <a:rPr lang="de-CH" sz="2000" dirty="0">
                <a:solidFill>
                  <a:srgbClr val="00B050"/>
                </a:solidFill>
              </a:rPr>
              <a:t>positiven</a:t>
            </a:r>
            <a:r>
              <a:rPr lang="de-CH" sz="2000" dirty="0"/>
              <a:t> </a:t>
            </a:r>
            <a:r>
              <a:rPr lang="de-CH" sz="2000" dirty="0" err="1"/>
              <a:t>recommendations</a:t>
            </a:r>
            <a:r>
              <a:rPr lang="de-CH" sz="2000" dirty="0"/>
              <a:t>)</a:t>
            </a:r>
            <a:br>
              <a:rPr lang="de-CH" sz="2000" dirty="0"/>
            </a:br>
            <a:r>
              <a:rPr lang="de-CH" sz="2000" dirty="0">
                <a:hlinkClick r:id="rId3"/>
              </a:rPr>
              <a:t>https://coursereview.ch/</a:t>
            </a:r>
            <a:endParaRPr lang="de-CH" sz="2000" dirty="0"/>
          </a:p>
          <a:p>
            <a:pPr marL="342900" indent="-342900">
              <a:buFont typeface="Arial" panose="020B0604020202020204" pitchFamily="34" charset="0"/>
              <a:buChar char="•"/>
            </a:pPr>
            <a:r>
              <a:rPr lang="de-CH" sz="2000" dirty="0"/>
              <a:t>Weitere </a:t>
            </a:r>
            <a:r>
              <a:rPr lang="de-CH" sz="2000" dirty="0" err="1">
                <a:solidFill>
                  <a:srgbClr val="00B050"/>
                </a:solidFill>
              </a:rPr>
              <a:t>green</a:t>
            </a:r>
            <a:r>
              <a:rPr lang="de-CH" sz="2000" dirty="0">
                <a:solidFill>
                  <a:srgbClr val="00B050"/>
                </a:solidFill>
              </a:rPr>
              <a:t> </a:t>
            </a:r>
            <a:r>
              <a:rPr lang="de-CH" sz="2000" dirty="0" err="1">
                <a:solidFill>
                  <a:srgbClr val="00B050"/>
                </a:solidFill>
              </a:rPr>
              <a:t>flags</a:t>
            </a:r>
            <a:r>
              <a:rPr lang="de-CH" sz="2000" dirty="0">
                <a:solidFill>
                  <a:srgbClr val="00B050"/>
                </a:solidFill>
              </a:rPr>
              <a:t> </a:t>
            </a:r>
            <a:r>
              <a:rPr lang="de-CH" sz="2000" dirty="0"/>
              <a:t>für GESS und </a:t>
            </a:r>
            <a:r>
              <a:rPr lang="de-CH" sz="2000" dirty="0" err="1"/>
              <a:t>co.</a:t>
            </a:r>
            <a:r>
              <a:rPr lang="de-CH" sz="2000" dirty="0"/>
              <a:t>: open </a:t>
            </a:r>
            <a:r>
              <a:rPr lang="de-CH" sz="2000" dirty="0" err="1"/>
              <a:t>book</a:t>
            </a:r>
            <a:r>
              <a:rPr lang="de-CH" sz="2000" dirty="0"/>
              <a:t>, remote, online,…</a:t>
            </a:r>
          </a:p>
          <a:p>
            <a:pPr marL="342900" indent="-342900">
              <a:buFont typeface="Arial" panose="020B0604020202020204" pitchFamily="34" charset="0"/>
              <a:buChar char="•"/>
            </a:pPr>
            <a:r>
              <a:rPr lang="de-CH" sz="2000" dirty="0" err="1">
                <a:solidFill>
                  <a:srgbClr val="FF0000"/>
                </a:solidFill>
              </a:rPr>
              <a:t>Red</a:t>
            </a:r>
            <a:r>
              <a:rPr lang="de-CH" sz="2000" dirty="0">
                <a:solidFill>
                  <a:srgbClr val="FF0000"/>
                </a:solidFill>
              </a:rPr>
              <a:t> </a:t>
            </a:r>
            <a:r>
              <a:rPr lang="de-CH" sz="2000" dirty="0" err="1">
                <a:solidFill>
                  <a:srgbClr val="FF0000"/>
                </a:solidFill>
              </a:rPr>
              <a:t>flags</a:t>
            </a:r>
            <a:r>
              <a:rPr lang="de-CH" sz="2000" dirty="0"/>
              <a:t> bei GESS und </a:t>
            </a:r>
            <a:r>
              <a:rPr lang="de-CH" sz="2000" dirty="0" err="1"/>
              <a:t>co.</a:t>
            </a:r>
            <a:r>
              <a:rPr lang="de-CH" sz="2000" dirty="0"/>
              <a:t>: SESSIONSPRÜFUNG (ausser </a:t>
            </a:r>
            <a:r>
              <a:rPr lang="de-CH" sz="2000" dirty="0" err="1"/>
              <a:t>riiieeeeesiges</a:t>
            </a:r>
            <a:r>
              <a:rPr lang="de-CH" sz="2000" dirty="0"/>
              <a:t> Interesse………</a:t>
            </a:r>
            <a:r>
              <a:rPr lang="de-CH" sz="2000" dirty="0">
                <a:latin typeface="Aptos"/>
              </a:rPr>
              <a:t>)</a:t>
            </a:r>
            <a:endParaRPr lang="de-CH" sz="2000" dirty="0"/>
          </a:p>
        </p:txBody>
      </p:sp>
      <p:sp>
        <p:nvSpPr>
          <p:cNvPr id="15" name="Datumsplatzhalter 14">
            <a:extLst>
              <a:ext uri="{FF2B5EF4-FFF2-40B4-BE49-F238E27FC236}">
                <a16:creationId xmlns:a16="http://schemas.microsoft.com/office/drawing/2014/main" id="{1006AAA4-9F93-0B65-82E6-2124002AE8A4}"/>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DF4F4EFD-061C-10BB-C80F-9A57E2CD1613}"/>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D1CA1F2D-C1FC-7481-C55C-5CD7ACABFB56}"/>
              </a:ext>
            </a:extLst>
          </p:cNvPr>
          <p:cNvSpPr>
            <a:spLocks noGrp="1"/>
          </p:cNvSpPr>
          <p:nvPr>
            <p:ph type="sldNum" sz="quarter" idx="12"/>
          </p:nvPr>
        </p:nvSpPr>
        <p:spPr/>
        <p:txBody>
          <a:bodyPr/>
          <a:lstStyle/>
          <a:p>
            <a:fld id="{C1FF6DA9-008F-8B48-92A6-B652298478BF}" type="slidenum">
              <a:rPr lang="en-US" smtClean="0"/>
              <a:t>14</a:t>
            </a:fld>
            <a:endParaRPr lang="en-US"/>
          </a:p>
        </p:txBody>
      </p:sp>
    </p:spTree>
    <p:extLst>
      <p:ext uri="{BB962C8B-B14F-4D97-AF65-F5344CB8AC3E}">
        <p14:creationId xmlns:p14="http://schemas.microsoft.com/office/powerpoint/2010/main" val="2956904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ADAFD-4109-1C99-8406-512DE26A5C3F}"/>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E3365AFC-E4B2-6D99-E88F-01C83B772EDF}"/>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08DBA9A-7F83-2CA1-8B03-302FC681D076}"/>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
        <p:nvSpPr>
          <p:cNvPr id="4" name="TextBox 3">
            <a:extLst>
              <a:ext uri="{FF2B5EF4-FFF2-40B4-BE49-F238E27FC236}">
                <a16:creationId xmlns:a16="http://schemas.microsoft.com/office/drawing/2014/main" id="{0EFF2455-1682-5832-64BF-B3FD6F9D0A23}"/>
              </a:ext>
            </a:extLst>
          </p:cNvPr>
          <p:cNvSpPr txBox="1"/>
          <p:nvPr/>
        </p:nvSpPr>
        <p:spPr>
          <a:xfrm>
            <a:off x="594360" y="932688"/>
            <a:ext cx="2983189" cy="477054"/>
          </a:xfrm>
          <a:prstGeom prst="rect">
            <a:avLst/>
          </a:prstGeom>
          <a:noFill/>
        </p:spPr>
        <p:txBody>
          <a:bodyPr wrap="none" lIns="0" tIns="0" rIns="0" bIns="0" anchor="t">
            <a:spAutoFit/>
          </a:bodyPr>
          <a:lstStyle/>
          <a:p>
            <a:pPr algn="l"/>
            <a:r>
              <a:rPr lang="de-CH" sz="3100" b="1" dirty="0">
                <a:solidFill>
                  <a:srgbClr val="171717"/>
                </a:solidFill>
                <a:latin typeface="Aptos"/>
              </a:rPr>
              <a:t>Studienplanung:</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1ADA9F7A-60A0-226B-45E8-426D4FCE5D8E}"/>
              </a:ext>
            </a:extLst>
          </p:cNvPr>
          <p:cNvSpPr txBox="1"/>
          <p:nvPr/>
        </p:nvSpPr>
        <p:spPr>
          <a:xfrm>
            <a:off x="594360" y="1574334"/>
            <a:ext cx="10945368" cy="1538883"/>
          </a:xfrm>
          <a:prstGeom prst="rect">
            <a:avLst/>
          </a:prstGeom>
          <a:noFill/>
        </p:spPr>
        <p:txBody>
          <a:bodyPr wrap="square" lIns="0" tIns="0" rIns="0" bIns="0" anchor="t">
            <a:spAutoFit/>
          </a:bodyPr>
          <a:lstStyle/>
          <a:p>
            <a:pPr marL="342900" indent="-342900">
              <a:buFont typeface="Arial" panose="020B0604020202020204" pitchFamily="34" charset="0"/>
              <a:buChar char="•"/>
            </a:pPr>
            <a:r>
              <a:rPr lang="de-CH" sz="2000" dirty="0">
                <a:latin typeface="Aptos"/>
              </a:rPr>
              <a:t>Plant euer Studium bereits früh grob(Also wann wie viele ECTS)</a:t>
            </a:r>
          </a:p>
          <a:p>
            <a:pPr marL="342900" indent="-342900">
              <a:buFont typeface="Arial" panose="020B0604020202020204" pitchFamily="34" charset="0"/>
              <a:buChar char="•"/>
            </a:pPr>
            <a:r>
              <a:rPr lang="de-CH" sz="2000" dirty="0">
                <a:latin typeface="Aptos"/>
              </a:rPr>
              <a:t>Startet im zweiten Semester mit GESS oder P&amp;S</a:t>
            </a:r>
          </a:p>
          <a:p>
            <a:pPr marL="342900" indent="-342900">
              <a:buFont typeface="Arial" panose="020B0604020202020204" pitchFamily="34" charset="0"/>
              <a:buChar char="•"/>
            </a:pPr>
            <a:r>
              <a:rPr lang="de-CH" sz="2000" dirty="0">
                <a:latin typeface="Aptos"/>
              </a:rPr>
              <a:t>Ghost </a:t>
            </a:r>
            <a:r>
              <a:rPr lang="de-CH" sz="2000" dirty="0" err="1">
                <a:latin typeface="Aptos"/>
              </a:rPr>
              <a:t>Credits</a:t>
            </a:r>
            <a:r>
              <a:rPr lang="de-CH" sz="2000" dirty="0">
                <a:latin typeface="Aptos"/>
              </a:rPr>
              <a:t> nicht vergessen</a:t>
            </a:r>
          </a:p>
          <a:p>
            <a:pPr marL="342900" indent="-342900">
              <a:buFont typeface="Arial" panose="020B0604020202020204" pitchFamily="34" charset="0"/>
              <a:buChar char="•"/>
            </a:pPr>
            <a:r>
              <a:rPr lang="de-CH" sz="2000" dirty="0">
                <a:latin typeface="Aptos"/>
              </a:rPr>
              <a:t>Fragt eure TAs oder Kollegen, welche Fächer sie gemacht haben und empfehlen würden</a:t>
            </a:r>
          </a:p>
          <a:p>
            <a:pPr marL="342900" indent="-342900">
              <a:buFont typeface="Arial" panose="020B0604020202020204" pitchFamily="34" charset="0"/>
              <a:buChar char="•"/>
            </a:pPr>
            <a:endParaRPr lang="de-CH" sz="2000" dirty="0">
              <a:latin typeface="Aptos"/>
            </a:endParaRPr>
          </a:p>
        </p:txBody>
      </p:sp>
      <p:sp>
        <p:nvSpPr>
          <p:cNvPr id="15" name="Datumsplatzhalter 14">
            <a:extLst>
              <a:ext uri="{FF2B5EF4-FFF2-40B4-BE49-F238E27FC236}">
                <a16:creationId xmlns:a16="http://schemas.microsoft.com/office/drawing/2014/main" id="{78F9284A-49A7-CB91-2B66-131F1CDDE838}"/>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00DB703B-75AE-0ADD-CD6D-9A5EE2338778}"/>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459B9A53-3809-2FB0-FDFB-9775A3236ED6}"/>
              </a:ext>
            </a:extLst>
          </p:cNvPr>
          <p:cNvSpPr>
            <a:spLocks noGrp="1"/>
          </p:cNvSpPr>
          <p:nvPr>
            <p:ph type="sldNum" sz="quarter" idx="12"/>
          </p:nvPr>
        </p:nvSpPr>
        <p:spPr/>
        <p:txBody>
          <a:bodyPr/>
          <a:lstStyle/>
          <a:p>
            <a:fld id="{C1FF6DA9-008F-8B48-92A6-B652298478BF}" type="slidenum">
              <a:rPr lang="en-US" smtClean="0"/>
              <a:t>15</a:t>
            </a:fld>
            <a:endParaRPr lang="en-US"/>
          </a:p>
        </p:txBody>
      </p:sp>
    </p:spTree>
    <p:extLst>
      <p:ext uri="{BB962C8B-B14F-4D97-AF65-F5344CB8AC3E}">
        <p14:creationId xmlns:p14="http://schemas.microsoft.com/office/powerpoint/2010/main" val="1710604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9FEF7-608F-4DE7-5234-F0B517995E83}"/>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2A9D0E5C-96BC-E6F9-F59E-94BB926B00A1}"/>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22C1209-3011-A652-23EF-DBC77C0A8309}"/>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
        <p:nvSpPr>
          <p:cNvPr id="4" name="TextBox 3">
            <a:extLst>
              <a:ext uri="{FF2B5EF4-FFF2-40B4-BE49-F238E27FC236}">
                <a16:creationId xmlns:a16="http://schemas.microsoft.com/office/drawing/2014/main" id="{F66DD3D5-4A3D-9B52-B558-C972A59CD6B5}"/>
              </a:ext>
            </a:extLst>
          </p:cNvPr>
          <p:cNvSpPr txBox="1"/>
          <p:nvPr/>
        </p:nvSpPr>
        <p:spPr>
          <a:xfrm>
            <a:off x="594360" y="932688"/>
            <a:ext cx="2359236" cy="477054"/>
          </a:xfrm>
          <a:prstGeom prst="rect">
            <a:avLst/>
          </a:prstGeom>
          <a:noFill/>
        </p:spPr>
        <p:txBody>
          <a:bodyPr wrap="none" lIns="0" tIns="0" rIns="0" bIns="0" anchor="t">
            <a:spAutoFit/>
          </a:bodyPr>
          <a:lstStyle/>
          <a:p>
            <a:pPr algn="l"/>
            <a:r>
              <a:rPr lang="de-CH" sz="3100" b="1" dirty="0">
                <a:solidFill>
                  <a:srgbClr val="171717"/>
                </a:solidFill>
                <a:latin typeface="Aptos"/>
              </a:rPr>
              <a:t>Gess Fächer:</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C761AC89-B159-B816-961F-D2D771DC2599}"/>
              </a:ext>
            </a:extLst>
          </p:cNvPr>
          <p:cNvSpPr txBox="1"/>
          <p:nvPr/>
        </p:nvSpPr>
        <p:spPr>
          <a:xfrm>
            <a:off x="594360" y="1574334"/>
            <a:ext cx="10945368" cy="307777"/>
          </a:xfrm>
          <a:prstGeom prst="rect">
            <a:avLst/>
          </a:prstGeom>
          <a:noFill/>
        </p:spPr>
        <p:txBody>
          <a:bodyPr wrap="square" lIns="0" tIns="0" rIns="0" bIns="0" anchor="t">
            <a:spAutoFit/>
          </a:bodyPr>
          <a:lstStyle/>
          <a:p>
            <a:pPr marL="342900" indent="-342900">
              <a:buFont typeface="Arial" panose="020B0604020202020204" pitchFamily="34" charset="0"/>
              <a:buChar char="•"/>
            </a:pPr>
            <a:r>
              <a:rPr lang="de-CH" sz="2000" dirty="0">
                <a:latin typeface="Aptos"/>
              </a:rPr>
              <a:t>Relativ </a:t>
            </a:r>
            <a:r>
              <a:rPr lang="de-CH" sz="2000" dirty="0" err="1">
                <a:latin typeface="Aptos"/>
              </a:rPr>
              <a:t>ez</a:t>
            </a:r>
            <a:r>
              <a:rPr lang="de-CH" sz="2000" dirty="0">
                <a:latin typeface="Aptos"/>
              </a:rPr>
              <a:t> </a:t>
            </a:r>
            <a:r>
              <a:rPr lang="de-CH" sz="2000" dirty="0" err="1">
                <a:latin typeface="Aptos"/>
              </a:rPr>
              <a:t>gess</a:t>
            </a:r>
            <a:r>
              <a:rPr lang="de-CH" sz="2000" dirty="0">
                <a:latin typeface="Aptos"/>
              </a:rPr>
              <a:t> habe ich gehört:</a:t>
            </a:r>
          </a:p>
        </p:txBody>
      </p:sp>
      <p:sp>
        <p:nvSpPr>
          <p:cNvPr id="15" name="Datumsplatzhalter 14">
            <a:extLst>
              <a:ext uri="{FF2B5EF4-FFF2-40B4-BE49-F238E27FC236}">
                <a16:creationId xmlns:a16="http://schemas.microsoft.com/office/drawing/2014/main" id="{52394314-DDE5-3AA2-7E27-DBD656FC4A8C}"/>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21F94AC2-2715-C853-6F62-E57B37DD71EE}"/>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0714064F-C309-7AD0-AFCE-ABB08397F19A}"/>
              </a:ext>
            </a:extLst>
          </p:cNvPr>
          <p:cNvSpPr>
            <a:spLocks noGrp="1"/>
          </p:cNvSpPr>
          <p:nvPr>
            <p:ph type="sldNum" sz="quarter" idx="12"/>
          </p:nvPr>
        </p:nvSpPr>
        <p:spPr/>
        <p:txBody>
          <a:bodyPr/>
          <a:lstStyle/>
          <a:p>
            <a:fld id="{C1FF6DA9-008F-8B48-92A6-B652298478BF}" type="slidenum">
              <a:rPr lang="en-US" smtClean="0"/>
              <a:t>16</a:t>
            </a:fld>
            <a:endParaRPr lang="en-US"/>
          </a:p>
        </p:txBody>
      </p:sp>
      <p:pic>
        <p:nvPicPr>
          <p:cNvPr id="6" name="Grafik 5">
            <a:extLst>
              <a:ext uri="{FF2B5EF4-FFF2-40B4-BE49-F238E27FC236}">
                <a16:creationId xmlns:a16="http://schemas.microsoft.com/office/drawing/2014/main" id="{666472B1-8249-28FE-AEC5-0E30E0A99065}"/>
              </a:ext>
            </a:extLst>
          </p:cNvPr>
          <p:cNvPicPr>
            <a:picLocks noChangeAspect="1"/>
          </p:cNvPicPr>
          <p:nvPr/>
        </p:nvPicPr>
        <p:blipFill>
          <a:blip r:embed="rId3"/>
          <a:stretch>
            <a:fillRect/>
          </a:stretch>
        </p:blipFill>
        <p:spPr>
          <a:xfrm>
            <a:off x="594360" y="2057063"/>
            <a:ext cx="6658904" cy="1505160"/>
          </a:xfrm>
          <a:prstGeom prst="rect">
            <a:avLst/>
          </a:prstGeom>
        </p:spPr>
      </p:pic>
    </p:spTree>
    <p:extLst>
      <p:ext uri="{BB962C8B-B14F-4D97-AF65-F5344CB8AC3E}">
        <p14:creationId xmlns:p14="http://schemas.microsoft.com/office/powerpoint/2010/main" val="10819035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A3B87-9A23-D625-9B86-7516ED96F68E}"/>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42468AB3-EE3A-C232-BA89-13B8C15E2601}"/>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148E723-6D46-C80C-2B79-A4B669C28310}"/>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
        <p:nvSpPr>
          <p:cNvPr id="4" name="TextBox 3">
            <a:extLst>
              <a:ext uri="{FF2B5EF4-FFF2-40B4-BE49-F238E27FC236}">
                <a16:creationId xmlns:a16="http://schemas.microsoft.com/office/drawing/2014/main" id="{66CF6797-D1AD-13D5-193D-0B50A42D5E67}"/>
              </a:ext>
            </a:extLst>
          </p:cNvPr>
          <p:cNvSpPr txBox="1"/>
          <p:nvPr/>
        </p:nvSpPr>
        <p:spPr>
          <a:xfrm>
            <a:off x="594360" y="932688"/>
            <a:ext cx="746999" cy="477054"/>
          </a:xfrm>
          <a:prstGeom prst="rect">
            <a:avLst/>
          </a:prstGeom>
          <a:noFill/>
        </p:spPr>
        <p:txBody>
          <a:bodyPr wrap="none" lIns="0" tIns="0" rIns="0" bIns="0" anchor="t">
            <a:spAutoFit/>
          </a:bodyPr>
          <a:lstStyle/>
          <a:p>
            <a:pPr algn="l"/>
            <a:r>
              <a:rPr lang="de-CH" sz="3100" b="1" dirty="0">
                <a:solidFill>
                  <a:srgbClr val="171717"/>
                </a:solidFill>
                <a:latin typeface="Aptos"/>
              </a:rPr>
              <a:t>P&amp;S</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5882BFDB-6701-4089-23D3-63CC14AE4315}"/>
              </a:ext>
            </a:extLst>
          </p:cNvPr>
          <p:cNvSpPr txBox="1"/>
          <p:nvPr/>
        </p:nvSpPr>
        <p:spPr>
          <a:xfrm>
            <a:off x="594360" y="1574334"/>
            <a:ext cx="10945368" cy="4308872"/>
          </a:xfrm>
          <a:prstGeom prst="rect">
            <a:avLst/>
          </a:prstGeom>
          <a:noFill/>
        </p:spPr>
        <p:txBody>
          <a:bodyPr wrap="square" lIns="0" tIns="0" rIns="0" bIns="0" anchor="t">
            <a:spAutoFit/>
          </a:bodyPr>
          <a:lstStyle/>
          <a:p>
            <a:pPr marL="342900" indent="-342900">
              <a:buFont typeface="Arial" panose="020B0604020202020204" pitchFamily="34" charset="0"/>
              <a:buChar char="•"/>
            </a:pPr>
            <a:r>
              <a:rPr lang="de-CH" sz="2000" dirty="0">
                <a:latin typeface="Aptos"/>
              </a:rPr>
              <a:t>Anmeldetool wird in der ersten Semesterwoche aufgeschaltet</a:t>
            </a:r>
            <a:br>
              <a:rPr lang="de-CH" sz="2000" dirty="0">
                <a:latin typeface="Aptos"/>
              </a:rPr>
            </a:br>
            <a:r>
              <a:rPr lang="de-CH" sz="2000" dirty="0">
                <a:latin typeface="Aptos"/>
                <a:hlinkClick r:id="rId3"/>
              </a:rPr>
              <a:t>https://psapp.ee.ethz.ch/</a:t>
            </a:r>
            <a:br>
              <a:rPr lang="de-CH" sz="2000" dirty="0">
                <a:latin typeface="Aptos"/>
              </a:rPr>
            </a:br>
            <a:r>
              <a:rPr lang="de-CH" sz="2000" dirty="0">
                <a:latin typeface="Aptos"/>
              </a:rPr>
              <a:t>Es gibt danach eine Kursbörse den Link bekommt ihr aber nur ab dem 2. Jahr. Also fragt euren Ta des Vertrauens einfach für den Link nach Ablauf der Frist falls ihr keine P&amp;S bekommen habt</a:t>
            </a:r>
          </a:p>
          <a:p>
            <a:pPr marL="342900" indent="-342900">
              <a:buFont typeface="Arial" panose="020B0604020202020204" pitchFamily="34" charset="0"/>
              <a:buChar char="•"/>
            </a:pPr>
            <a:r>
              <a:rPr lang="de-CH" sz="2000" dirty="0">
                <a:latin typeface="Aptos"/>
              </a:rPr>
              <a:t>Fachpraktika: Pro Nachmittag bekommt ihr 0.25 KPS. Insgesamt 6. und einlösbar als Pakete entweder 2x2 KPS. Oder 1x2KPS und 1x4KPS. Anmeldung über:</a:t>
            </a:r>
            <a:br>
              <a:rPr lang="de-CH" sz="2000" dirty="0">
                <a:latin typeface="Aptos"/>
              </a:rPr>
            </a:br>
            <a:r>
              <a:rPr lang="de-CH" sz="2000" dirty="0">
                <a:latin typeface="Aptos"/>
                <a:hlinkClick r:id="rId4"/>
              </a:rPr>
              <a:t>https://fpapp.ee.ethz.ch/en/no_cache/primary-navi-row-3/laboratory-courses/registration.html</a:t>
            </a:r>
            <a:br>
              <a:rPr lang="de-CH" sz="2000" dirty="0">
                <a:latin typeface="Aptos"/>
              </a:rPr>
            </a:br>
            <a:endParaRPr lang="de-CH" sz="2000" dirty="0">
              <a:latin typeface="Aptos"/>
            </a:endParaRPr>
          </a:p>
          <a:p>
            <a:pPr marL="342900" indent="-342900">
              <a:buFont typeface="Arial" panose="020B0604020202020204" pitchFamily="34" charset="0"/>
              <a:buChar char="•"/>
            </a:pPr>
            <a:r>
              <a:rPr lang="de-CH" sz="2000" dirty="0">
                <a:latin typeface="Aptos"/>
              </a:rPr>
              <a:t>Fangt nicht zu spät damit an. Weil 15KPS sind viel</a:t>
            </a:r>
          </a:p>
          <a:p>
            <a:pPr marL="342900" indent="-342900">
              <a:buFont typeface="Arial" panose="020B0604020202020204" pitchFamily="34" charset="0"/>
              <a:buChar char="•"/>
            </a:pPr>
            <a:endParaRPr lang="de-CH" sz="2000" dirty="0">
              <a:latin typeface="Aptos"/>
            </a:endParaRPr>
          </a:p>
          <a:p>
            <a:pPr marL="342900" indent="-342900">
              <a:buFont typeface="Arial" panose="020B0604020202020204" pitchFamily="34" charset="0"/>
              <a:buChar char="•"/>
            </a:pPr>
            <a:r>
              <a:rPr lang="de-CH" sz="2000" dirty="0">
                <a:latin typeface="Aptos"/>
              </a:rPr>
              <a:t>Empfohlene P&amp;S:</a:t>
            </a:r>
            <a:br>
              <a:rPr lang="de-CH" sz="2000" dirty="0">
                <a:latin typeface="Aptos"/>
              </a:rPr>
            </a:br>
            <a:r>
              <a:rPr lang="de-CH" sz="2000" dirty="0">
                <a:latin typeface="Aptos"/>
              </a:rPr>
              <a:t>Python for Engineers</a:t>
            </a:r>
            <a:br>
              <a:rPr lang="de-CH" sz="2000" dirty="0">
                <a:latin typeface="Aptos"/>
              </a:rPr>
            </a:br>
            <a:r>
              <a:rPr lang="de-CH" sz="2000" dirty="0">
                <a:latin typeface="Aptos"/>
              </a:rPr>
              <a:t>Microcontrollers for Sensors and Internet of Things</a:t>
            </a:r>
          </a:p>
          <a:p>
            <a:pPr marL="342900" indent="-342900">
              <a:buFont typeface="Arial" panose="020B0604020202020204" pitchFamily="34" charset="0"/>
              <a:buChar char="•"/>
            </a:pPr>
            <a:endParaRPr lang="de-CH" sz="2000" dirty="0">
              <a:latin typeface="Aptos"/>
            </a:endParaRPr>
          </a:p>
        </p:txBody>
      </p:sp>
      <p:sp>
        <p:nvSpPr>
          <p:cNvPr id="15" name="Datumsplatzhalter 14">
            <a:extLst>
              <a:ext uri="{FF2B5EF4-FFF2-40B4-BE49-F238E27FC236}">
                <a16:creationId xmlns:a16="http://schemas.microsoft.com/office/drawing/2014/main" id="{8B05E649-7BAC-322D-A7D2-EC2537EAED35}"/>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7696B89F-0B9B-A57D-1B56-153A9355CD47}"/>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B97A7E90-50C3-0EB9-D309-8475B4636C2D}"/>
              </a:ext>
            </a:extLst>
          </p:cNvPr>
          <p:cNvSpPr>
            <a:spLocks noGrp="1"/>
          </p:cNvSpPr>
          <p:nvPr>
            <p:ph type="sldNum" sz="quarter" idx="12"/>
          </p:nvPr>
        </p:nvSpPr>
        <p:spPr/>
        <p:txBody>
          <a:bodyPr/>
          <a:lstStyle/>
          <a:p>
            <a:fld id="{C1FF6DA9-008F-8B48-92A6-B652298478BF}" type="slidenum">
              <a:rPr lang="en-US" smtClean="0"/>
              <a:t>17</a:t>
            </a:fld>
            <a:endParaRPr lang="en-US"/>
          </a:p>
        </p:txBody>
      </p:sp>
    </p:spTree>
    <p:extLst>
      <p:ext uri="{BB962C8B-B14F-4D97-AF65-F5344CB8AC3E}">
        <p14:creationId xmlns:p14="http://schemas.microsoft.com/office/powerpoint/2010/main" val="1649676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6E6B1-2A52-B38C-C77F-23613E748D8B}"/>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6C3AB9F0-6AFC-FC8F-0AC0-613502D7A499}"/>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4D9F1682-F1AF-5337-E1B8-BF1BA7EFF9B0}"/>
              </a:ext>
            </a:extLst>
          </p:cNvPr>
          <p:cNvSpPr txBox="1"/>
          <p:nvPr/>
        </p:nvSpPr>
        <p:spPr>
          <a:xfrm>
            <a:off x="945142" y="542673"/>
            <a:ext cx="267702" cy="130805"/>
          </a:xfrm>
          <a:prstGeom prst="rect">
            <a:avLst/>
          </a:prstGeom>
          <a:noFill/>
        </p:spPr>
        <p:txBody>
          <a:bodyPr wrap="none" lIns="0" tIns="0" rIns="0" bIns="0" anchor="ctr">
            <a:spAutoFit/>
          </a:bodyPr>
          <a:lstStyle/>
          <a:p>
            <a:pPr algn="ctr"/>
            <a:r>
              <a:rPr lang="de-CH" sz="850" b="1" dirty="0">
                <a:solidFill>
                  <a:srgbClr val="737373"/>
                </a:solidFill>
                <a:latin typeface="Aptos"/>
              </a:rPr>
              <a:t>Tipps</a:t>
            </a:r>
            <a:endParaRPr sz="850" b="1" dirty="0">
              <a:solidFill>
                <a:srgbClr val="737373"/>
              </a:solidFill>
              <a:latin typeface="Aptos"/>
            </a:endParaRPr>
          </a:p>
        </p:txBody>
      </p:sp>
      <p:sp>
        <p:nvSpPr>
          <p:cNvPr id="4" name="TextBox 3">
            <a:extLst>
              <a:ext uri="{FF2B5EF4-FFF2-40B4-BE49-F238E27FC236}">
                <a16:creationId xmlns:a16="http://schemas.microsoft.com/office/drawing/2014/main" id="{2CCF4F09-55EB-EB10-D8E0-71BE996EE129}"/>
              </a:ext>
            </a:extLst>
          </p:cNvPr>
          <p:cNvSpPr txBox="1"/>
          <p:nvPr/>
        </p:nvSpPr>
        <p:spPr>
          <a:xfrm>
            <a:off x="594360" y="932688"/>
            <a:ext cx="1915076" cy="477054"/>
          </a:xfrm>
          <a:prstGeom prst="rect">
            <a:avLst/>
          </a:prstGeom>
          <a:noFill/>
        </p:spPr>
        <p:txBody>
          <a:bodyPr wrap="none" lIns="0" tIns="0" rIns="0" bIns="0" anchor="t">
            <a:spAutoFit/>
          </a:bodyPr>
          <a:lstStyle/>
          <a:p>
            <a:pPr algn="l"/>
            <a:r>
              <a:rPr lang="de-CH" sz="3100" b="1" dirty="0">
                <a:solidFill>
                  <a:srgbClr val="171717"/>
                </a:solidFill>
                <a:latin typeface="Aptos"/>
              </a:rPr>
              <a:t>Lernphase</a:t>
            </a:r>
            <a:endParaRPr sz="3100" b="1" dirty="0">
              <a:solidFill>
                <a:srgbClr val="171717"/>
              </a:solidFill>
              <a:latin typeface="Aptos"/>
            </a:endParaRPr>
          </a:p>
        </p:txBody>
      </p:sp>
      <p:sp>
        <p:nvSpPr>
          <p:cNvPr id="11" name="TextBox 10">
            <a:extLst>
              <a:ext uri="{FF2B5EF4-FFF2-40B4-BE49-F238E27FC236}">
                <a16:creationId xmlns:a16="http://schemas.microsoft.com/office/drawing/2014/main" id="{18EE3836-EF46-4B65-C6D3-2AB4A29A83D2}"/>
              </a:ext>
            </a:extLst>
          </p:cNvPr>
          <p:cNvSpPr txBox="1"/>
          <p:nvPr/>
        </p:nvSpPr>
        <p:spPr>
          <a:xfrm>
            <a:off x="594360" y="1574334"/>
            <a:ext cx="10945368" cy="2462213"/>
          </a:xfrm>
          <a:prstGeom prst="rect">
            <a:avLst/>
          </a:prstGeom>
          <a:noFill/>
        </p:spPr>
        <p:txBody>
          <a:bodyPr wrap="square" lIns="0" tIns="0" rIns="0" bIns="0" anchor="t">
            <a:spAutoFit/>
          </a:bodyPr>
          <a:lstStyle/>
          <a:p>
            <a:pPr marL="342900" indent="-342900">
              <a:buFont typeface="Arial" panose="020B0604020202020204" pitchFamily="34" charset="0"/>
              <a:buChar char="•"/>
            </a:pPr>
            <a:r>
              <a:rPr lang="de-CH" sz="2000" dirty="0"/>
              <a:t>Gönnt euch ein paar Tage (zwischen Weihnachten und Neujahr) frei:) </a:t>
            </a:r>
          </a:p>
          <a:p>
            <a:pPr marL="342900" indent="-342900">
              <a:buFont typeface="Arial" panose="020B0604020202020204" pitchFamily="34" charset="0"/>
              <a:buChar char="•"/>
            </a:pPr>
            <a:r>
              <a:rPr lang="de-CH" sz="2000" dirty="0"/>
              <a:t>Plant eure Lernphase falls ihr das braucht (Viele machen es, ich z.B. aber nicht)</a:t>
            </a:r>
          </a:p>
          <a:p>
            <a:pPr marL="342900" indent="-342900">
              <a:buFont typeface="Arial" panose="020B0604020202020204" pitchFamily="34" charset="0"/>
              <a:buChar char="•"/>
            </a:pPr>
            <a:r>
              <a:rPr lang="de-CH" sz="2000" dirty="0"/>
              <a:t>Serien (nochmals) lösen/überfliegen – wichtigsten Konzepte/Themen spotten </a:t>
            </a:r>
          </a:p>
          <a:p>
            <a:pPr marL="342900" indent="-342900">
              <a:buFont typeface="Arial" panose="020B0604020202020204" pitchFamily="34" charset="0"/>
              <a:buChar char="•"/>
            </a:pPr>
            <a:r>
              <a:rPr lang="de-CH" sz="2000" dirty="0"/>
              <a:t>Gegen Ende der Lernphase: alte Prüfungen simulieren (AMIV) </a:t>
            </a:r>
          </a:p>
          <a:p>
            <a:pPr marL="342900" indent="-342900">
              <a:buFont typeface="Arial" panose="020B0604020202020204" pitchFamily="34" charset="0"/>
              <a:buChar char="•"/>
            </a:pPr>
            <a:r>
              <a:rPr lang="de-CH" sz="2000" dirty="0"/>
              <a:t>Falls nötig Theorie aus den Übungen nochmals durchgehen (</a:t>
            </a:r>
            <a:r>
              <a:rPr lang="de-CH" sz="2000" dirty="0" err="1"/>
              <a:t>worst</a:t>
            </a:r>
            <a:r>
              <a:rPr lang="de-CH" sz="2000" dirty="0"/>
              <a:t> </a:t>
            </a:r>
            <a:r>
              <a:rPr lang="de-CH" sz="2000" dirty="0" err="1"/>
              <a:t>case</a:t>
            </a:r>
            <a:r>
              <a:rPr lang="de-CH" sz="2000" dirty="0"/>
              <a:t> Theorie aus den VL)</a:t>
            </a:r>
          </a:p>
          <a:p>
            <a:pPr marL="342900" indent="-342900">
              <a:buFont typeface="Arial" panose="020B0604020202020204" pitchFamily="34" charset="0"/>
              <a:buChar char="•"/>
            </a:pPr>
            <a:r>
              <a:rPr lang="de-CH" sz="2000" dirty="0"/>
              <a:t>Mit Zusammenfassung Arbeiten</a:t>
            </a:r>
          </a:p>
          <a:p>
            <a:pPr marL="342900" indent="-342900">
              <a:buFont typeface="Arial" panose="020B0604020202020204" pitchFamily="34" charset="0"/>
              <a:buChar char="•"/>
            </a:pPr>
            <a:r>
              <a:rPr lang="de-CH" sz="2000" dirty="0"/>
              <a:t>Beispielsfragen zu den wichtigen Themen selber ausdenken? Was könnte anderes gefragt sein in einem Aufgabentyp. Funktioniert sehr gut mit KI</a:t>
            </a:r>
            <a:endParaRPr lang="de-CH" sz="2000" dirty="0">
              <a:latin typeface="Aptos"/>
            </a:endParaRPr>
          </a:p>
        </p:txBody>
      </p:sp>
      <p:sp>
        <p:nvSpPr>
          <p:cNvPr id="15" name="Datumsplatzhalter 14">
            <a:extLst>
              <a:ext uri="{FF2B5EF4-FFF2-40B4-BE49-F238E27FC236}">
                <a16:creationId xmlns:a16="http://schemas.microsoft.com/office/drawing/2014/main" id="{42F2C13E-BAAC-04FF-1172-02E2737CB3D2}"/>
              </a:ext>
            </a:extLst>
          </p:cNvPr>
          <p:cNvSpPr>
            <a:spLocks noGrp="1"/>
          </p:cNvSpPr>
          <p:nvPr>
            <p:ph type="dt" sz="half" idx="10"/>
          </p:nvPr>
        </p:nvSpPr>
        <p:spPr/>
        <p:txBody>
          <a:bodyPr/>
          <a:lstStyle/>
          <a:p>
            <a:fld id="{51415576-C691-40BD-B606-8759136B244D}" type="datetime1">
              <a:rPr lang="de-CH" smtClean="0"/>
              <a:t>28.10.2026</a:t>
            </a:fld>
            <a:endParaRPr lang="en-US"/>
          </a:p>
        </p:txBody>
      </p:sp>
      <p:sp>
        <p:nvSpPr>
          <p:cNvPr id="16" name="Fußzeilenplatzhalter 15">
            <a:extLst>
              <a:ext uri="{FF2B5EF4-FFF2-40B4-BE49-F238E27FC236}">
                <a16:creationId xmlns:a16="http://schemas.microsoft.com/office/drawing/2014/main" id="{994779E6-5CB5-9955-DEE7-B41833665E5D}"/>
              </a:ext>
            </a:extLst>
          </p:cNvPr>
          <p:cNvSpPr>
            <a:spLocks noGrp="1"/>
          </p:cNvSpPr>
          <p:nvPr>
            <p:ph type="ftr" sz="quarter" idx="11"/>
          </p:nvPr>
        </p:nvSpPr>
        <p:spPr/>
        <p:txBody>
          <a:bodyPr/>
          <a:lstStyle/>
          <a:p>
            <a:r>
              <a:rPr lang="en-US"/>
              <a:t>Enrico Putzi W07</a:t>
            </a:r>
          </a:p>
        </p:txBody>
      </p:sp>
      <p:sp>
        <p:nvSpPr>
          <p:cNvPr id="17" name="Foliennummernplatzhalter 16">
            <a:extLst>
              <a:ext uri="{FF2B5EF4-FFF2-40B4-BE49-F238E27FC236}">
                <a16:creationId xmlns:a16="http://schemas.microsoft.com/office/drawing/2014/main" id="{A87F0EE0-9AB6-B431-8B02-BED8C6F55DE0}"/>
              </a:ext>
            </a:extLst>
          </p:cNvPr>
          <p:cNvSpPr>
            <a:spLocks noGrp="1"/>
          </p:cNvSpPr>
          <p:nvPr>
            <p:ph type="sldNum" sz="quarter" idx="12"/>
          </p:nvPr>
        </p:nvSpPr>
        <p:spPr/>
        <p:txBody>
          <a:bodyPr/>
          <a:lstStyle/>
          <a:p>
            <a:fld id="{C1FF6DA9-008F-8B48-92A6-B652298478BF}" type="slidenum">
              <a:rPr lang="en-US" smtClean="0"/>
              <a:t>18</a:t>
            </a:fld>
            <a:endParaRPr lang="en-US"/>
          </a:p>
        </p:txBody>
      </p:sp>
    </p:spTree>
    <p:extLst>
      <p:ext uri="{BB962C8B-B14F-4D97-AF65-F5344CB8AC3E}">
        <p14:creationId xmlns:p14="http://schemas.microsoft.com/office/powerpoint/2010/main" val="127701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FC654-9E93-1BE7-4CBD-291D16800A75}"/>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B6CD3897-D6C6-8596-2454-1E7A5782920E}"/>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31D1BAE-E465-5825-6365-72A19854EBB6}"/>
              </a:ext>
            </a:extLst>
          </p:cNvPr>
          <p:cNvSpPr txBox="1"/>
          <p:nvPr/>
        </p:nvSpPr>
        <p:spPr>
          <a:xfrm>
            <a:off x="873811" y="542673"/>
            <a:ext cx="410369" cy="130805"/>
          </a:xfrm>
          <a:prstGeom prst="rect">
            <a:avLst/>
          </a:prstGeom>
          <a:noFill/>
        </p:spPr>
        <p:txBody>
          <a:bodyPr wrap="none" lIns="0" tIns="0" rIns="0" bIns="0" anchor="ctr">
            <a:spAutoFit/>
          </a:bodyPr>
          <a:lstStyle/>
          <a:p>
            <a:pPr algn="ctr"/>
            <a:r>
              <a:rPr lang="de-CH" sz="850" b="1" dirty="0">
                <a:solidFill>
                  <a:srgbClr val="737373"/>
                </a:solidFill>
                <a:latin typeface="Aptos"/>
              </a:rPr>
              <a:t>Aufgabe</a:t>
            </a:r>
            <a:endParaRPr sz="850" b="1" dirty="0">
              <a:solidFill>
                <a:srgbClr val="737373"/>
              </a:solidFill>
              <a:latin typeface="Aptos"/>
            </a:endParaRPr>
          </a:p>
        </p:txBody>
      </p:sp>
      <p:sp>
        <p:nvSpPr>
          <p:cNvPr id="4" name="TextBox 3">
            <a:extLst>
              <a:ext uri="{FF2B5EF4-FFF2-40B4-BE49-F238E27FC236}">
                <a16:creationId xmlns:a16="http://schemas.microsoft.com/office/drawing/2014/main" id="{85AB3902-8FDC-AFD7-6C5D-30F28D516220}"/>
              </a:ext>
            </a:extLst>
          </p:cNvPr>
          <p:cNvSpPr txBox="1"/>
          <p:nvPr/>
        </p:nvSpPr>
        <p:spPr>
          <a:xfrm>
            <a:off x="594360" y="932688"/>
            <a:ext cx="2913683" cy="477054"/>
          </a:xfrm>
          <a:prstGeom prst="rect">
            <a:avLst/>
          </a:prstGeom>
          <a:noFill/>
        </p:spPr>
        <p:txBody>
          <a:bodyPr wrap="none" lIns="0" tIns="0" rIns="0" bIns="0" anchor="t">
            <a:spAutoFit/>
          </a:bodyPr>
          <a:lstStyle/>
          <a:p>
            <a:pPr algn="l"/>
            <a:r>
              <a:rPr lang="de-CH" sz="3100" b="1" dirty="0" err="1">
                <a:solidFill>
                  <a:srgbClr val="171717"/>
                </a:solidFill>
                <a:latin typeface="Aptos"/>
              </a:rPr>
              <a:t>Moodle</a:t>
            </a:r>
            <a:r>
              <a:rPr lang="de-CH" sz="3100" b="1" dirty="0">
                <a:solidFill>
                  <a:srgbClr val="171717"/>
                </a:solidFill>
                <a:latin typeface="Aptos"/>
              </a:rPr>
              <a:t> Aufgabe</a:t>
            </a:r>
            <a:endParaRPr sz="3100" b="1" dirty="0">
              <a:solidFill>
                <a:srgbClr val="171717"/>
              </a:solidFill>
              <a:latin typeface="Aptos"/>
            </a:endParaRPr>
          </a:p>
        </p:txBody>
      </p:sp>
      <p:sp>
        <p:nvSpPr>
          <p:cNvPr id="15" name="Datumsplatzhalter 14">
            <a:extLst>
              <a:ext uri="{FF2B5EF4-FFF2-40B4-BE49-F238E27FC236}">
                <a16:creationId xmlns:a16="http://schemas.microsoft.com/office/drawing/2014/main" id="{55E3EC27-208B-FD50-FECF-577FD62DCD0E}"/>
              </a:ext>
            </a:extLst>
          </p:cNvPr>
          <p:cNvSpPr>
            <a:spLocks noGrp="1"/>
          </p:cNvSpPr>
          <p:nvPr>
            <p:ph type="dt" sz="half" idx="10"/>
          </p:nvPr>
        </p:nvSpPr>
        <p:spPr/>
        <p:txBody>
          <a:bodyPr/>
          <a:lstStyle/>
          <a:p>
            <a:fld id="{B58C6648-1F61-40C3-A78F-6CBEE80B1B6F}" type="datetime1">
              <a:rPr lang="de-CH" smtClean="0"/>
              <a:t>28.10.2026</a:t>
            </a:fld>
            <a:endParaRPr lang="en-US"/>
          </a:p>
        </p:txBody>
      </p:sp>
      <p:sp>
        <p:nvSpPr>
          <p:cNvPr id="16" name="Fußzeilenplatzhalter 15">
            <a:extLst>
              <a:ext uri="{FF2B5EF4-FFF2-40B4-BE49-F238E27FC236}">
                <a16:creationId xmlns:a16="http://schemas.microsoft.com/office/drawing/2014/main" id="{6D11AE9B-8E6D-ED73-DB05-31ACE6A82AD3}"/>
              </a:ext>
            </a:extLst>
          </p:cNvPr>
          <p:cNvSpPr>
            <a:spLocks noGrp="1"/>
          </p:cNvSpPr>
          <p:nvPr>
            <p:ph type="ftr" sz="quarter" idx="11"/>
          </p:nvPr>
        </p:nvSpPr>
        <p:spPr/>
        <p:txBody>
          <a:bodyPr/>
          <a:lstStyle/>
          <a:p>
            <a:r>
              <a:rPr lang="en-US"/>
              <a:t>Enrico Putzi W07</a:t>
            </a:r>
            <a:endParaRPr lang="en-US" dirty="0"/>
          </a:p>
        </p:txBody>
      </p:sp>
      <p:sp>
        <p:nvSpPr>
          <p:cNvPr id="17" name="Foliennummernplatzhalter 16">
            <a:extLst>
              <a:ext uri="{FF2B5EF4-FFF2-40B4-BE49-F238E27FC236}">
                <a16:creationId xmlns:a16="http://schemas.microsoft.com/office/drawing/2014/main" id="{475C5BBE-0813-F137-A70F-E57461036FA1}"/>
              </a:ext>
            </a:extLst>
          </p:cNvPr>
          <p:cNvSpPr>
            <a:spLocks noGrp="1"/>
          </p:cNvSpPr>
          <p:nvPr>
            <p:ph type="sldNum" sz="quarter" idx="12"/>
          </p:nvPr>
        </p:nvSpPr>
        <p:spPr/>
        <p:txBody>
          <a:bodyPr/>
          <a:lstStyle/>
          <a:p>
            <a:fld id="{C1FF6DA9-008F-8B48-92A6-B652298478BF}" type="slidenum">
              <a:rPr lang="en-US" smtClean="0"/>
              <a:t>19</a:t>
            </a:fld>
            <a:endParaRPr lang="en-US"/>
          </a:p>
        </p:txBody>
      </p:sp>
      <p:pic>
        <p:nvPicPr>
          <p:cNvPr id="6" name="Grafik 10" descr="Moodle-Aufgabe 3">
            <a:extLst>
              <a:ext uri="{FF2B5EF4-FFF2-40B4-BE49-F238E27FC236}">
                <a16:creationId xmlns:a16="http://schemas.microsoft.com/office/drawing/2014/main" id="{AC535A32-7F28-C811-E43B-C9F920002B7B}"/>
              </a:ext>
            </a:extLst>
          </p:cNvPr>
          <p:cNvPicPr>
            <a:picLocks noChangeAspect="1"/>
          </p:cNvPicPr>
          <p:nvPr/>
        </p:nvPicPr>
        <p:blipFill>
          <a:blip r:embed="rId3"/>
          <a:stretch>
            <a:fillRect/>
          </a:stretch>
        </p:blipFill>
        <p:spPr>
          <a:xfrm>
            <a:off x="731838" y="1412875"/>
            <a:ext cx="3586374" cy="2000000"/>
          </a:xfrm>
          <a:prstGeom prst="rect">
            <a:avLst/>
          </a:prstGeom>
        </p:spPr>
      </p:pic>
      <mc:AlternateContent xmlns:mc="http://schemas.openxmlformats.org/markup-compatibility/2006">
        <mc:Choice xmlns:a14="http://schemas.microsoft.com/office/drawing/2010/main" Requires="a14">
          <p:sp>
            <p:nvSpPr>
              <p:cNvPr id="8" name="Aufgabentext 60">
                <a:extLst>
                  <a:ext uri="{FF2B5EF4-FFF2-40B4-BE49-F238E27FC236}">
                    <a16:creationId xmlns:a16="http://schemas.microsoft.com/office/drawing/2014/main" id="{6DDD7350-2B27-4F86-A7AB-DF843C3FCB49}"/>
                  </a:ext>
                </a:extLst>
              </p:cNvPr>
              <p:cNvSpPr txBox="1"/>
              <p:nvPr/>
            </p:nvSpPr>
            <p:spPr>
              <a:xfrm>
                <a:off x="731838" y="3612875"/>
                <a:ext cx="5040000" cy="758990"/>
              </a:xfrm>
              <a:prstGeom prst="rect">
                <a:avLst/>
              </a:prstGeom>
              <a:noFill/>
            </p:spPr>
            <p:txBody>
              <a:bodyPr wrap="square" lIns="0" rIns="0" rtlCol="0">
                <a:spAutoFit/>
              </a:bodyPr>
              <a:lstStyle/>
              <a:p>
                <a:pPr marL="0" indent="0">
                  <a:buNone/>
                </a:pPr>
                <a:r>
                  <a:rPr lang="de-CH" sz="1400" dirty="0"/>
                  <a:t>Die obige Schaltung enthält die Widerstände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1</m:t>
                        </m:r>
                      </m:sub>
                    </m:sSub>
                  </m:oMath>
                </a14:m>
                <a:r>
                  <a:rPr lang="de-CH" sz="1400" dirty="0"/>
                  <a:t> = 55 Ω,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2</m:t>
                        </m:r>
                      </m:sub>
                    </m:sSub>
                  </m:oMath>
                </a14:m>
                <a:r>
                  <a:rPr lang="de-CH" sz="1400" dirty="0"/>
                  <a:t> = 40 Ω,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3</m:t>
                        </m:r>
                      </m:sub>
                    </m:sSub>
                  </m:oMath>
                </a14:m>
                <a:r>
                  <a:rPr lang="de-CH" sz="1400" dirty="0"/>
                  <a:t> = 45 Ω,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4</m:t>
                        </m:r>
                      </m:sub>
                    </m:sSub>
                  </m:oMath>
                </a14:m>
                <a:r>
                  <a:rPr lang="de-CH" sz="1400" dirty="0"/>
                  <a:t> = 50 Ω und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5</m:t>
                        </m:r>
                      </m:sub>
                    </m:sSub>
                  </m:oMath>
                </a14:m>
                <a:r>
                  <a:rPr lang="de-CH" sz="1400" dirty="0"/>
                  <a:t> = 60 Ω. Bestimmt den Gesamtwiderstand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m:rPr>
                            <m:sty m:val="p"/>
                          </m:rPr>
                          <a:rPr lang="de-CH" sz="1400" b="0" i="1" noProof="0" smtClean="0">
                            <a:latin typeface="Cambria Math" panose="02040503050406030204" pitchFamily="18" charset="0"/>
                          </a:rPr>
                          <m:t>ges</m:t>
                        </m:r>
                      </m:sub>
                    </m:sSub>
                  </m:oMath>
                </a14:m>
                <a:r>
                  <a:rPr lang="de-CH" sz="1400" dirty="0"/>
                  <a:t> der Anordnung.</a:t>
                </a:r>
              </a:p>
            </p:txBody>
          </p:sp>
        </mc:Choice>
        <mc:Fallback>
          <p:sp>
            <p:nvSpPr>
              <p:cNvPr id="8" name="Aufgabentext 60">
                <a:extLst>
                  <a:ext uri="{FF2B5EF4-FFF2-40B4-BE49-F238E27FC236}">
                    <a16:creationId xmlns:a16="http://schemas.microsoft.com/office/drawing/2014/main" id="{6DDD7350-2B27-4F86-A7AB-DF843C3FCB49}"/>
                  </a:ext>
                </a:extLst>
              </p:cNvPr>
              <p:cNvSpPr txBox="1">
                <a:spLocks noRot="1" noChangeAspect="1" noMove="1" noResize="1" noEditPoints="1" noAdjustHandles="1" noChangeArrowheads="1" noChangeShapeType="1" noTextEdit="1"/>
              </p:cNvSpPr>
              <p:nvPr/>
            </p:nvSpPr>
            <p:spPr>
              <a:xfrm>
                <a:off x="731838" y="3612875"/>
                <a:ext cx="5040000" cy="758990"/>
              </a:xfrm>
              <a:prstGeom prst="rect">
                <a:avLst/>
              </a:prstGeom>
              <a:blipFill>
                <a:blip r:embed="rId4"/>
                <a:stretch>
                  <a:fillRect l="-2177" t="-1613" b="-5645"/>
                </a:stretch>
              </a:blipFill>
            </p:spPr>
            <p:txBody>
              <a:bodyPr/>
              <a:lstStyle/>
              <a:p>
                <a:r>
                  <a:rPr lang="de-CH">
                    <a:noFill/>
                  </a:rPr>
                  <a:t> </a:t>
                </a:r>
              </a:p>
            </p:txBody>
          </p:sp>
        </mc:Fallback>
      </mc:AlternateContent>
    </p:spTree>
    <p:extLst>
      <p:ext uri="{BB962C8B-B14F-4D97-AF65-F5344CB8AC3E}">
        <p14:creationId xmlns:p14="http://schemas.microsoft.com/office/powerpoint/2010/main" val="290878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E897A01-35C4-0176-4D4F-364E7E941C10}"/>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65A9B8FE-7F20-0FBA-6F2F-1517B4825038}"/>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A3B2221-7D98-5B3A-5F19-BA486CF0C688}"/>
              </a:ext>
            </a:extLst>
          </p:cNvPr>
          <p:cNvSpPr txBox="1"/>
          <p:nvPr/>
        </p:nvSpPr>
        <p:spPr>
          <a:xfrm>
            <a:off x="873811" y="542673"/>
            <a:ext cx="410369" cy="130805"/>
          </a:xfrm>
          <a:prstGeom prst="rect">
            <a:avLst/>
          </a:prstGeom>
          <a:noFill/>
        </p:spPr>
        <p:txBody>
          <a:bodyPr wrap="none" lIns="0" tIns="0" rIns="0" bIns="0" anchor="ctr">
            <a:spAutoFit/>
          </a:bodyPr>
          <a:lstStyle/>
          <a:p>
            <a:pPr algn="ctr"/>
            <a:r>
              <a:rPr lang="de-CH" sz="850" b="1" dirty="0">
                <a:solidFill>
                  <a:srgbClr val="737373"/>
                </a:solidFill>
                <a:latin typeface="Aptos"/>
              </a:rPr>
              <a:t>Aufgabe</a:t>
            </a:r>
            <a:endParaRPr sz="850" b="1" dirty="0">
              <a:solidFill>
                <a:srgbClr val="737373"/>
              </a:solidFill>
              <a:latin typeface="Aptos"/>
            </a:endParaRPr>
          </a:p>
        </p:txBody>
      </p:sp>
      <p:sp>
        <p:nvSpPr>
          <p:cNvPr id="4" name="TextBox 3">
            <a:extLst>
              <a:ext uri="{FF2B5EF4-FFF2-40B4-BE49-F238E27FC236}">
                <a16:creationId xmlns:a16="http://schemas.microsoft.com/office/drawing/2014/main" id="{429C891A-B2DF-9B47-8066-9A1BC69E2DE7}"/>
              </a:ext>
            </a:extLst>
          </p:cNvPr>
          <p:cNvSpPr txBox="1"/>
          <p:nvPr/>
        </p:nvSpPr>
        <p:spPr>
          <a:xfrm>
            <a:off x="594360" y="932688"/>
            <a:ext cx="2913683" cy="477054"/>
          </a:xfrm>
          <a:prstGeom prst="rect">
            <a:avLst/>
          </a:prstGeom>
          <a:noFill/>
        </p:spPr>
        <p:txBody>
          <a:bodyPr wrap="none" lIns="0" tIns="0" rIns="0" bIns="0" anchor="t">
            <a:spAutoFit/>
          </a:bodyPr>
          <a:lstStyle/>
          <a:p>
            <a:pPr algn="l"/>
            <a:r>
              <a:rPr lang="de-CH" sz="3100" b="1" dirty="0" err="1">
                <a:solidFill>
                  <a:srgbClr val="171717"/>
                </a:solidFill>
                <a:latin typeface="Aptos"/>
              </a:rPr>
              <a:t>Moodle</a:t>
            </a:r>
            <a:r>
              <a:rPr lang="de-CH" sz="3100" b="1" dirty="0">
                <a:solidFill>
                  <a:srgbClr val="171717"/>
                </a:solidFill>
                <a:latin typeface="Aptos"/>
              </a:rPr>
              <a:t> Aufgabe</a:t>
            </a:r>
            <a:endParaRPr sz="3100" b="1" dirty="0">
              <a:solidFill>
                <a:srgbClr val="171717"/>
              </a:solidFill>
              <a:latin typeface="Aptos"/>
            </a:endParaRPr>
          </a:p>
        </p:txBody>
      </p:sp>
      <p:sp>
        <p:nvSpPr>
          <p:cNvPr id="15" name="Datumsplatzhalter 14">
            <a:extLst>
              <a:ext uri="{FF2B5EF4-FFF2-40B4-BE49-F238E27FC236}">
                <a16:creationId xmlns:a16="http://schemas.microsoft.com/office/drawing/2014/main" id="{D2CA3DD3-1B3C-17A5-1AD4-EBE980359BBB}"/>
              </a:ext>
            </a:extLst>
          </p:cNvPr>
          <p:cNvSpPr>
            <a:spLocks noGrp="1"/>
          </p:cNvSpPr>
          <p:nvPr>
            <p:ph type="dt" sz="half" idx="10"/>
          </p:nvPr>
        </p:nvSpPr>
        <p:spPr/>
        <p:txBody>
          <a:bodyPr/>
          <a:lstStyle/>
          <a:p>
            <a:fld id="{B58C6648-1F61-40C3-A78F-6CBEE80B1B6F}" type="datetime1">
              <a:rPr lang="de-CH" smtClean="0"/>
              <a:t>28.10.2026</a:t>
            </a:fld>
            <a:endParaRPr lang="en-US"/>
          </a:p>
        </p:txBody>
      </p:sp>
      <p:sp>
        <p:nvSpPr>
          <p:cNvPr id="16" name="Fußzeilenplatzhalter 15">
            <a:extLst>
              <a:ext uri="{FF2B5EF4-FFF2-40B4-BE49-F238E27FC236}">
                <a16:creationId xmlns:a16="http://schemas.microsoft.com/office/drawing/2014/main" id="{BE3B2871-77BE-E653-FD6A-E6F5ABF2BAB6}"/>
              </a:ext>
            </a:extLst>
          </p:cNvPr>
          <p:cNvSpPr>
            <a:spLocks noGrp="1"/>
          </p:cNvSpPr>
          <p:nvPr>
            <p:ph type="ftr" sz="quarter" idx="11"/>
          </p:nvPr>
        </p:nvSpPr>
        <p:spPr/>
        <p:txBody>
          <a:bodyPr/>
          <a:lstStyle/>
          <a:p>
            <a:r>
              <a:rPr lang="en-US"/>
              <a:t>Enrico Putzi W07</a:t>
            </a:r>
            <a:endParaRPr lang="en-US" dirty="0"/>
          </a:p>
        </p:txBody>
      </p:sp>
      <p:sp>
        <p:nvSpPr>
          <p:cNvPr id="17" name="Foliennummernplatzhalter 16">
            <a:extLst>
              <a:ext uri="{FF2B5EF4-FFF2-40B4-BE49-F238E27FC236}">
                <a16:creationId xmlns:a16="http://schemas.microsoft.com/office/drawing/2014/main" id="{E4466A2A-649F-D560-273E-C11EC0B95777}"/>
              </a:ext>
            </a:extLst>
          </p:cNvPr>
          <p:cNvSpPr>
            <a:spLocks noGrp="1"/>
          </p:cNvSpPr>
          <p:nvPr>
            <p:ph type="sldNum" sz="quarter" idx="12"/>
          </p:nvPr>
        </p:nvSpPr>
        <p:spPr/>
        <p:txBody>
          <a:bodyPr/>
          <a:lstStyle/>
          <a:p>
            <a:fld id="{C1FF6DA9-008F-8B48-92A6-B652298478BF}" type="slidenum">
              <a:rPr lang="en-US" smtClean="0"/>
              <a:t>20</a:t>
            </a:fld>
            <a:endParaRPr lang="en-US"/>
          </a:p>
        </p:txBody>
      </p:sp>
      <p:pic>
        <p:nvPicPr>
          <p:cNvPr id="6" name="Grafik 10" descr="Moodle-Aufgabe 3">
            <a:extLst>
              <a:ext uri="{FF2B5EF4-FFF2-40B4-BE49-F238E27FC236}">
                <a16:creationId xmlns:a16="http://schemas.microsoft.com/office/drawing/2014/main" id="{FB2B67D4-A3BC-EE3C-B7FA-C1F2C8F6E4A5}"/>
              </a:ext>
            </a:extLst>
          </p:cNvPr>
          <p:cNvPicPr>
            <a:picLocks noChangeAspect="1"/>
          </p:cNvPicPr>
          <p:nvPr/>
        </p:nvPicPr>
        <p:blipFill>
          <a:blip r:embed="rId3"/>
          <a:stretch>
            <a:fillRect/>
          </a:stretch>
        </p:blipFill>
        <p:spPr>
          <a:xfrm>
            <a:off x="731838" y="1412875"/>
            <a:ext cx="3586374" cy="2000000"/>
          </a:xfrm>
          <a:prstGeom prst="rect">
            <a:avLst/>
          </a:prstGeom>
        </p:spPr>
      </p:pic>
      <mc:AlternateContent xmlns:mc="http://schemas.openxmlformats.org/markup-compatibility/2006">
        <mc:Choice xmlns:a14="http://schemas.microsoft.com/office/drawing/2010/main" Requires="a14">
          <p:sp>
            <p:nvSpPr>
              <p:cNvPr id="8" name="Aufgabentext 60">
                <a:extLst>
                  <a:ext uri="{FF2B5EF4-FFF2-40B4-BE49-F238E27FC236}">
                    <a16:creationId xmlns:a16="http://schemas.microsoft.com/office/drawing/2014/main" id="{586616E2-92C4-4B04-2582-F1E016716ED7}"/>
                  </a:ext>
                </a:extLst>
              </p:cNvPr>
              <p:cNvSpPr txBox="1"/>
              <p:nvPr/>
            </p:nvSpPr>
            <p:spPr>
              <a:xfrm>
                <a:off x="731838" y="3612875"/>
                <a:ext cx="5040000" cy="758990"/>
              </a:xfrm>
              <a:prstGeom prst="rect">
                <a:avLst/>
              </a:prstGeom>
              <a:noFill/>
            </p:spPr>
            <p:txBody>
              <a:bodyPr wrap="square" lIns="0" rIns="0" rtlCol="0">
                <a:spAutoFit/>
              </a:bodyPr>
              <a:lstStyle/>
              <a:p>
                <a:pPr marL="0" indent="0">
                  <a:buNone/>
                </a:pPr>
                <a:r>
                  <a:rPr lang="de-CH" sz="1400" dirty="0"/>
                  <a:t>Die obige Schaltung enthält die Widerstände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1</m:t>
                        </m:r>
                      </m:sub>
                    </m:sSub>
                  </m:oMath>
                </a14:m>
                <a:r>
                  <a:rPr lang="de-CH" sz="1400" dirty="0"/>
                  <a:t> = 55 Ω,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2</m:t>
                        </m:r>
                      </m:sub>
                    </m:sSub>
                  </m:oMath>
                </a14:m>
                <a:r>
                  <a:rPr lang="de-CH" sz="1400" dirty="0"/>
                  <a:t> = 40 Ω,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3</m:t>
                        </m:r>
                      </m:sub>
                    </m:sSub>
                  </m:oMath>
                </a14:m>
                <a:r>
                  <a:rPr lang="de-CH" sz="1400" dirty="0"/>
                  <a:t> = 45 Ω,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4</m:t>
                        </m:r>
                      </m:sub>
                    </m:sSub>
                  </m:oMath>
                </a14:m>
                <a:r>
                  <a:rPr lang="de-CH" sz="1400" dirty="0"/>
                  <a:t> = 50 Ω und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5</m:t>
                        </m:r>
                      </m:sub>
                    </m:sSub>
                  </m:oMath>
                </a14:m>
                <a:r>
                  <a:rPr lang="de-CH" sz="1400" dirty="0"/>
                  <a:t> = 60 Ω. Bestimmt den Gesamtwiderstand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m:rPr>
                            <m:sty m:val="p"/>
                          </m:rPr>
                          <a:rPr lang="de-CH" sz="1400" b="0" i="1" noProof="0" smtClean="0">
                            <a:latin typeface="Cambria Math" panose="02040503050406030204" pitchFamily="18" charset="0"/>
                          </a:rPr>
                          <m:t>ges</m:t>
                        </m:r>
                      </m:sub>
                    </m:sSub>
                  </m:oMath>
                </a14:m>
                <a:r>
                  <a:rPr lang="de-CH" sz="1400" dirty="0"/>
                  <a:t> der Anordnung.</a:t>
                </a:r>
              </a:p>
            </p:txBody>
          </p:sp>
        </mc:Choice>
        <mc:Fallback>
          <p:sp>
            <p:nvSpPr>
              <p:cNvPr id="8" name="Aufgabentext 60">
                <a:extLst>
                  <a:ext uri="{FF2B5EF4-FFF2-40B4-BE49-F238E27FC236}">
                    <a16:creationId xmlns:a16="http://schemas.microsoft.com/office/drawing/2014/main" id="{586616E2-92C4-4B04-2582-F1E016716ED7}"/>
                  </a:ext>
                </a:extLst>
              </p:cNvPr>
              <p:cNvSpPr txBox="1">
                <a:spLocks noRot="1" noChangeAspect="1" noMove="1" noResize="1" noEditPoints="1" noAdjustHandles="1" noChangeArrowheads="1" noChangeShapeType="1" noTextEdit="1"/>
              </p:cNvSpPr>
              <p:nvPr/>
            </p:nvSpPr>
            <p:spPr>
              <a:xfrm>
                <a:off x="731838" y="3612875"/>
                <a:ext cx="5040000" cy="758990"/>
              </a:xfrm>
              <a:prstGeom prst="rect">
                <a:avLst/>
              </a:prstGeom>
              <a:blipFill>
                <a:blip r:embed="rId4"/>
                <a:stretch>
                  <a:fillRect l="-2177" t="-1613" b="-5645"/>
                </a:stretch>
              </a:blipFill>
            </p:spPr>
            <p:txBody>
              <a:bodyPr/>
              <a:lstStyle/>
              <a:p>
                <a:r>
                  <a:rPr lang="de-CH">
                    <a:noFill/>
                  </a:rPr>
                  <a:t> </a:t>
                </a:r>
              </a:p>
            </p:txBody>
          </p:sp>
        </mc:Fallback>
      </mc:AlternateContent>
      <p:pic>
        <p:nvPicPr>
          <p:cNvPr id="5" name="Grafik 61" descr="Schaltung nach der Umwandlung in den Stern RA, RC, RD">
            <a:extLst>
              <a:ext uri="{FF2B5EF4-FFF2-40B4-BE49-F238E27FC236}">
                <a16:creationId xmlns:a16="http://schemas.microsoft.com/office/drawing/2014/main" id="{36C4ADBC-33F0-F268-6063-CE4F6D4DAD54}"/>
              </a:ext>
            </a:extLst>
          </p:cNvPr>
          <p:cNvPicPr>
            <a:picLocks noChangeAspect="1"/>
          </p:cNvPicPr>
          <p:nvPr/>
        </p:nvPicPr>
        <p:blipFill>
          <a:blip r:embed="rId5"/>
          <a:stretch>
            <a:fillRect/>
          </a:stretch>
        </p:blipFill>
        <p:spPr>
          <a:xfrm>
            <a:off x="731838" y="4571865"/>
            <a:ext cx="4647188" cy="1701010"/>
          </a:xfrm>
          <a:prstGeom prst="rect">
            <a:avLst/>
          </a:prstGeom>
        </p:spPr>
      </p:pic>
      <mc:AlternateContent xmlns:mc="http://schemas.openxmlformats.org/markup-compatibility/2006">
        <mc:Choice xmlns:a14="http://schemas.microsoft.com/office/drawing/2010/main" Requires="a14">
          <p:sp>
            <p:nvSpPr>
              <p:cNvPr id="9" name="Content Placeholder 2">
                <a:extLst>
                  <a:ext uri="{FF2B5EF4-FFF2-40B4-BE49-F238E27FC236}">
                    <a16:creationId xmlns:a16="http://schemas.microsoft.com/office/drawing/2014/main" id="{6B2CE899-DAFA-184B-779C-1EF651F6C690}"/>
                  </a:ext>
                </a:extLst>
              </p:cNvPr>
              <p:cNvSpPr txBox="1">
                <a:spLocks/>
              </p:cNvSpPr>
              <p:nvPr/>
            </p:nvSpPr>
            <p:spPr>
              <a:xfrm>
                <a:off x="6204163" y="1412875"/>
                <a:ext cx="5256000" cy="4860000"/>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de-CH" sz="1600" dirty="0"/>
                  <a:t>Gleiche Brückenschaltung wie in Beispiel 1 (Knoten links A, oben C, unten D). Dreieck </a:t>
                </a:r>
                <a14:m>
                  <m:oMath xmlns:m="http://schemas.openxmlformats.org/officeDocument/2006/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oMath>
                </a14:m>
                <a:r>
                  <a:rPr lang="de-CH" sz="1600" dirty="0"/>
                  <a:t>, </a:t>
                </a:r>
                <a14:m>
                  <m:oMath xmlns:m="http://schemas.openxmlformats.org/officeDocument/2006/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oMath>
                </a14:m>
                <a:r>
                  <a:rPr lang="de-CH" sz="1600" dirty="0"/>
                  <a:t>, </a:t>
                </a:r>
                <a14:m>
                  <m:oMath xmlns:m="http://schemas.openxmlformats.org/officeDocument/2006/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3</m:t>
                        </m:r>
                      </m:sub>
                    </m:sSub>
                  </m:oMath>
                </a14:m>
                <a:r>
                  <a:rPr lang="de-CH" sz="1600" dirty="0"/>
                  <a:t> in Stern umwandeln:</a:t>
                </a:r>
              </a:p>
              <a:p>
                <a:pPr marL="0" indent="0" algn="ctr">
                  <a:buFont typeface="Arial"/>
                  <a:buNone/>
                </a:pPr>
                <a14:m>
                  <m:oMathPara xmlns:m="http://schemas.openxmlformats.org/officeDocument/2006/math">
                    <m:o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A</m:t>
                          </m:r>
                        </m:sub>
                      </m:sSub>
                      <m:r>
                        <a:rPr lang="de-CH" sz="1600" i="1" smtClean="0">
                          <a:latin typeface="Cambria Math" panose="02040503050406030204" pitchFamily="18" charset="0"/>
                        </a:rPr>
                        <m:t>=</m:t>
                      </m:r>
                      <m:f>
                        <m:fPr>
                          <m:ctrlPr>
                            <a:rPr lang="de-CH" sz="1600" i="1" smtClean="0">
                              <a:latin typeface="Cambria Math" panose="02040503050406030204" pitchFamily="18" charset="0"/>
                            </a:rPr>
                          </m:ctrlPr>
                        </m:fPr>
                        <m:num>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num>
                        <m:den>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3</m:t>
                              </m:r>
                            </m:sub>
                          </m:sSub>
                        </m:den>
                      </m:f>
                      <m:r>
                        <a:rPr lang="de-CH" sz="1600" i="1" smtClean="0">
                          <a:latin typeface="Cambria Math" panose="02040503050406030204" pitchFamily="18" charset="0"/>
                        </a:rPr>
                        <m:t>=</m:t>
                      </m:r>
                      <m:f>
                        <m:fPr>
                          <m:ctrlPr>
                            <a:rPr lang="de-CH" sz="1600" i="1" smtClean="0">
                              <a:latin typeface="Cambria Math" panose="02040503050406030204" pitchFamily="18" charset="0"/>
                            </a:rPr>
                          </m:ctrlPr>
                        </m:fPr>
                        <m:num>
                          <m:r>
                            <a:rPr lang="de-CH" sz="1600" i="1" smtClean="0">
                              <a:latin typeface="Cambria Math" panose="02040503050406030204" pitchFamily="18" charset="0"/>
                            </a:rPr>
                            <m:t>55 </m:t>
                          </m:r>
                          <m:r>
                            <m:rPr>
                              <m:sty m:val="p"/>
                            </m:rPr>
                            <a:rPr lang="de-CH" sz="1600" i="1" smtClean="0">
                              <a:latin typeface="Cambria Math" panose="02040503050406030204" pitchFamily="18" charset="0"/>
                            </a:rPr>
                            <m:t>Ω</m:t>
                          </m:r>
                          <m:r>
                            <a:rPr lang="de-CH" sz="1600" i="1" smtClean="0">
                              <a:latin typeface="Cambria Math" panose="02040503050406030204" pitchFamily="18" charset="0"/>
                            </a:rPr>
                            <m:t>⋅ 40 </m:t>
                          </m:r>
                          <m:r>
                            <m:rPr>
                              <m:sty m:val="p"/>
                            </m:rPr>
                            <a:rPr lang="de-CH" sz="1600" i="1" smtClean="0">
                              <a:latin typeface="Cambria Math" panose="02040503050406030204" pitchFamily="18" charset="0"/>
                            </a:rPr>
                            <m:t>Ω</m:t>
                          </m:r>
                        </m:num>
                        <m:den>
                          <m:r>
                            <a:rPr lang="de-CH" sz="1600" i="1" smtClean="0">
                              <a:latin typeface="Cambria Math" panose="02040503050406030204" pitchFamily="18" charset="0"/>
                            </a:rPr>
                            <m:t>140 </m:t>
                          </m:r>
                          <m:r>
                            <m:rPr>
                              <m:sty m:val="p"/>
                            </m:rPr>
                            <a:rPr lang="de-CH" sz="1600" i="1" smtClean="0">
                              <a:latin typeface="Cambria Math" panose="02040503050406030204" pitchFamily="18" charset="0"/>
                            </a:rPr>
                            <m:t>Ω</m:t>
                          </m:r>
                        </m:den>
                      </m:f>
                      <m:r>
                        <a:rPr lang="de-CH" sz="1600" i="1" smtClean="0">
                          <a:latin typeface="Cambria Math" panose="02040503050406030204" pitchFamily="18" charset="0"/>
                        </a:rPr>
                        <m:t>≈15.71 </m:t>
                      </m:r>
                      <m:r>
                        <m:rPr>
                          <m:sty m:val="p"/>
                        </m:rPr>
                        <a:rPr lang="de-CH" sz="1600" i="1" smtClean="0">
                          <a:latin typeface="Cambria Math" panose="02040503050406030204" pitchFamily="18" charset="0"/>
                        </a:rPr>
                        <m:t>Ω</m:t>
                      </m:r>
                    </m:oMath>
                  </m:oMathPara>
                </a14:m>
                <a:endParaRPr lang="de-CH" sz="1600" dirty="0"/>
              </a:p>
              <a:p>
                <a:pPr marL="0" indent="0" algn="ctr">
                  <a:buFont typeface="Arial"/>
                  <a:buNone/>
                </a:pPr>
                <a14:m>
                  <m:oMathPara xmlns:m="http://schemas.openxmlformats.org/officeDocument/2006/math">
                    <m:o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C</m:t>
                          </m:r>
                        </m:sub>
                      </m:sSub>
                      <m:r>
                        <a:rPr lang="de-CH" sz="1600" i="1" smtClean="0">
                          <a:latin typeface="Cambria Math" panose="02040503050406030204" pitchFamily="18" charset="0"/>
                        </a:rPr>
                        <m:t>=</m:t>
                      </m:r>
                      <m:f>
                        <m:fPr>
                          <m:ctrlPr>
                            <a:rPr lang="de-CH" sz="1600" i="1" smtClean="0">
                              <a:latin typeface="Cambria Math" panose="02040503050406030204" pitchFamily="18" charset="0"/>
                            </a:rPr>
                          </m:ctrlPr>
                        </m:fPr>
                        <m:num>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3</m:t>
                              </m:r>
                            </m:sub>
                          </m:sSub>
                        </m:num>
                        <m:den>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3</m:t>
                              </m:r>
                            </m:sub>
                          </m:sSub>
                        </m:den>
                      </m:f>
                      <m:r>
                        <a:rPr lang="de-CH" sz="1600" i="1" smtClean="0">
                          <a:latin typeface="Cambria Math" panose="02040503050406030204" pitchFamily="18" charset="0"/>
                        </a:rPr>
                        <m:t>=</m:t>
                      </m:r>
                      <m:f>
                        <m:fPr>
                          <m:ctrlPr>
                            <a:rPr lang="de-CH" sz="1600" i="1" smtClean="0">
                              <a:latin typeface="Cambria Math" panose="02040503050406030204" pitchFamily="18" charset="0"/>
                            </a:rPr>
                          </m:ctrlPr>
                        </m:fPr>
                        <m:num>
                          <m:r>
                            <a:rPr lang="de-CH" sz="1600" i="1" smtClean="0">
                              <a:latin typeface="Cambria Math" panose="02040503050406030204" pitchFamily="18" charset="0"/>
                            </a:rPr>
                            <m:t>55 </m:t>
                          </m:r>
                          <m:r>
                            <m:rPr>
                              <m:sty m:val="p"/>
                            </m:rPr>
                            <a:rPr lang="de-CH" sz="1600" i="1" smtClean="0">
                              <a:latin typeface="Cambria Math" panose="02040503050406030204" pitchFamily="18" charset="0"/>
                            </a:rPr>
                            <m:t>Ω</m:t>
                          </m:r>
                          <m:r>
                            <a:rPr lang="de-CH" sz="1600" i="1" smtClean="0">
                              <a:latin typeface="Cambria Math" panose="02040503050406030204" pitchFamily="18" charset="0"/>
                            </a:rPr>
                            <m:t>⋅ 45 </m:t>
                          </m:r>
                          <m:r>
                            <m:rPr>
                              <m:sty m:val="p"/>
                            </m:rPr>
                            <a:rPr lang="de-CH" sz="1600" i="1" smtClean="0">
                              <a:latin typeface="Cambria Math" panose="02040503050406030204" pitchFamily="18" charset="0"/>
                            </a:rPr>
                            <m:t>Ω</m:t>
                          </m:r>
                        </m:num>
                        <m:den>
                          <m:r>
                            <a:rPr lang="de-CH" sz="1600" i="1" smtClean="0">
                              <a:latin typeface="Cambria Math" panose="02040503050406030204" pitchFamily="18" charset="0"/>
                            </a:rPr>
                            <m:t>140 </m:t>
                          </m:r>
                          <m:r>
                            <m:rPr>
                              <m:sty m:val="p"/>
                            </m:rPr>
                            <a:rPr lang="de-CH" sz="1600" i="1" smtClean="0">
                              <a:latin typeface="Cambria Math" panose="02040503050406030204" pitchFamily="18" charset="0"/>
                            </a:rPr>
                            <m:t>Ω</m:t>
                          </m:r>
                        </m:den>
                      </m:f>
                      <m:r>
                        <a:rPr lang="de-CH" sz="1600" i="1" smtClean="0">
                          <a:latin typeface="Cambria Math" panose="02040503050406030204" pitchFamily="18" charset="0"/>
                        </a:rPr>
                        <m:t>≈17.68 </m:t>
                      </m:r>
                      <m:r>
                        <m:rPr>
                          <m:sty m:val="p"/>
                        </m:rPr>
                        <a:rPr lang="de-CH" sz="1600" i="1" smtClean="0">
                          <a:latin typeface="Cambria Math" panose="02040503050406030204" pitchFamily="18" charset="0"/>
                        </a:rPr>
                        <m:t>Ω</m:t>
                      </m:r>
                    </m:oMath>
                  </m:oMathPara>
                </a14:m>
                <a:endParaRPr lang="de-CH" sz="1600" dirty="0"/>
              </a:p>
              <a:p>
                <a:pPr marL="0" indent="0" algn="ctr">
                  <a:buFont typeface="Arial"/>
                  <a:buNone/>
                </a:pPr>
                <a14:m>
                  <m:oMathPara xmlns:m="http://schemas.openxmlformats.org/officeDocument/2006/math">
                    <m:o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D</m:t>
                          </m:r>
                        </m:sub>
                      </m:sSub>
                      <m:r>
                        <a:rPr lang="de-CH" sz="1600" i="1" smtClean="0">
                          <a:latin typeface="Cambria Math" panose="02040503050406030204" pitchFamily="18" charset="0"/>
                        </a:rPr>
                        <m:t>=</m:t>
                      </m:r>
                      <m:f>
                        <m:fPr>
                          <m:ctrlPr>
                            <a:rPr lang="de-CH" sz="1600" i="1" smtClean="0">
                              <a:latin typeface="Cambria Math" panose="02040503050406030204" pitchFamily="18" charset="0"/>
                            </a:rPr>
                          </m:ctrlPr>
                        </m:fPr>
                        <m:num>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3</m:t>
                              </m:r>
                            </m:sub>
                          </m:sSub>
                        </m:num>
                        <m:den>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3</m:t>
                              </m:r>
                            </m:sub>
                          </m:sSub>
                        </m:den>
                      </m:f>
                      <m:r>
                        <a:rPr lang="de-CH" sz="1600" i="1" smtClean="0">
                          <a:latin typeface="Cambria Math" panose="02040503050406030204" pitchFamily="18" charset="0"/>
                        </a:rPr>
                        <m:t>=</m:t>
                      </m:r>
                      <m:f>
                        <m:fPr>
                          <m:ctrlPr>
                            <a:rPr lang="de-CH" sz="1600" i="1" smtClean="0">
                              <a:latin typeface="Cambria Math" panose="02040503050406030204" pitchFamily="18" charset="0"/>
                            </a:rPr>
                          </m:ctrlPr>
                        </m:fPr>
                        <m:num>
                          <m:r>
                            <a:rPr lang="de-CH" sz="1600" i="1" smtClean="0">
                              <a:latin typeface="Cambria Math" panose="02040503050406030204" pitchFamily="18" charset="0"/>
                            </a:rPr>
                            <m:t>40 </m:t>
                          </m:r>
                          <m:r>
                            <m:rPr>
                              <m:sty m:val="p"/>
                            </m:rPr>
                            <a:rPr lang="de-CH" sz="1600" i="1" smtClean="0">
                              <a:latin typeface="Cambria Math" panose="02040503050406030204" pitchFamily="18" charset="0"/>
                            </a:rPr>
                            <m:t>Ω</m:t>
                          </m:r>
                          <m:r>
                            <a:rPr lang="de-CH" sz="1600" i="1" smtClean="0">
                              <a:latin typeface="Cambria Math" panose="02040503050406030204" pitchFamily="18" charset="0"/>
                            </a:rPr>
                            <m:t>⋅ 45 </m:t>
                          </m:r>
                          <m:r>
                            <m:rPr>
                              <m:sty m:val="p"/>
                            </m:rPr>
                            <a:rPr lang="de-CH" sz="1600" i="1" smtClean="0">
                              <a:latin typeface="Cambria Math" panose="02040503050406030204" pitchFamily="18" charset="0"/>
                            </a:rPr>
                            <m:t>Ω</m:t>
                          </m:r>
                        </m:num>
                        <m:den>
                          <m:r>
                            <a:rPr lang="de-CH" sz="1600" i="1" smtClean="0">
                              <a:latin typeface="Cambria Math" panose="02040503050406030204" pitchFamily="18" charset="0"/>
                            </a:rPr>
                            <m:t>140 </m:t>
                          </m:r>
                          <m:r>
                            <m:rPr>
                              <m:sty m:val="p"/>
                            </m:rPr>
                            <a:rPr lang="de-CH" sz="1600" i="1" smtClean="0">
                              <a:latin typeface="Cambria Math" panose="02040503050406030204" pitchFamily="18" charset="0"/>
                            </a:rPr>
                            <m:t>Ω</m:t>
                          </m:r>
                        </m:den>
                      </m:f>
                      <m:r>
                        <a:rPr lang="de-CH" sz="1600" i="1" smtClean="0">
                          <a:latin typeface="Cambria Math" panose="02040503050406030204" pitchFamily="18" charset="0"/>
                        </a:rPr>
                        <m:t>≈12.86 </m:t>
                      </m:r>
                      <m:r>
                        <m:rPr>
                          <m:sty m:val="p"/>
                        </m:rPr>
                        <a:rPr lang="de-CH" sz="1600" i="1" smtClean="0">
                          <a:latin typeface="Cambria Math" panose="02040503050406030204" pitchFamily="18" charset="0"/>
                        </a:rPr>
                        <m:t>Ω</m:t>
                      </m:r>
                    </m:oMath>
                  </m:oMathPara>
                </a14:m>
                <a:endParaRPr lang="de-CH" sz="1600" dirty="0"/>
              </a:p>
              <a:p>
                <a:r>
                  <a:rPr lang="de-CH" sz="1600" dirty="0"/>
                  <a:t>Gesamtwiderstand:</a:t>
                </a:r>
              </a:p>
              <a:p>
                <a:pPr marL="0" indent="0" algn="ctr">
                  <a:buFont typeface="Arial"/>
                  <a:buNone/>
                </a:pPr>
                <a14:m>
                  <m:oMathPara xmlns:m="http://schemas.openxmlformats.org/officeDocument/2006/math">
                    <m:o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ges</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A</m:t>
                          </m:r>
                        </m:sub>
                      </m:sSub>
                      <m:r>
                        <a:rPr lang="de-CH" sz="1600" i="1" smtClean="0">
                          <a:latin typeface="Cambria Math" panose="02040503050406030204" pitchFamily="18" charset="0"/>
                        </a:rPr>
                        <m:t>+</m:t>
                      </m:r>
                      <m:d>
                        <m:dPr>
                          <m:ctrlPr>
                            <a:rPr lang="de-CH" sz="1600" i="1" smtClean="0">
                              <a:latin typeface="Cambria Math" panose="02040503050406030204" pitchFamily="18" charset="0"/>
                            </a:rPr>
                          </m:ctrlPr>
                        </m:dPr>
                        <m:e>
                          <m:d>
                            <m:dPr>
                              <m:ctrlPr>
                                <a:rPr lang="de-CH" sz="1600" i="1" smtClean="0">
                                  <a:latin typeface="Cambria Math" panose="02040503050406030204" pitchFamily="18" charset="0"/>
                                </a:rPr>
                              </m:ctrlPr>
                            </m:dPr>
                            <m:e>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C</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4</m:t>
                                  </m:r>
                                </m:sub>
                              </m:sSub>
                            </m:e>
                          </m:d>
                          <m:r>
                            <a:rPr lang="de-CH" sz="1600" i="1" smtClean="0">
                              <a:latin typeface="Cambria Math" panose="02040503050406030204" pitchFamily="18" charset="0"/>
                            </a:rPr>
                            <m:t>∥ </m:t>
                          </m:r>
                          <m:d>
                            <m:dPr>
                              <m:ctrlPr>
                                <a:rPr lang="de-CH" sz="1600" i="1" smtClean="0">
                                  <a:latin typeface="Cambria Math" panose="02040503050406030204" pitchFamily="18" charset="0"/>
                                </a:rPr>
                              </m:ctrlPr>
                            </m:dPr>
                            <m:e>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D</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5</m:t>
                                  </m:r>
                                </m:sub>
                              </m:sSub>
                            </m:e>
                          </m:d>
                        </m:e>
                      </m:d>
                    </m:oMath>
                  </m:oMathPara>
                </a14:m>
                <a:endParaRPr lang="de-CH" sz="1600" dirty="0"/>
              </a:p>
              <a:p>
                <a:pPr marL="0" indent="0" algn="ctr">
                  <a:buFont typeface="Arial"/>
                  <a:buNone/>
                </a:pPr>
                <a14:m>
                  <m:oMathPara xmlns:m="http://schemas.openxmlformats.org/officeDocument/2006/math">
                    <m:o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ges</m:t>
                          </m:r>
                        </m:sub>
                      </m:sSub>
                      <m:r>
                        <a:rPr lang="de-CH" sz="1600" i="1" smtClean="0">
                          <a:latin typeface="Cambria Math" panose="02040503050406030204" pitchFamily="18" charset="0"/>
                        </a:rPr>
                        <m:t>≈15.71 </m:t>
                      </m:r>
                      <m:r>
                        <m:rPr>
                          <m:sty m:val="p"/>
                        </m:rPr>
                        <a:rPr lang="de-CH" sz="1600" i="1" smtClean="0">
                          <a:latin typeface="Cambria Math" panose="02040503050406030204" pitchFamily="18" charset="0"/>
                        </a:rPr>
                        <m:t>Ω</m:t>
                      </m:r>
                      <m:r>
                        <a:rPr lang="de-CH" sz="1600" i="1" smtClean="0">
                          <a:latin typeface="Cambria Math" panose="02040503050406030204" pitchFamily="18" charset="0"/>
                        </a:rPr>
                        <m:t>+</m:t>
                      </m:r>
                      <m:d>
                        <m:dPr>
                          <m:ctrlPr>
                            <a:rPr lang="de-CH" sz="1600" i="1" smtClean="0">
                              <a:latin typeface="Cambria Math" panose="02040503050406030204" pitchFamily="18" charset="0"/>
                            </a:rPr>
                          </m:ctrlPr>
                        </m:dPr>
                        <m:e>
                          <m:r>
                            <a:rPr lang="de-CH" sz="1600" i="1" smtClean="0">
                              <a:latin typeface="Cambria Math" panose="02040503050406030204" pitchFamily="18" charset="0"/>
                            </a:rPr>
                            <m:t>67.68 </m:t>
                          </m:r>
                          <m:r>
                            <m:rPr>
                              <m:sty m:val="p"/>
                            </m:rPr>
                            <a:rPr lang="de-CH" sz="1600" i="1" smtClean="0">
                              <a:latin typeface="Cambria Math" panose="02040503050406030204" pitchFamily="18" charset="0"/>
                            </a:rPr>
                            <m:t>Ω</m:t>
                          </m:r>
                          <m:r>
                            <a:rPr lang="de-CH" sz="1600" i="1" smtClean="0">
                              <a:latin typeface="Cambria Math" panose="02040503050406030204" pitchFamily="18" charset="0"/>
                            </a:rPr>
                            <m:t>∥ 72.86 </m:t>
                          </m:r>
                          <m:r>
                            <m:rPr>
                              <m:sty m:val="p"/>
                            </m:rPr>
                            <a:rPr lang="de-CH" sz="1600" i="1" smtClean="0">
                              <a:latin typeface="Cambria Math" panose="02040503050406030204" pitchFamily="18" charset="0"/>
                            </a:rPr>
                            <m:t>Ω</m:t>
                          </m:r>
                        </m:e>
                      </m:d>
                    </m:oMath>
                  </m:oMathPara>
                </a14:m>
                <a:endParaRPr lang="de-CH" sz="1600" dirty="0"/>
              </a:p>
              <a:p>
                <a:pPr marL="0" indent="0" algn="ctr">
                  <a:buFont typeface="Arial"/>
                  <a:buNone/>
                </a:pPr>
                <a14:m>
                  <m:oMathPara xmlns:m="http://schemas.openxmlformats.org/officeDocument/2006/math">
                    <m:o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ges</m:t>
                          </m:r>
                        </m:sub>
                      </m:sSub>
                      <m:r>
                        <a:rPr lang="de-CH" sz="1600" i="1" smtClean="0">
                          <a:latin typeface="Cambria Math" panose="02040503050406030204" pitchFamily="18" charset="0"/>
                        </a:rPr>
                        <m:t>≈15.71 </m:t>
                      </m:r>
                      <m:r>
                        <m:rPr>
                          <m:sty m:val="p"/>
                        </m:rPr>
                        <a:rPr lang="de-CH" sz="1600" i="1" smtClean="0">
                          <a:latin typeface="Cambria Math" panose="02040503050406030204" pitchFamily="18" charset="0"/>
                        </a:rPr>
                        <m:t>Ω</m:t>
                      </m:r>
                      <m:r>
                        <a:rPr lang="de-CH" sz="1600" i="1" smtClean="0">
                          <a:latin typeface="Cambria Math" panose="02040503050406030204" pitchFamily="18" charset="0"/>
                        </a:rPr>
                        <m:t>+35.09 </m:t>
                      </m:r>
                      <m:r>
                        <m:rPr>
                          <m:sty m:val="p"/>
                        </m:rPr>
                        <a:rPr lang="de-CH" sz="1600" i="1" smtClean="0">
                          <a:latin typeface="Cambria Math" panose="02040503050406030204" pitchFamily="18" charset="0"/>
                        </a:rPr>
                        <m:t>Ω</m:t>
                      </m:r>
                      <m:r>
                        <a:rPr lang="de-CH" sz="1600" i="1" smtClean="0">
                          <a:latin typeface="Cambria Math" panose="02040503050406030204" pitchFamily="18" charset="0"/>
                        </a:rPr>
                        <m:t>≈51 </m:t>
                      </m:r>
                      <m:r>
                        <m:rPr>
                          <m:sty m:val="p"/>
                        </m:rPr>
                        <a:rPr lang="de-CH" sz="1600" i="1" smtClean="0">
                          <a:latin typeface="Cambria Math" panose="02040503050406030204" pitchFamily="18" charset="0"/>
                        </a:rPr>
                        <m:t>Ω</m:t>
                      </m:r>
                    </m:oMath>
                  </m:oMathPara>
                </a14:m>
                <a:endParaRPr lang="de-CH" sz="1600" dirty="0"/>
              </a:p>
              <a:p>
                <a:pPr marL="0" indent="0">
                  <a:buFont typeface="Arial"/>
                  <a:buNone/>
                </a:pPr>
                <a:r>
                  <a:rPr lang="de-CH" sz="1200" i="1" dirty="0"/>
                  <a:t>Mit ungerundeten Zwischenergebnissen weiterrechnen!</a:t>
                </a:r>
                <a:endParaRPr lang="de-CH" sz="1200" dirty="0"/>
              </a:p>
            </p:txBody>
          </p:sp>
        </mc:Choice>
        <mc:Fallback>
          <p:sp>
            <p:nvSpPr>
              <p:cNvPr id="9" name="Content Placeholder 2">
                <a:extLst>
                  <a:ext uri="{FF2B5EF4-FFF2-40B4-BE49-F238E27FC236}">
                    <a16:creationId xmlns:a16="http://schemas.microsoft.com/office/drawing/2014/main" id="{6B2CE899-DAFA-184B-779C-1EF651F6C690}"/>
                  </a:ext>
                </a:extLst>
              </p:cNvPr>
              <p:cNvSpPr txBox="1">
                <a:spLocks noRot="1" noChangeAspect="1" noMove="1" noResize="1" noEditPoints="1" noAdjustHandles="1" noChangeArrowheads="1" noChangeShapeType="1" noTextEdit="1"/>
              </p:cNvSpPr>
              <p:nvPr/>
            </p:nvSpPr>
            <p:spPr>
              <a:xfrm>
                <a:off x="6204163" y="1412875"/>
                <a:ext cx="5256000" cy="4860000"/>
              </a:xfrm>
              <a:prstGeom prst="rect">
                <a:avLst/>
              </a:prstGeom>
              <a:blipFill>
                <a:blip r:embed="rId6"/>
                <a:stretch>
                  <a:fillRect l="-464" t="-376"/>
                </a:stretch>
              </a:blipFill>
            </p:spPr>
            <p:txBody>
              <a:bodyPr/>
              <a:lstStyle/>
              <a:p>
                <a:r>
                  <a:rPr lang="de-CH">
                    <a:noFill/>
                  </a:rPr>
                  <a:t> </a:t>
                </a:r>
              </a:p>
            </p:txBody>
          </p:sp>
        </mc:Fallback>
      </mc:AlternateContent>
    </p:spTree>
    <p:extLst>
      <p:ext uri="{BB962C8B-B14F-4D97-AF65-F5344CB8AC3E}">
        <p14:creationId xmlns:p14="http://schemas.microsoft.com/office/powerpoint/2010/main" val="1868981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xEl>
                                              <p:pRg st="7" end="7"/>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1DD1A-B3A8-D1D2-57BA-0EDF1CEAA28C}"/>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687529D2-02CB-6F89-8CE2-279E7B16C6AA}"/>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2EF414A-E2D0-2B44-10D0-10C99119EEED}"/>
              </a:ext>
            </a:extLst>
          </p:cNvPr>
          <p:cNvSpPr txBox="1"/>
          <p:nvPr/>
        </p:nvSpPr>
        <p:spPr>
          <a:xfrm>
            <a:off x="873811" y="542673"/>
            <a:ext cx="410369" cy="130805"/>
          </a:xfrm>
          <a:prstGeom prst="rect">
            <a:avLst/>
          </a:prstGeom>
          <a:noFill/>
        </p:spPr>
        <p:txBody>
          <a:bodyPr wrap="none" lIns="0" tIns="0" rIns="0" bIns="0" anchor="ctr">
            <a:spAutoFit/>
          </a:bodyPr>
          <a:lstStyle/>
          <a:p>
            <a:pPr algn="ctr"/>
            <a:r>
              <a:rPr lang="de-CH" sz="850" b="1" dirty="0">
                <a:solidFill>
                  <a:srgbClr val="737373"/>
                </a:solidFill>
                <a:latin typeface="Aptos"/>
              </a:rPr>
              <a:t>Aufgabe</a:t>
            </a:r>
            <a:endParaRPr sz="850" b="1" dirty="0">
              <a:solidFill>
                <a:srgbClr val="737373"/>
              </a:solidFill>
              <a:latin typeface="Aptos"/>
            </a:endParaRPr>
          </a:p>
        </p:txBody>
      </p:sp>
      <p:sp>
        <p:nvSpPr>
          <p:cNvPr id="4" name="TextBox 3">
            <a:extLst>
              <a:ext uri="{FF2B5EF4-FFF2-40B4-BE49-F238E27FC236}">
                <a16:creationId xmlns:a16="http://schemas.microsoft.com/office/drawing/2014/main" id="{170372A3-BF87-F2AA-3384-4F13D5EC17EC}"/>
              </a:ext>
            </a:extLst>
          </p:cNvPr>
          <p:cNvSpPr txBox="1"/>
          <p:nvPr/>
        </p:nvSpPr>
        <p:spPr>
          <a:xfrm>
            <a:off x="594360" y="932688"/>
            <a:ext cx="5760744" cy="477054"/>
          </a:xfrm>
          <a:prstGeom prst="rect">
            <a:avLst/>
          </a:prstGeom>
          <a:noFill/>
        </p:spPr>
        <p:txBody>
          <a:bodyPr wrap="none" lIns="0" tIns="0" rIns="0" bIns="0" anchor="t">
            <a:spAutoFit/>
          </a:bodyPr>
          <a:lstStyle/>
          <a:p>
            <a:pPr algn="l"/>
            <a:r>
              <a:rPr lang="de-CH" sz="3100" b="1" dirty="0">
                <a:solidFill>
                  <a:srgbClr val="171717"/>
                </a:solidFill>
                <a:latin typeface="Aptos"/>
              </a:rPr>
              <a:t>Gleiches Netzwerk anderer </a:t>
            </a:r>
            <a:r>
              <a:rPr lang="de-CH" sz="3100" b="1" dirty="0" err="1">
                <a:solidFill>
                  <a:srgbClr val="171717"/>
                </a:solidFill>
                <a:latin typeface="Aptos"/>
              </a:rPr>
              <a:t>Skill</a:t>
            </a:r>
            <a:endParaRPr sz="3100" b="1" dirty="0">
              <a:solidFill>
                <a:srgbClr val="171717"/>
              </a:solidFill>
              <a:latin typeface="Aptos"/>
            </a:endParaRPr>
          </a:p>
        </p:txBody>
      </p:sp>
      <p:sp>
        <p:nvSpPr>
          <p:cNvPr id="15" name="Datumsplatzhalter 14">
            <a:extLst>
              <a:ext uri="{FF2B5EF4-FFF2-40B4-BE49-F238E27FC236}">
                <a16:creationId xmlns:a16="http://schemas.microsoft.com/office/drawing/2014/main" id="{847C970B-DDEA-DE25-B1AB-7A1C95698474}"/>
              </a:ext>
            </a:extLst>
          </p:cNvPr>
          <p:cNvSpPr>
            <a:spLocks noGrp="1"/>
          </p:cNvSpPr>
          <p:nvPr>
            <p:ph type="dt" sz="half" idx="10"/>
          </p:nvPr>
        </p:nvSpPr>
        <p:spPr/>
        <p:txBody>
          <a:bodyPr/>
          <a:lstStyle/>
          <a:p>
            <a:fld id="{B58C6648-1F61-40C3-A78F-6CBEE80B1B6F}" type="datetime1">
              <a:rPr lang="de-CH" smtClean="0"/>
              <a:t>28.10.2026</a:t>
            </a:fld>
            <a:endParaRPr lang="en-US"/>
          </a:p>
        </p:txBody>
      </p:sp>
      <p:sp>
        <p:nvSpPr>
          <p:cNvPr id="16" name="Fußzeilenplatzhalter 15">
            <a:extLst>
              <a:ext uri="{FF2B5EF4-FFF2-40B4-BE49-F238E27FC236}">
                <a16:creationId xmlns:a16="http://schemas.microsoft.com/office/drawing/2014/main" id="{C9DF42A1-C769-AD8B-8C58-18FE32041C03}"/>
              </a:ext>
            </a:extLst>
          </p:cNvPr>
          <p:cNvSpPr>
            <a:spLocks noGrp="1"/>
          </p:cNvSpPr>
          <p:nvPr>
            <p:ph type="ftr" sz="quarter" idx="11"/>
          </p:nvPr>
        </p:nvSpPr>
        <p:spPr/>
        <p:txBody>
          <a:bodyPr/>
          <a:lstStyle/>
          <a:p>
            <a:r>
              <a:rPr lang="en-US"/>
              <a:t>Enrico Putzi W07</a:t>
            </a:r>
            <a:endParaRPr lang="en-US" dirty="0"/>
          </a:p>
        </p:txBody>
      </p:sp>
      <p:sp>
        <p:nvSpPr>
          <p:cNvPr id="17" name="Foliennummernplatzhalter 16">
            <a:extLst>
              <a:ext uri="{FF2B5EF4-FFF2-40B4-BE49-F238E27FC236}">
                <a16:creationId xmlns:a16="http://schemas.microsoft.com/office/drawing/2014/main" id="{62C4BA33-EA47-CA17-65E8-376237C9FB23}"/>
              </a:ext>
            </a:extLst>
          </p:cNvPr>
          <p:cNvSpPr>
            <a:spLocks noGrp="1"/>
          </p:cNvSpPr>
          <p:nvPr>
            <p:ph type="sldNum" sz="quarter" idx="12"/>
          </p:nvPr>
        </p:nvSpPr>
        <p:spPr/>
        <p:txBody>
          <a:bodyPr/>
          <a:lstStyle/>
          <a:p>
            <a:fld id="{C1FF6DA9-008F-8B48-92A6-B652298478BF}" type="slidenum">
              <a:rPr lang="en-US" smtClean="0"/>
              <a:t>21</a:t>
            </a:fld>
            <a:endParaRPr lang="en-US"/>
          </a:p>
        </p:txBody>
      </p:sp>
      <p:pic>
        <p:nvPicPr>
          <p:cNvPr id="6" name="Grafik 10" descr="Moodle-Aufgabe 3">
            <a:extLst>
              <a:ext uri="{FF2B5EF4-FFF2-40B4-BE49-F238E27FC236}">
                <a16:creationId xmlns:a16="http://schemas.microsoft.com/office/drawing/2014/main" id="{4533E002-367E-3C77-E00D-2683EBF6E93C}"/>
              </a:ext>
            </a:extLst>
          </p:cNvPr>
          <p:cNvPicPr>
            <a:picLocks noChangeAspect="1"/>
          </p:cNvPicPr>
          <p:nvPr/>
        </p:nvPicPr>
        <p:blipFill>
          <a:blip r:embed="rId3"/>
          <a:stretch>
            <a:fillRect/>
          </a:stretch>
        </p:blipFill>
        <p:spPr>
          <a:xfrm>
            <a:off x="731838" y="1412875"/>
            <a:ext cx="3586374" cy="2000000"/>
          </a:xfrm>
          <a:prstGeom prst="rect">
            <a:avLst/>
          </a:prstGeom>
        </p:spPr>
      </p:pic>
      <mc:AlternateContent xmlns:mc="http://schemas.openxmlformats.org/markup-compatibility/2006">
        <mc:Choice xmlns:a14="http://schemas.microsoft.com/office/drawing/2010/main" Requires="a14">
          <p:sp>
            <p:nvSpPr>
              <p:cNvPr id="8" name="Aufgabentext 60">
                <a:extLst>
                  <a:ext uri="{FF2B5EF4-FFF2-40B4-BE49-F238E27FC236}">
                    <a16:creationId xmlns:a16="http://schemas.microsoft.com/office/drawing/2014/main" id="{C1A7A728-EF6A-C03B-7398-31FDDF598553}"/>
                  </a:ext>
                </a:extLst>
              </p:cNvPr>
              <p:cNvSpPr txBox="1"/>
              <p:nvPr/>
            </p:nvSpPr>
            <p:spPr>
              <a:xfrm>
                <a:off x="5353790" y="1533570"/>
                <a:ext cx="5040000" cy="523220"/>
              </a:xfrm>
              <a:prstGeom prst="rect">
                <a:avLst/>
              </a:prstGeom>
              <a:noFill/>
            </p:spPr>
            <p:txBody>
              <a:bodyPr wrap="square" lIns="0" rIns="0" rtlCol="0">
                <a:spAutoFit/>
              </a:bodyPr>
              <a:lstStyle/>
              <a:p>
                <a:pPr marL="0" indent="0">
                  <a:buNone/>
                </a:pPr>
                <a:r>
                  <a:rPr lang="de-CH" sz="1400" dirty="0"/>
                  <a:t>Die obige Schaltung enthält die Widerstände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1</m:t>
                        </m:r>
                      </m:sub>
                    </m:sSub>
                  </m:oMath>
                </a14:m>
                <a:r>
                  <a:rPr lang="de-CH" sz="1400" dirty="0"/>
                  <a:t> = 55 Ω,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2</m:t>
                        </m:r>
                      </m:sub>
                    </m:sSub>
                  </m:oMath>
                </a14:m>
                <a:r>
                  <a:rPr lang="de-CH" sz="1400" dirty="0"/>
                  <a:t> = 40 Ω,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3</m:t>
                        </m:r>
                      </m:sub>
                    </m:sSub>
                  </m:oMath>
                </a14:m>
                <a:r>
                  <a:rPr lang="de-CH" sz="1400" dirty="0"/>
                  <a:t> = 45 Ω,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4</m:t>
                        </m:r>
                      </m:sub>
                    </m:sSub>
                  </m:oMath>
                </a14:m>
                <a:r>
                  <a:rPr lang="de-CH" sz="1400" dirty="0"/>
                  <a:t> = 50 Ω und </a:t>
                </a:r>
                <a14:m>
                  <m:oMath xmlns:m="http://schemas.openxmlformats.org/officeDocument/2006/math">
                    <m:sSub>
                      <m:sSubPr>
                        <m:ctrlPr>
                          <a:rPr lang="de-CH" sz="1400" b="0" i="1" noProof="0" smtClean="0">
                            <a:latin typeface="Cambria Math" panose="02040503050406030204" pitchFamily="18" charset="0"/>
                          </a:rPr>
                        </m:ctrlPr>
                      </m:sSubPr>
                      <m:e>
                        <m:r>
                          <m:rPr>
                            <m:sty m:val="p"/>
                          </m:rPr>
                          <a:rPr lang="de-CH" sz="1400" b="0" i="1" noProof="0" smtClean="0">
                            <a:latin typeface="Cambria Math" panose="02040503050406030204" pitchFamily="18" charset="0"/>
                          </a:rPr>
                          <m:t>R</m:t>
                        </m:r>
                      </m:e>
                      <m:sub>
                        <m:r>
                          <a:rPr lang="de-CH" sz="1400" b="0" i="1" noProof="0" smtClean="0">
                            <a:latin typeface="Cambria Math" panose="02040503050406030204" pitchFamily="18" charset="0"/>
                          </a:rPr>
                          <m:t>5</m:t>
                        </m:r>
                      </m:sub>
                    </m:sSub>
                  </m:oMath>
                </a14:m>
                <a:r>
                  <a:rPr lang="de-CH" sz="1400" dirty="0"/>
                  <a:t> = 60 Ω. Bestimmt die Spannung über R3</a:t>
                </a:r>
              </a:p>
            </p:txBody>
          </p:sp>
        </mc:Choice>
        <mc:Fallback>
          <p:sp>
            <p:nvSpPr>
              <p:cNvPr id="8" name="Aufgabentext 60">
                <a:extLst>
                  <a:ext uri="{FF2B5EF4-FFF2-40B4-BE49-F238E27FC236}">
                    <a16:creationId xmlns:a16="http://schemas.microsoft.com/office/drawing/2014/main" id="{C1A7A728-EF6A-C03B-7398-31FDDF598553}"/>
                  </a:ext>
                </a:extLst>
              </p:cNvPr>
              <p:cNvSpPr txBox="1">
                <a:spLocks noRot="1" noChangeAspect="1" noMove="1" noResize="1" noEditPoints="1" noAdjustHandles="1" noChangeArrowheads="1" noChangeShapeType="1" noTextEdit="1"/>
              </p:cNvSpPr>
              <p:nvPr/>
            </p:nvSpPr>
            <p:spPr>
              <a:xfrm>
                <a:off x="5353790" y="1533570"/>
                <a:ext cx="5040000" cy="523220"/>
              </a:xfrm>
              <a:prstGeom prst="rect">
                <a:avLst/>
              </a:prstGeom>
              <a:blipFill>
                <a:blip r:embed="rId4"/>
                <a:stretch>
                  <a:fillRect l="-2177" t="-2353" r="-846" b="-11765"/>
                </a:stretch>
              </a:blipFill>
            </p:spPr>
            <p:txBody>
              <a:bodyPr/>
              <a:lstStyle/>
              <a:p>
                <a:r>
                  <a:rPr lang="de-CH">
                    <a:noFill/>
                  </a:rPr>
                  <a:t> </a:t>
                </a:r>
              </a:p>
            </p:txBody>
          </p:sp>
        </mc:Fallback>
      </mc:AlternateContent>
      <p:cxnSp>
        <p:nvCxnSpPr>
          <p:cNvPr id="10" name="Gerade Verbindung mit Pfeil 9">
            <a:extLst>
              <a:ext uri="{FF2B5EF4-FFF2-40B4-BE49-F238E27FC236}">
                <a16:creationId xmlns:a16="http://schemas.microsoft.com/office/drawing/2014/main" id="{3F6DF54D-936A-0D0F-E0E5-EF54EE886048}"/>
              </a:ext>
            </a:extLst>
          </p:cNvPr>
          <p:cNvCxnSpPr/>
          <p:nvPr/>
        </p:nvCxnSpPr>
        <p:spPr>
          <a:xfrm>
            <a:off x="2277979" y="2053389"/>
            <a:ext cx="0" cy="6898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Gerade Verbindung mit Pfeil 11">
            <a:extLst>
              <a:ext uri="{FF2B5EF4-FFF2-40B4-BE49-F238E27FC236}">
                <a16:creationId xmlns:a16="http://schemas.microsoft.com/office/drawing/2014/main" id="{D4BF129E-C693-3779-1DBE-CA125D646A0D}"/>
              </a:ext>
            </a:extLst>
          </p:cNvPr>
          <p:cNvCxnSpPr/>
          <p:nvPr/>
        </p:nvCxnSpPr>
        <p:spPr>
          <a:xfrm>
            <a:off x="731838" y="3412875"/>
            <a:ext cx="332681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feld 12">
            <a:extLst>
              <a:ext uri="{FF2B5EF4-FFF2-40B4-BE49-F238E27FC236}">
                <a16:creationId xmlns:a16="http://schemas.microsoft.com/office/drawing/2014/main" id="{C3EDC38B-978E-A73C-0E62-1E5EFD60DF8B}"/>
              </a:ext>
            </a:extLst>
          </p:cNvPr>
          <p:cNvSpPr txBox="1"/>
          <p:nvPr/>
        </p:nvSpPr>
        <p:spPr>
          <a:xfrm>
            <a:off x="1877314" y="3595130"/>
            <a:ext cx="944489" cy="369332"/>
          </a:xfrm>
          <a:prstGeom prst="rect">
            <a:avLst/>
          </a:prstGeom>
          <a:noFill/>
        </p:spPr>
        <p:txBody>
          <a:bodyPr wrap="none" rtlCol="0">
            <a:spAutoFit/>
          </a:bodyPr>
          <a:lstStyle/>
          <a:p>
            <a:r>
              <a:rPr lang="de-CH" dirty="0"/>
              <a:t>U</a:t>
            </a:r>
            <a:r>
              <a:rPr lang="de-CH" baseline="-25000" dirty="0"/>
              <a:t>0</a:t>
            </a:r>
            <a:r>
              <a:rPr lang="de-CH" dirty="0"/>
              <a:t>= 10V</a:t>
            </a:r>
          </a:p>
        </p:txBody>
      </p:sp>
    </p:spTree>
    <p:extLst>
      <p:ext uri="{BB962C8B-B14F-4D97-AF65-F5344CB8AC3E}">
        <p14:creationId xmlns:p14="http://schemas.microsoft.com/office/powerpoint/2010/main" val="21204211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6C9B4-59C9-D9BC-C19D-ACCF07CB75CB}"/>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11ADD814-AEE7-1F81-FF2D-5D7D30826F1B}"/>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3D80BC3-5432-189C-D7A9-54DAE91E3880}"/>
              </a:ext>
            </a:extLst>
          </p:cNvPr>
          <p:cNvSpPr txBox="1"/>
          <p:nvPr/>
        </p:nvSpPr>
        <p:spPr>
          <a:xfrm>
            <a:off x="873811" y="542673"/>
            <a:ext cx="410369" cy="130805"/>
          </a:xfrm>
          <a:prstGeom prst="rect">
            <a:avLst/>
          </a:prstGeom>
          <a:noFill/>
        </p:spPr>
        <p:txBody>
          <a:bodyPr wrap="none" lIns="0" tIns="0" rIns="0" bIns="0" anchor="ctr">
            <a:spAutoFit/>
          </a:bodyPr>
          <a:lstStyle/>
          <a:p>
            <a:pPr algn="ctr"/>
            <a:r>
              <a:rPr lang="de-CH" sz="850" b="1" dirty="0">
                <a:solidFill>
                  <a:srgbClr val="737373"/>
                </a:solidFill>
                <a:latin typeface="Aptos"/>
              </a:rPr>
              <a:t>Aufgabe</a:t>
            </a:r>
            <a:endParaRPr sz="850" b="1" dirty="0">
              <a:solidFill>
                <a:srgbClr val="737373"/>
              </a:solidFill>
              <a:latin typeface="Aptos"/>
            </a:endParaRPr>
          </a:p>
        </p:txBody>
      </p:sp>
      <p:sp>
        <p:nvSpPr>
          <p:cNvPr id="4" name="TextBox 3">
            <a:extLst>
              <a:ext uri="{FF2B5EF4-FFF2-40B4-BE49-F238E27FC236}">
                <a16:creationId xmlns:a16="http://schemas.microsoft.com/office/drawing/2014/main" id="{94907BE9-D09F-DC1A-F0A3-1A2C5B68B060}"/>
              </a:ext>
            </a:extLst>
          </p:cNvPr>
          <p:cNvSpPr txBox="1"/>
          <p:nvPr/>
        </p:nvSpPr>
        <p:spPr>
          <a:xfrm>
            <a:off x="594360" y="932688"/>
            <a:ext cx="3724802" cy="477054"/>
          </a:xfrm>
          <a:prstGeom prst="rect">
            <a:avLst/>
          </a:prstGeom>
          <a:noFill/>
        </p:spPr>
        <p:txBody>
          <a:bodyPr wrap="none" lIns="0" tIns="0" rIns="0" bIns="0" anchor="t">
            <a:spAutoFit/>
          </a:bodyPr>
          <a:lstStyle/>
          <a:p>
            <a:pPr algn="l"/>
            <a:r>
              <a:rPr lang="de-CH" sz="3100" b="1" dirty="0">
                <a:solidFill>
                  <a:srgbClr val="171717"/>
                </a:solidFill>
                <a:latin typeface="Aptos"/>
              </a:rPr>
              <a:t>Leistungsanpassung</a:t>
            </a:r>
            <a:endParaRPr sz="3100" b="1" dirty="0">
              <a:solidFill>
                <a:srgbClr val="171717"/>
              </a:solidFill>
              <a:latin typeface="Aptos"/>
            </a:endParaRPr>
          </a:p>
        </p:txBody>
      </p:sp>
      <p:sp>
        <p:nvSpPr>
          <p:cNvPr id="15" name="Datumsplatzhalter 14">
            <a:extLst>
              <a:ext uri="{FF2B5EF4-FFF2-40B4-BE49-F238E27FC236}">
                <a16:creationId xmlns:a16="http://schemas.microsoft.com/office/drawing/2014/main" id="{2A538979-4027-F09C-DD89-DCB2556DB277}"/>
              </a:ext>
            </a:extLst>
          </p:cNvPr>
          <p:cNvSpPr>
            <a:spLocks noGrp="1"/>
          </p:cNvSpPr>
          <p:nvPr>
            <p:ph type="dt" sz="half" idx="10"/>
          </p:nvPr>
        </p:nvSpPr>
        <p:spPr/>
        <p:txBody>
          <a:bodyPr/>
          <a:lstStyle/>
          <a:p>
            <a:fld id="{B58C6648-1F61-40C3-A78F-6CBEE80B1B6F}" type="datetime1">
              <a:rPr lang="de-CH" smtClean="0"/>
              <a:t>28.10.2026</a:t>
            </a:fld>
            <a:endParaRPr lang="en-US"/>
          </a:p>
        </p:txBody>
      </p:sp>
      <p:sp>
        <p:nvSpPr>
          <p:cNvPr id="16" name="Fußzeilenplatzhalter 15">
            <a:extLst>
              <a:ext uri="{FF2B5EF4-FFF2-40B4-BE49-F238E27FC236}">
                <a16:creationId xmlns:a16="http://schemas.microsoft.com/office/drawing/2014/main" id="{139FAE51-D30B-E93D-81D5-9DA4983F23F6}"/>
              </a:ext>
            </a:extLst>
          </p:cNvPr>
          <p:cNvSpPr>
            <a:spLocks noGrp="1"/>
          </p:cNvSpPr>
          <p:nvPr>
            <p:ph type="ftr" sz="quarter" idx="11"/>
          </p:nvPr>
        </p:nvSpPr>
        <p:spPr/>
        <p:txBody>
          <a:bodyPr/>
          <a:lstStyle/>
          <a:p>
            <a:r>
              <a:rPr lang="en-US"/>
              <a:t>Enrico Putzi W07</a:t>
            </a:r>
            <a:endParaRPr lang="en-US" dirty="0"/>
          </a:p>
        </p:txBody>
      </p:sp>
      <p:sp>
        <p:nvSpPr>
          <p:cNvPr id="17" name="Foliennummernplatzhalter 16">
            <a:extLst>
              <a:ext uri="{FF2B5EF4-FFF2-40B4-BE49-F238E27FC236}">
                <a16:creationId xmlns:a16="http://schemas.microsoft.com/office/drawing/2014/main" id="{70B1F70E-620D-2E2E-DB7B-A39CECBECEAD}"/>
              </a:ext>
            </a:extLst>
          </p:cNvPr>
          <p:cNvSpPr>
            <a:spLocks noGrp="1"/>
          </p:cNvSpPr>
          <p:nvPr>
            <p:ph type="sldNum" sz="quarter" idx="12"/>
          </p:nvPr>
        </p:nvSpPr>
        <p:spPr/>
        <p:txBody>
          <a:bodyPr/>
          <a:lstStyle/>
          <a:p>
            <a:fld id="{C1FF6DA9-008F-8B48-92A6-B652298478BF}" type="slidenum">
              <a:rPr lang="en-US" smtClean="0"/>
              <a:t>22</a:t>
            </a:fld>
            <a:endParaRPr lang="en-US"/>
          </a:p>
        </p:txBody>
      </p:sp>
      <p:pic>
        <p:nvPicPr>
          <p:cNvPr id="9" name="Grafik 10" descr="Netzwerk mit Last">
            <a:extLst>
              <a:ext uri="{FF2B5EF4-FFF2-40B4-BE49-F238E27FC236}">
                <a16:creationId xmlns:a16="http://schemas.microsoft.com/office/drawing/2014/main" id="{6C6A949F-F6E6-E867-8FB6-101D421EE1AA}"/>
              </a:ext>
            </a:extLst>
          </p:cNvPr>
          <p:cNvPicPr>
            <a:picLocks noChangeAspect="1"/>
          </p:cNvPicPr>
          <p:nvPr/>
        </p:nvPicPr>
        <p:blipFill>
          <a:blip r:embed="rId3"/>
          <a:stretch>
            <a:fillRect/>
          </a:stretch>
        </p:blipFill>
        <p:spPr>
          <a:xfrm>
            <a:off x="832543" y="1412875"/>
            <a:ext cx="4838589" cy="2350000"/>
          </a:xfrm>
          <a:prstGeom prst="rect">
            <a:avLst/>
          </a:prstGeom>
        </p:spPr>
      </p:pic>
      <p:pic>
        <p:nvPicPr>
          <p:cNvPr id="10" name="Grafik 11" descr="Ersatzstromquelle mit Last">
            <a:extLst>
              <a:ext uri="{FF2B5EF4-FFF2-40B4-BE49-F238E27FC236}">
                <a16:creationId xmlns:a16="http://schemas.microsoft.com/office/drawing/2014/main" id="{55733008-2B9F-90DA-BB58-3F17721D1DA5}"/>
              </a:ext>
            </a:extLst>
          </p:cNvPr>
          <p:cNvPicPr>
            <a:picLocks noChangeAspect="1"/>
          </p:cNvPicPr>
          <p:nvPr/>
        </p:nvPicPr>
        <p:blipFill>
          <a:blip r:embed="rId4"/>
          <a:stretch>
            <a:fillRect/>
          </a:stretch>
        </p:blipFill>
        <p:spPr>
          <a:xfrm>
            <a:off x="832543" y="3922875"/>
            <a:ext cx="4838589" cy="2350000"/>
          </a:xfrm>
          <a:prstGeom prst="rect">
            <a:avLst/>
          </a:prstGeom>
        </p:spPr>
      </p:pic>
      <mc:AlternateContent xmlns:mc="http://schemas.openxmlformats.org/markup-compatibility/2006">
        <mc:Choice xmlns:a14="http://schemas.microsoft.com/office/drawing/2010/main" Requires="a14">
          <p:sp>
            <p:nvSpPr>
              <p:cNvPr id="12" name="Textfeld 11">
                <a:extLst>
                  <a:ext uri="{FF2B5EF4-FFF2-40B4-BE49-F238E27FC236}">
                    <a16:creationId xmlns:a16="http://schemas.microsoft.com/office/drawing/2014/main" id="{91880515-FA63-92EC-5847-4FA950CFB8C3}"/>
                  </a:ext>
                </a:extLst>
              </p:cNvPr>
              <p:cNvSpPr txBox="1"/>
              <p:nvPr/>
            </p:nvSpPr>
            <p:spPr>
              <a:xfrm>
                <a:off x="5671132" y="1488022"/>
                <a:ext cx="6096000" cy="1815882"/>
              </a:xfrm>
              <a:prstGeom prst="rect">
                <a:avLst/>
              </a:prstGeom>
              <a:noFill/>
            </p:spPr>
            <p:txBody>
              <a:bodyPr wrap="square">
                <a:spAutoFit/>
              </a:bodyPr>
              <a:lstStyle/>
              <a:p>
                <a:pPr marL="0" indent="0">
                  <a:buNone/>
                </a:pPr>
                <a:endParaRPr lang="de-CH" sz="1000" dirty="0"/>
              </a:p>
              <a:p>
                <a:pPr marL="0" indent="0">
                  <a:buNone/>
                </a:pPr>
                <a:r>
                  <a:rPr lang="de-CH" sz="1600" dirty="0"/>
                  <a:t>An die Klemmen A und B wird eine Last </a:t>
                </a:r>
                <a14:m>
                  <m:oMath xmlns:m="http://schemas.openxmlformats.org/officeDocument/2006/math">
                    <m:sSub>
                      <m:sSubPr>
                        <m:ctrlPr>
                          <a:rPr lang="de-CH" sz="1600" b="0" i="1" noProof="0" smtClean="0">
                            <a:latin typeface="Cambria Math" panose="02040503050406030204" pitchFamily="18" charset="0"/>
                          </a:rPr>
                        </m:ctrlPr>
                      </m:sSubPr>
                      <m:e>
                        <m:r>
                          <m:rPr>
                            <m:sty m:val="p"/>
                          </m:rPr>
                          <a:rPr lang="de-CH" sz="1600" b="0" i="1" noProof="0" smtClean="0">
                            <a:latin typeface="Cambria Math" panose="02040503050406030204" pitchFamily="18" charset="0"/>
                          </a:rPr>
                          <m:t>R</m:t>
                        </m:r>
                      </m:e>
                      <m:sub>
                        <m:r>
                          <m:rPr>
                            <m:sty m:val="p"/>
                          </m:rPr>
                          <a:rPr lang="de-CH" sz="1600" b="0" i="1" noProof="0" smtClean="0">
                            <a:latin typeface="Cambria Math" panose="02040503050406030204" pitchFamily="18" charset="0"/>
                          </a:rPr>
                          <m:t>Last</m:t>
                        </m:r>
                      </m:sub>
                    </m:sSub>
                  </m:oMath>
                </a14:m>
                <a:r>
                  <a:rPr lang="de-CH" sz="1600" dirty="0"/>
                  <a:t> angeschlossen. Aus</a:t>
                </a:r>
              </a:p>
              <a:p>
                <a:pPr marL="0" indent="0">
                  <a:buNone/>
                </a:pPr>
                <a:endParaRPr lang="de-CH" sz="600" dirty="0"/>
              </a:p>
              <a:p>
                <a:r>
                  <a:rPr lang="de-CH" sz="1600" dirty="0"/>
                  <a:t>Berechnet den Widerstand </a:t>
                </a:r>
                <a14:m>
                  <m:oMath xmlns:m="http://schemas.openxmlformats.org/officeDocument/2006/math">
                    <m:sSub>
                      <m:sSubPr>
                        <m:ctrlPr>
                          <a:rPr lang="de-CH" sz="1600" b="0" i="1" noProof="0" smtClean="0">
                            <a:latin typeface="Cambria Math" panose="02040503050406030204" pitchFamily="18" charset="0"/>
                          </a:rPr>
                        </m:ctrlPr>
                      </m:sSubPr>
                      <m:e>
                        <m:r>
                          <m:rPr>
                            <m:sty m:val="p"/>
                          </m:rPr>
                          <a:rPr lang="de-CH" sz="1600" b="0" i="1" noProof="0" smtClean="0">
                            <a:latin typeface="Cambria Math" panose="02040503050406030204" pitchFamily="18" charset="0"/>
                          </a:rPr>
                          <m:t>R</m:t>
                        </m:r>
                      </m:e>
                      <m:sub>
                        <m:r>
                          <m:rPr>
                            <m:sty m:val="p"/>
                          </m:rPr>
                          <a:rPr lang="de-CH" sz="1600" b="0" i="1" noProof="0" smtClean="0">
                            <a:latin typeface="Cambria Math" panose="02040503050406030204" pitchFamily="18" charset="0"/>
                          </a:rPr>
                          <m:t>Last</m:t>
                        </m:r>
                      </m:sub>
                    </m:sSub>
                  </m:oMath>
                </a14:m>
                <a:r>
                  <a:rPr lang="de-CH" sz="1600" dirty="0"/>
                  <a:t>, für den die Leistung an der Last maximal wird.</a:t>
                </a:r>
              </a:p>
              <a:p>
                <a:r>
                  <a:rPr lang="de-CH" sz="1600" dirty="0"/>
                  <a:t>Berechnet die maximale Leistung </a:t>
                </a:r>
                <a14:m>
                  <m:oMath xmlns:m="http://schemas.openxmlformats.org/officeDocument/2006/math">
                    <m:sSub>
                      <m:sSubPr>
                        <m:ctrlPr>
                          <a:rPr lang="de-CH" sz="1600" b="0" i="1" noProof="0" smtClean="0">
                            <a:latin typeface="Cambria Math" panose="02040503050406030204" pitchFamily="18" charset="0"/>
                          </a:rPr>
                        </m:ctrlPr>
                      </m:sSubPr>
                      <m:e>
                        <m:r>
                          <m:rPr>
                            <m:sty m:val="p"/>
                          </m:rPr>
                          <a:rPr lang="de-CH" sz="1600" b="0" i="1" noProof="0" smtClean="0">
                            <a:latin typeface="Cambria Math" panose="02040503050406030204" pitchFamily="18" charset="0"/>
                          </a:rPr>
                          <m:t>P</m:t>
                        </m:r>
                      </m:e>
                      <m:sub>
                        <m:r>
                          <m:rPr>
                            <m:sty m:val="p"/>
                          </m:rPr>
                          <a:rPr lang="de-CH" sz="1600" b="0" i="1" noProof="0" smtClean="0">
                            <a:latin typeface="Cambria Math" panose="02040503050406030204" pitchFamily="18" charset="0"/>
                          </a:rPr>
                          <m:t>max</m:t>
                        </m:r>
                      </m:sub>
                    </m:sSub>
                  </m:oMath>
                </a14:m>
                <a:r>
                  <a:rPr lang="de-CH" sz="1600" dirty="0"/>
                  <a:t>.</a:t>
                </a:r>
              </a:p>
              <a:p>
                <a:r>
                  <a:rPr lang="de-CH" sz="1600" dirty="0"/>
                  <a:t>Ist der Wirkungsgrad </a:t>
                </a:r>
                <a14:m>
                  <m:oMath xmlns:m="http://schemas.openxmlformats.org/officeDocument/2006/math">
                    <m:r>
                      <m:rPr>
                        <m:sty m:val="p"/>
                      </m:rPr>
                      <a:rPr lang="de-CH" sz="1600" b="0" i="1" noProof="0" smtClean="0">
                        <a:latin typeface="Cambria Math" panose="02040503050406030204" pitchFamily="18" charset="0"/>
                      </a:rPr>
                      <m:t>η</m:t>
                    </m:r>
                  </m:oMath>
                </a14:m>
                <a:r>
                  <a:rPr lang="de-CH" sz="1600" dirty="0"/>
                  <a:t> bei maximaler Leistung grösser als 50 %, gleich 50 % oder kleiner als 50 %? Begründet am Originalnetzwerk (oben).</a:t>
                </a:r>
              </a:p>
            </p:txBody>
          </p:sp>
        </mc:Choice>
        <mc:Fallback>
          <p:sp>
            <p:nvSpPr>
              <p:cNvPr id="12" name="Textfeld 11">
                <a:extLst>
                  <a:ext uri="{FF2B5EF4-FFF2-40B4-BE49-F238E27FC236}">
                    <a16:creationId xmlns:a16="http://schemas.microsoft.com/office/drawing/2014/main" id="{91880515-FA63-92EC-5847-4FA950CFB8C3}"/>
                  </a:ext>
                </a:extLst>
              </p:cNvPr>
              <p:cNvSpPr txBox="1">
                <a:spLocks noRot="1" noChangeAspect="1" noMove="1" noResize="1" noEditPoints="1" noAdjustHandles="1" noChangeArrowheads="1" noChangeShapeType="1" noTextEdit="1"/>
              </p:cNvSpPr>
              <p:nvPr/>
            </p:nvSpPr>
            <p:spPr>
              <a:xfrm>
                <a:off x="5671132" y="1488022"/>
                <a:ext cx="6096000" cy="1815882"/>
              </a:xfrm>
              <a:prstGeom prst="rect">
                <a:avLst/>
              </a:prstGeom>
              <a:blipFill>
                <a:blip r:embed="rId5"/>
                <a:stretch>
                  <a:fillRect l="-500" b="-3356"/>
                </a:stretch>
              </a:blipFill>
            </p:spPr>
            <p:txBody>
              <a:bodyPr/>
              <a:lstStyle/>
              <a:p>
                <a:r>
                  <a:rPr lang="de-CH">
                    <a:noFill/>
                  </a:rPr>
                  <a:t> </a:t>
                </a:r>
              </a:p>
            </p:txBody>
          </p:sp>
        </mc:Fallback>
      </mc:AlternateContent>
    </p:spTree>
    <p:extLst>
      <p:ext uri="{BB962C8B-B14F-4D97-AF65-F5344CB8AC3E}">
        <p14:creationId xmlns:p14="http://schemas.microsoft.com/office/powerpoint/2010/main" val="29657264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96025F3-CBB8-0AB5-10E4-C05C272B8EEE}"/>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DDB54A6E-BEB6-17E3-92A3-B2E87B41BD17}"/>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B47D914-F029-F1C3-8310-464272553448}"/>
              </a:ext>
            </a:extLst>
          </p:cNvPr>
          <p:cNvSpPr txBox="1"/>
          <p:nvPr/>
        </p:nvSpPr>
        <p:spPr>
          <a:xfrm>
            <a:off x="873811" y="542673"/>
            <a:ext cx="410369" cy="130805"/>
          </a:xfrm>
          <a:prstGeom prst="rect">
            <a:avLst/>
          </a:prstGeom>
          <a:noFill/>
        </p:spPr>
        <p:txBody>
          <a:bodyPr wrap="none" lIns="0" tIns="0" rIns="0" bIns="0" anchor="ctr">
            <a:spAutoFit/>
          </a:bodyPr>
          <a:lstStyle/>
          <a:p>
            <a:pPr algn="ctr"/>
            <a:r>
              <a:rPr lang="de-CH" sz="850" b="1" dirty="0">
                <a:solidFill>
                  <a:srgbClr val="737373"/>
                </a:solidFill>
                <a:latin typeface="Aptos"/>
              </a:rPr>
              <a:t>Aufgabe</a:t>
            </a:r>
            <a:endParaRPr sz="850" b="1" dirty="0">
              <a:solidFill>
                <a:srgbClr val="737373"/>
              </a:solidFill>
              <a:latin typeface="Aptos"/>
            </a:endParaRPr>
          </a:p>
        </p:txBody>
      </p:sp>
      <p:sp>
        <p:nvSpPr>
          <p:cNvPr id="4" name="TextBox 3">
            <a:extLst>
              <a:ext uri="{FF2B5EF4-FFF2-40B4-BE49-F238E27FC236}">
                <a16:creationId xmlns:a16="http://schemas.microsoft.com/office/drawing/2014/main" id="{F6393245-CDBF-A7CC-66D3-BFBBCD7376C0}"/>
              </a:ext>
            </a:extLst>
          </p:cNvPr>
          <p:cNvSpPr txBox="1"/>
          <p:nvPr/>
        </p:nvSpPr>
        <p:spPr>
          <a:xfrm>
            <a:off x="594360" y="932688"/>
            <a:ext cx="3724802" cy="477054"/>
          </a:xfrm>
          <a:prstGeom prst="rect">
            <a:avLst/>
          </a:prstGeom>
          <a:noFill/>
        </p:spPr>
        <p:txBody>
          <a:bodyPr wrap="none" lIns="0" tIns="0" rIns="0" bIns="0" anchor="t">
            <a:spAutoFit/>
          </a:bodyPr>
          <a:lstStyle/>
          <a:p>
            <a:r>
              <a:rPr lang="de-CH" sz="3100" b="1" dirty="0">
                <a:solidFill>
                  <a:srgbClr val="171717"/>
                </a:solidFill>
                <a:latin typeface="Aptos"/>
              </a:rPr>
              <a:t>Leistungsanpassung</a:t>
            </a:r>
            <a:endParaRPr sz="3100" b="1" dirty="0">
              <a:solidFill>
                <a:srgbClr val="171717"/>
              </a:solidFill>
              <a:latin typeface="Aptos"/>
            </a:endParaRPr>
          </a:p>
        </p:txBody>
      </p:sp>
      <p:sp>
        <p:nvSpPr>
          <p:cNvPr id="15" name="Datumsplatzhalter 14">
            <a:extLst>
              <a:ext uri="{FF2B5EF4-FFF2-40B4-BE49-F238E27FC236}">
                <a16:creationId xmlns:a16="http://schemas.microsoft.com/office/drawing/2014/main" id="{30D02237-EA90-69FD-66A4-9514826A62EF}"/>
              </a:ext>
            </a:extLst>
          </p:cNvPr>
          <p:cNvSpPr>
            <a:spLocks noGrp="1"/>
          </p:cNvSpPr>
          <p:nvPr>
            <p:ph type="dt" sz="half" idx="10"/>
          </p:nvPr>
        </p:nvSpPr>
        <p:spPr/>
        <p:txBody>
          <a:bodyPr/>
          <a:lstStyle/>
          <a:p>
            <a:fld id="{76A2FF42-287A-4E5A-AA42-8293B47D08CC}" type="datetime1">
              <a:rPr lang="de-CH" smtClean="0"/>
              <a:t>28.10.2026</a:t>
            </a:fld>
            <a:endParaRPr lang="en-US"/>
          </a:p>
        </p:txBody>
      </p:sp>
      <p:sp>
        <p:nvSpPr>
          <p:cNvPr id="16" name="Fußzeilenplatzhalter 15">
            <a:extLst>
              <a:ext uri="{FF2B5EF4-FFF2-40B4-BE49-F238E27FC236}">
                <a16:creationId xmlns:a16="http://schemas.microsoft.com/office/drawing/2014/main" id="{A29F6178-356C-912B-17FB-AF349A3A2AE0}"/>
              </a:ext>
            </a:extLst>
          </p:cNvPr>
          <p:cNvSpPr>
            <a:spLocks noGrp="1"/>
          </p:cNvSpPr>
          <p:nvPr>
            <p:ph type="ftr" sz="quarter" idx="11"/>
          </p:nvPr>
        </p:nvSpPr>
        <p:spPr/>
        <p:txBody>
          <a:bodyPr/>
          <a:lstStyle/>
          <a:p>
            <a:r>
              <a:rPr lang="en-US"/>
              <a:t>Enrico Putzi W07</a:t>
            </a:r>
            <a:endParaRPr lang="en-US" dirty="0"/>
          </a:p>
        </p:txBody>
      </p:sp>
      <p:sp>
        <p:nvSpPr>
          <p:cNvPr id="17" name="Foliennummernplatzhalter 16">
            <a:extLst>
              <a:ext uri="{FF2B5EF4-FFF2-40B4-BE49-F238E27FC236}">
                <a16:creationId xmlns:a16="http://schemas.microsoft.com/office/drawing/2014/main" id="{A76B57ED-361A-9811-F924-EDD2C8DF5517}"/>
              </a:ext>
            </a:extLst>
          </p:cNvPr>
          <p:cNvSpPr>
            <a:spLocks noGrp="1"/>
          </p:cNvSpPr>
          <p:nvPr>
            <p:ph type="sldNum" sz="quarter" idx="12"/>
          </p:nvPr>
        </p:nvSpPr>
        <p:spPr/>
        <p:txBody>
          <a:bodyPr/>
          <a:lstStyle/>
          <a:p>
            <a:fld id="{C1FF6DA9-008F-8B48-92A6-B652298478BF}" type="slidenum">
              <a:rPr lang="en-US" smtClean="0"/>
              <a:t>23</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F625174D-6C8B-B81A-78E4-AD79E161FE94}"/>
                  </a:ext>
                </a:extLst>
              </p:cNvPr>
              <p:cNvSpPr txBox="1">
                <a:spLocks/>
              </p:cNvSpPr>
              <p:nvPr/>
            </p:nvSpPr>
            <p:spPr>
              <a:xfrm>
                <a:off x="6204163" y="1412875"/>
                <a:ext cx="5256000" cy="4860000"/>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de-CH" sz="1600" dirty="0"/>
                  <a:t>Bezüglich der Klemmen verhält sich das Netzwerk wie die Ersatzstromquelle. Leistungsanpassung:</a:t>
                </a:r>
              </a:p>
              <a:p>
                <a:pPr marL="0" indent="0" algn="ctr">
                  <a:buFont typeface="Arial"/>
                  <a:buNone/>
                </a:pPr>
                <a14:m>
                  <m:oMathPara xmlns:m="http://schemas.openxmlformats.org/officeDocument/2006/math">
                    <m:o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Last</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i</m:t>
                          </m:r>
                        </m:sub>
                      </m:sSub>
                      <m:r>
                        <a:rPr lang="de-CH" sz="1600" i="1" smtClean="0">
                          <a:latin typeface="Cambria Math" panose="02040503050406030204" pitchFamily="18" charset="0"/>
                        </a:rPr>
                        <m:t>=</m:t>
                      </m:r>
                      <m:f>
                        <m:fPr>
                          <m:ctrlPr>
                            <a:rPr lang="de-CH" sz="1600" i="1" smtClean="0">
                              <a:latin typeface="Cambria Math" panose="02040503050406030204" pitchFamily="18" charset="0"/>
                            </a:rPr>
                          </m:ctrlPr>
                        </m:fPr>
                        <m:num>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num>
                        <m:den>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den>
                      </m:f>
                    </m:oMath>
                  </m:oMathPara>
                </a14:m>
                <a:endParaRPr lang="de-CH" sz="1600" dirty="0"/>
              </a:p>
              <a:p>
                <a:r>
                  <a:rPr lang="de-CH" sz="1600" dirty="0"/>
                  <a:t>Ersatzstromquelle: </a:t>
                </a:r>
                <a14:m>
                  <m:oMath xmlns:m="http://schemas.openxmlformats.org/officeDocument/2006/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i</m:t>
                        </m:r>
                      </m:sub>
                    </m:sSub>
                  </m:oMath>
                </a14:m>
                <a:r>
                  <a:rPr lang="de-CH" sz="1600" dirty="0"/>
                  <a:t> und </a:t>
                </a:r>
                <a14:m>
                  <m:oMath xmlns:m="http://schemas.openxmlformats.org/officeDocument/2006/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Last</m:t>
                        </m:r>
                      </m:sub>
                    </m:sSub>
                  </m:oMath>
                </a14:m>
                <a:r>
                  <a:rPr lang="de-CH" sz="1600" dirty="0"/>
                  <a:t> sind gleich gross, der Strom </a:t>
                </a:r>
                <a14:m>
                  <m:oMath xmlns:m="http://schemas.openxmlformats.org/officeDocument/2006/math">
                    <m:r>
                      <m:rPr>
                        <m:sty m:val="p"/>
                      </m:rPr>
                      <a:rPr lang="de-CH" sz="1600" i="1" smtClean="0">
                        <a:latin typeface="Cambria Math" panose="02040503050406030204" pitchFamily="18" charset="0"/>
                      </a:rPr>
                      <m:t>I</m:t>
                    </m:r>
                  </m:oMath>
                </a14:m>
                <a:r>
                  <a:rPr lang="de-CH" sz="1600" dirty="0"/>
                  <a:t> teilt sich je zur Hälfte auf:</a:t>
                </a:r>
              </a:p>
              <a:p>
                <a:pPr marL="0" indent="0" algn="ctr">
                  <a:buFont typeface="Arial"/>
                  <a:buNone/>
                </a:pPr>
                <a14:m>
                  <m:oMathPara xmlns:m="http://schemas.openxmlformats.org/officeDocument/2006/math">
                    <m:o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I</m:t>
                          </m:r>
                        </m:e>
                        <m:sub>
                          <m:r>
                            <m:rPr>
                              <m:sty m:val="p"/>
                            </m:rPr>
                            <a:rPr lang="de-CH" sz="1600" i="1" smtClean="0">
                              <a:latin typeface="Cambria Math" panose="02040503050406030204" pitchFamily="18" charset="0"/>
                            </a:rPr>
                            <m:t>Last</m:t>
                          </m:r>
                        </m:sub>
                      </m:sSub>
                      <m:r>
                        <a:rPr lang="de-CH" sz="1600" i="1" smtClean="0">
                          <a:latin typeface="Cambria Math" panose="02040503050406030204" pitchFamily="18" charset="0"/>
                        </a:rPr>
                        <m:t>=</m:t>
                      </m:r>
                      <m:f>
                        <m:fPr>
                          <m:ctrlPr>
                            <a:rPr lang="de-CH" sz="1600" i="1" smtClean="0">
                              <a:latin typeface="Cambria Math" panose="02040503050406030204" pitchFamily="18" charset="0"/>
                            </a:rPr>
                          </m:ctrlPr>
                        </m:fPr>
                        <m:num>
                          <m:r>
                            <m:rPr>
                              <m:sty m:val="p"/>
                            </m:rPr>
                            <a:rPr lang="de-CH" sz="1600" i="1" smtClean="0">
                              <a:latin typeface="Cambria Math" panose="02040503050406030204" pitchFamily="18" charset="0"/>
                            </a:rPr>
                            <m:t>I</m:t>
                          </m:r>
                        </m:num>
                        <m:den>
                          <m:r>
                            <a:rPr lang="de-CH" sz="1600" i="1" smtClean="0">
                              <a:latin typeface="Cambria Math" panose="02040503050406030204" pitchFamily="18" charset="0"/>
                            </a:rPr>
                            <m:t>2</m:t>
                          </m:r>
                        </m:den>
                      </m:f>
                      <m:r>
                        <a:rPr lang="de-CH" sz="1600" i="1" smtClean="0">
                          <a:latin typeface="Cambria Math" panose="02040503050406030204" pitchFamily="18" charset="0"/>
                        </a:rPr>
                        <m:t>=</m:t>
                      </m:r>
                      <m:f>
                        <m:fPr>
                          <m:ctrlPr>
                            <a:rPr lang="de-CH" sz="1600" i="1" smtClean="0">
                              <a:latin typeface="Cambria Math" panose="02040503050406030204" pitchFamily="18" charset="0"/>
                            </a:rPr>
                          </m:ctrlPr>
                        </m:fPr>
                        <m:num>
                          <m:r>
                            <m:rPr>
                              <m:sty m:val="p"/>
                            </m:rPr>
                            <a:rPr lang="de-CH" sz="1600" i="1" smtClean="0">
                              <a:latin typeface="Cambria Math" panose="02040503050406030204" pitchFamily="18" charset="0"/>
                            </a:rPr>
                            <m:t>U</m:t>
                          </m:r>
                        </m:num>
                        <m:den>
                          <m:r>
                            <a:rPr lang="de-CH" sz="1600" i="1" smtClean="0">
                              <a:latin typeface="Cambria Math" panose="02040503050406030204" pitchFamily="18" charset="0"/>
                            </a:rPr>
                            <m:t>2</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den>
                      </m:f>
                    </m:oMath>
                  </m:oMathPara>
                </a14:m>
                <a:endParaRPr lang="de-CH" sz="1600" dirty="0"/>
              </a:p>
              <a:p>
                <a:r>
                  <a:rPr lang="de-CH" sz="1600" dirty="0"/>
                  <a:t>Leistung an der Last:</a:t>
                </a:r>
              </a:p>
              <a:p>
                <a:pPr marL="0" indent="0" algn="ctr">
                  <a:buFont typeface="Arial"/>
                  <a:buNone/>
                </a:pPr>
                <a14:m>
                  <m:oMathPara xmlns:m="http://schemas.openxmlformats.org/officeDocument/2006/math">
                    <m:o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P</m:t>
                          </m:r>
                        </m:e>
                        <m:sub>
                          <m:r>
                            <m:rPr>
                              <m:sty m:val="p"/>
                            </m:rPr>
                            <a:rPr lang="de-CH" sz="1600" i="1" smtClean="0">
                              <a:latin typeface="Cambria Math" panose="02040503050406030204" pitchFamily="18" charset="0"/>
                            </a:rPr>
                            <m:t>max</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Last</m:t>
                          </m:r>
                        </m:sub>
                      </m:sSub>
                      <m:r>
                        <a:rPr lang="de-CH" sz="1600" i="1" smtClean="0">
                          <a:latin typeface="Cambria Math" panose="02040503050406030204" pitchFamily="18" charset="0"/>
                        </a:rPr>
                        <m:t>⋅ </m:t>
                      </m:r>
                      <m:sSubSup>
                        <m:sSubSupPr>
                          <m:ctrlPr>
                            <a:rPr lang="de-CH" sz="1600" i="1" smtClean="0">
                              <a:latin typeface="Cambria Math" panose="02040503050406030204" pitchFamily="18" charset="0"/>
                            </a:rPr>
                          </m:ctrlPr>
                        </m:sSubSupPr>
                        <m:e>
                          <m:r>
                            <m:rPr>
                              <m:sty m:val="p"/>
                            </m:rPr>
                            <a:rPr lang="de-CH" sz="1600" i="1" smtClean="0">
                              <a:latin typeface="Cambria Math" panose="02040503050406030204" pitchFamily="18" charset="0"/>
                            </a:rPr>
                            <m:t>I</m:t>
                          </m:r>
                        </m:e>
                        <m:sub>
                          <m:r>
                            <m:rPr>
                              <m:sty m:val="p"/>
                            </m:rPr>
                            <a:rPr lang="de-CH" sz="1600" i="1" smtClean="0">
                              <a:latin typeface="Cambria Math" panose="02040503050406030204" pitchFamily="18" charset="0"/>
                            </a:rPr>
                            <m:t>Last</m:t>
                          </m:r>
                        </m:sub>
                        <m:sup>
                          <m:r>
                            <a:rPr lang="de-CH" sz="1600" i="1" smtClean="0">
                              <a:latin typeface="Cambria Math" panose="02040503050406030204" pitchFamily="18" charset="0"/>
                            </a:rPr>
                            <m:t>2</m:t>
                          </m:r>
                        </m:sup>
                      </m:sSubSup>
                      <m:r>
                        <a:rPr lang="de-CH" sz="1600" i="1" smtClean="0">
                          <a:latin typeface="Cambria Math" panose="02040503050406030204" pitchFamily="18" charset="0"/>
                        </a:rPr>
                        <m:t>=</m:t>
                      </m:r>
                      <m:f>
                        <m:fPr>
                          <m:ctrlPr>
                            <a:rPr lang="de-CH" sz="1600" i="1" smtClean="0">
                              <a:latin typeface="Cambria Math" panose="02040503050406030204" pitchFamily="18" charset="0"/>
                            </a:rPr>
                          </m:ctrlPr>
                        </m:fPr>
                        <m:num>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num>
                        <m:den>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den>
                      </m:f>
                      <m:r>
                        <a:rPr lang="de-CH" sz="1600" i="1" smtClean="0">
                          <a:latin typeface="Cambria Math" panose="02040503050406030204" pitchFamily="18" charset="0"/>
                        </a:rPr>
                        <m:t>⋅ </m:t>
                      </m:r>
                      <m:f>
                        <m:fPr>
                          <m:ctrlPr>
                            <a:rPr lang="de-CH" sz="1600" i="1" smtClean="0">
                              <a:latin typeface="Cambria Math" panose="02040503050406030204" pitchFamily="18" charset="0"/>
                            </a:rPr>
                          </m:ctrlPr>
                        </m:fPr>
                        <m:num>
                          <m:sSup>
                            <m:sSupPr>
                              <m:ctrlPr>
                                <a:rPr lang="de-CH" sz="1600" i="1" smtClean="0">
                                  <a:latin typeface="Cambria Math" panose="02040503050406030204" pitchFamily="18" charset="0"/>
                                </a:rPr>
                              </m:ctrlPr>
                            </m:sSupPr>
                            <m:e>
                              <m:r>
                                <m:rPr>
                                  <m:sty m:val="p"/>
                                </m:rPr>
                                <a:rPr lang="de-CH" sz="1600" i="1" smtClean="0">
                                  <a:latin typeface="Cambria Math" panose="02040503050406030204" pitchFamily="18" charset="0"/>
                                </a:rPr>
                                <m:t>U</m:t>
                              </m:r>
                            </m:e>
                            <m:sup>
                              <m:r>
                                <a:rPr lang="de-CH" sz="1600" i="1" smtClean="0">
                                  <a:latin typeface="Cambria Math" panose="02040503050406030204" pitchFamily="18" charset="0"/>
                                </a:rPr>
                                <m:t>2</m:t>
                              </m:r>
                            </m:sup>
                          </m:sSup>
                        </m:num>
                        <m:den>
                          <m:r>
                            <a:rPr lang="de-CH" sz="1600" i="1" smtClean="0">
                              <a:latin typeface="Cambria Math" panose="02040503050406030204" pitchFamily="18" charset="0"/>
                            </a:rPr>
                            <m:t>4</m:t>
                          </m:r>
                          <m:sSubSup>
                            <m:sSubSupPr>
                              <m:ctrlPr>
                                <a:rPr lang="de-CH" sz="1600" i="1" smtClean="0">
                                  <a:latin typeface="Cambria Math" panose="02040503050406030204" pitchFamily="18" charset="0"/>
                                </a:rPr>
                              </m:ctrlPr>
                            </m:sSubSup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up>
                              <m:r>
                                <a:rPr lang="de-CH" sz="1600" i="1" smtClean="0">
                                  <a:latin typeface="Cambria Math" panose="02040503050406030204" pitchFamily="18" charset="0"/>
                                </a:rPr>
                                <m:t>2</m:t>
                              </m:r>
                            </m:sup>
                          </m:sSubSup>
                        </m:den>
                      </m:f>
                    </m:oMath>
                  </m:oMathPara>
                </a14:m>
                <a:endParaRPr lang="de-CH" sz="1600" dirty="0"/>
              </a:p>
              <a:p>
                <a:pPr marL="0" indent="0" algn="ctr">
                  <a:buFont typeface="Arial"/>
                  <a:buNone/>
                </a:pPr>
                <a14:m>
                  <m:oMathPara xmlns:m="http://schemas.openxmlformats.org/officeDocument/2006/math">
                    <m:o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P</m:t>
                          </m:r>
                        </m:e>
                        <m:sub>
                          <m:r>
                            <m:rPr>
                              <m:sty m:val="p"/>
                            </m:rPr>
                            <a:rPr lang="de-CH" sz="1600" i="1" smtClean="0">
                              <a:latin typeface="Cambria Math" panose="02040503050406030204" pitchFamily="18" charset="0"/>
                            </a:rPr>
                            <m:t>max</m:t>
                          </m:r>
                        </m:sub>
                      </m:sSub>
                      <m:r>
                        <a:rPr lang="de-CH" sz="1600" i="1" smtClean="0">
                          <a:latin typeface="Cambria Math" panose="02040503050406030204" pitchFamily="18" charset="0"/>
                        </a:rPr>
                        <m:t>=</m:t>
                      </m:r>
                      <m:f>
                        <m:fPr>
                          <m:ctrlPr>
                            <a:rPr lang="de-CH" sz="1600" i="1" smtClean="0">
                              <a:latin typeface="Cambria Math" panose="02040503050406030204" pitchFamily="18" charset="0"/>
                            </a:rPr>
                          </m:ctrlPr>
                        </m:fPr>
                        <m:num>
                          <m:sSup>
                            <m:sSupPr>
                              <m:ctrlPr>
                                <a:rPr lang="de-CH" sz="1600" i="1" smtClean="0">
                                  <a:latin typeface="Cambria Math" panose="02040503050406030204" pitchFamily="18" charset="0"/>
                                </a:rPr>
                              </m:ctrlPr>
                            </m:sSupPr>
                            <m:e>
                              <m:r>
                                <m:rPr>
                                  <m:sty m:val="p"/>
                                </m:rPr>
                                <a:rPr lang="de-CH" sz="1600" i="1" smtClean="0">
                                  <a:latin typeface="Cambria Math" panose="02040503050406030204" pitchFamily="18" charset="0"/>
                                </a:rPr>
                                <m:t>U</m:t>
                              </m:r>
                            </m:e>
                            <m:sup>
                              <m:r>
                                <a:rPr lang="de-CH" sz="1600" i="1" smtClean="0">
                                  <a:latin typeface="Cambria Math" panose="02040503050406030204" pitchFamily="18" charset="0"/>
                                </a:rPr>
                                <m:t>2</m:t>
                              </m:r>
                            </m:sup>
                          </m:sSup>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num>
                        <m:den>
                          <m:r>
                            <a:rPr lang="de-CH" sz="1600" i="1" smtClean="0">
                              <a:latin typeface="Cambria Math" panose="02040503050406030204" pitchFamily="18" charset="0"/>
                            </a:rPr>
                            <m:t>4</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d>
                            <m:dPr>
                              <m:ctrlPr>
                                <a:rPr lang="de-CH" sz="1600" i="1" smtClean="0">
                                  <a:latin typeface="Cambria Math" panose="02040503050406030204" pitchFamily="18" charset="0"/>
                                </a:rPr>
                              </m:ctrlPr>
                            </m:dPr>
                            <m:e>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e>
                          </m:d>
                        </m:den>
                      </m:f>
                    </m:oMath>
                  </m:oMathPara>
                </a14:m>
                <a:endParaRPr lang="de-CH" sz="1600" dirty="0"/>
              </a:p>
            </p:txBody>
          </p:sp>
        </mc:Choice>
        <mc:Fallback xmlns="">
          <p:sp>
            <p:nvSpPr>
              <p:cNvPr id="8" name="Content Placeholder 2">
                <a:extLst>
                  <a:ext uri="{FF2B5EF4-FFF2-40B4-BE49-F238E27FC236}">
                    <a16:creationId xmlns:a16="http://schemas.microsoft.com/office/drawing/2014/main" id="{F625174D-6C8B-B81A-78E4-AD79E161FE94}"/>
                  </a:ext>
                </a:extLst>
              </p:cNvPr>
              <p:cNvSpPr txBox="1">
                <a:spLocks noRot="1" noChangeAspect="1" noMove="1" noResize="1" noEditPoints="1" noAdjustHandles="1" noChangeArrowheads="1" noChangeShapeType="1" noTextEdit="1"/>
              </p:cNvSpPr>
              <p:nvPr/>
            </p:nvSpPr>
            <p:spPr>
              <a:xfrm>
                <a:off x="6204163" y="1412875"/>
                <a:ext cx="5256000" cy="4860000"/>
              </a:xfrm>
              <a:prstGeom prst="rect">
                <a:avLst/>
              </a:prstGeom>
              <a:blipFill>
                <a:blip r:embed="rId3"/>
                <a:stretch>
                  <a:fillRect l="-464" t="-376" r="-1392"/>
                </a:stretch>
              </a:blipFill>
            </p:spPr>
            <p:txBody>
              <a:bodyPr/>
              <a:lstStyle/>
              <a:p>
                <a:r>
                  <a:rPr lang="de-CH">
                    <a:noFill/>
                  </a:rPr>
                  <a:t> </a:t>
                </a:r>
              </a:p>
            </p:txBody>
          </p:sp>
        </mc:Fallback>
      </mc:AlternateContent>
      <p:pic>
        <p:nvPicPr>
          <p:cNvPr id="9" name="Grafik 10" descr="Netzwerk mit Last">
            <a:extLst>
              <a:ext uri="{FF2B5EF4-FFF2-40B4-BE49-F238E27FC236}">
                <a16:creationId xmlns:a16="http://schemas.microsoft.com/office/drawing/2014/main" id="{359F512B-9682-6D9A-10E6-3DC066C56EAD}"/>
              </a:ext>
            </a:extLst>
          </p:cNvPr>
          <p:cNvPicPr>
            <a:picLocks noChangeAspect="1"/>
          </p:cNvPicPr>
          <p:nvPr/>
        </p:nvPicPr>
        <p:blipFill>
          <a:blip r:embed="rId4"/>
          <a:stretch>
            <a:fillRect/>
          </a:stretch>
        </p:blipFill>
        <p:spPr>
          <a:xfrm>
            <a:off x="832543" y="1412875"/>
            <a:ext cx="4838589" cy="2350000"/>
          </a:xfrm>
          <a:prstGeom prst="rect">
            <a:avLst/>
          </a:prstGeom>
        </p:spPr>
      </p:pic>
      <p:pic>
        <p:nvPicPr>
          <p:cNvPr id="10" name="Grafik 11" descr="Ersatzstromquelle mit Last">
            <a:extLst>
              <a:ext uri="{FF2B5EF4-FFF2-40B4-BE49-F238E27FC236}">
                <a16:creationId xmlns:a16="http://schemas.microsoft.com/office/drawing/2014/main" id="{3F8517D3-88EE-3424-E1DE-15ABB13CB84E}"/>
              </a:ext>
            </a:extLst>
          </p:cNvPr>
          <p:cNvPicPr>
            <a:picLocks noChangeAspect="1"/>
          </p:cNvPicPr>
          <p:nvPr/>
        </p:nvPicPr>
        <p:blipFill>
          <a:blip r:embed="rId5"/>
          <a:stretch>
            <a:fillRect/>
          </a:stretch>
        </p:blipFill>
        <p:spPr>
          <a:xfrm>
            <a:off x="832543" y="3922875"/>
            <a:ext cx="4838589" cy="2350000"/>
          </a:xfrm>
          <a:prstGeom prst="rect">
            <a:avLst/>
          </a:prstGeom>
        </p:spPr>
      </p:pic>
    </p:spTree>
    <p:extLst>
      <p:ext uri="{BB962C8B-B14F-4D97-AF65-F5344CB8AC3E}">
        <p14:creationId xmlns:p14="http://schemas.microsoft.com/office/powerpoint/2010/main" val="3574953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4443551-4091-4EC2-CA96-A62B18E4803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D97F8FC2-12BB-1254-9723-E2D6B54E5D71}"/>
              </a:ext>
            </a:extLst>
          </p:cNvPr>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556AAEE-F262-1202-DDCB-CE005EA9FE7D}"/>
              </a:ext>
            </a:extLst>
          </p:cNvPr>
          <p:cNvSpPr txBox="1"/>
          <p:nvPr/>
        </p:nvSpPr>
        <p:spPr>
          <a:xfrm>
            <a:off x="873811" y="542673"/>
            <a:ext cx="410369" cy="130805"/>
          </a:xfrm>
          <a:prstGeom prst="rect">
            <a:avLst/>
          </a:prstGeom>
          <a:noFill/>
        </p:spPr>
        <p:txBody>
          <a:bodyPr wrap="none" lIns="0" tIns="0" rIns="0" bIns="0" anchor="ctr">
            <a:spAutoFit/>
          </a:bodyPr>
          <a:lstStyle/>
          <a:p>
            <a:pPr algn="ctr"/>
            <a:r>
              <a:rPr lang="de-CH" sz="850" b="1" dirty="0">
                <a:solidFill>
                  <a:srgbClr val="737373"/>
                </a:solidFill>
                <a:latin typeface="Aptos"/>
              </a:rPr>
              <a:t>Aufgabe</a:t>
            </a:r>
            <a:endParaRPr sz="850" b="1" dirty="0">
              <a:solidFill>
                <a:srgbClr val="737373"/>
              </a:solidFill>
              <a:latin typeface="Aptos"/>
            </a:endParaRPr>
          </a:p>
        </p:txBody>
      </p:sp>
      <p:sp>
        <p:nvSpPr>
          <p:cNvPr id="4" name="TextBox 3">
            <a:extLst>
              <a:ext uri="{FF2B5EF4-FFF2-40B4-BE49-F238E27FC236}">
                <a16:creationId xmlns:a16="http://schemas.microsoft.com/office/drawing/2014/main" id="{1D1538DD-6358-9401-7B2F-DC03C1E6F8B8}"/>
              </a:ext>
            </a:extLst>
          </p:cNvPr>
          <p:cNvSpPr txBox="1"/>
          <p:nvPr/>
        </p:nvSpPr>
        <p:spPr>
          <a:xfrm>
            <a:off x="594360" y="932688"/>
            <a:ext cx="3724802" cy="477054"/>
          </a:xfrm>
          <a:prstGeom prst="rect">
            <a:avLst/>
          </a:prstGeom>
          <a:noFill/>
        </p:spPr>
        <p:txBody>
          <a:bodyPr wrap="none" lIns="0" tIns="0" rIns="0" bIns="0" anchor="t">
            <a:spAutoFit/>
          </a:bodyPr>
          <a:lstStyle/>
          <a:p>
            <a:r>
              <a:rPr lang="de-CH" sz="3100" b="1" dirty="0">
                <a:solidFill>
                  <a:srgbClr val="171717"/>
                </a:solidFill>
                <a:latin typeface="Aptos"/>
              </a:rPr>
              <a:t>Leistungsanpassung</a:t>
            </a:r>
            <a:endParaRPr sz="3100" b="1" dirty="0">
              <a:solidFill>
                <a:srgbClr val="171717"/>
              </a:solidFill>
              <a:latin typeface="Aptos"/>
            </a:endParaRPr>
          </a:p>
        </p:txBody>
      </p:sp>
      <p:sp>
        <p:nvSpPr>
          <p:cNvPr id="15" name="Datumsplatzhalter 14">
            <a:extLst>
              <a:ext uri="{FF2B5EF4-FFF2-40B4-BE49-F238E27FC236}">
                <a16:creationId xmlns:a16="http://schemas.microsoft.com/office/drawing/2014/main" id="{5D49CB33-824B-EC93-8E74-0DAE31C482B1}"/>
              </a:ext>
            </a:extLst>
          </p:cNvPr>
          <p:cNvSpPr>
            <a:spLocks noGrp="1"/>
          </p:cNvSpPr>
          <p:nvPr>
            <p:ph type="dt" sz="half" idx="10"/>
          </p:nvPr>
        </p:nvSpPr>
        <p:spPr/>
        <p:txBody>
          <a:bodyPr/>
          <a:lstStyle/>
          <a:p>
            <a:fld id="{750E4950-6A87-4978-A389-FEE19415F9F8}" type="datetime1">
              <a:rPr lang="de-CH" smtClean="0"/>
              <a:t>28.10.2026</a:t>
            </a:fld>
            <a:endParaRPr lang="en-US"/>
          </a:p>
        </p:txBody>
      </p:sp>
      <p:sp>
        <p:nvSpPr>
          <p:cNvPr id="16" name="Fußzeilenplatzhalter 15">
            <a:extLst>
              <a:ext uri="{FF2B5EF4-FFF2-40B4-BE49-F238E27FC236}">
                <a16:creationId xmlns:a16="http://schemas.microsoft.com/office/drawing/2014/main" id="{66FA353B-877E-EF31-D15C-B014B994568A}"/>
              </a:ext>
            </a:extLst>
          </p:cNvPr>
          <p:cNvSpPr>
            <a:spLocks noGrp="1"/>
          </p:cNvSpPr>
          <p:nvPr>
            <p:ph type="ftr" sz="quarter" idx="11"/>
          </p:nvPr>
        </p:nvSpPr>
        <p:spPr/>
        <p:txBody>
          <a:bodyPr/>
          <a:lstStyle/>
          <a:p>
            <a:r>
              <a:rPr lang="en-US"/>
              <a:t>Enrico Putzi W07</a:t>
            </a:r>
            <a:endParaRPr lang="en-US" dirty="0"/>
          </a:p>
        </p:txBody>
      </p:sp>
      <p:sp>
        <p:nvSpPr>
          <p:cNvPr id="17" name="Foliennummernplatzhalter 16">
            <a:extLst>
              <a:ext uri="{FF2B5EF4-FFF2-40B4-BE49-F238E27FC236}">
                <a16:creationId xmlns:a16="http://schemas.microsoft.com/office/drawing/2014/main" id="{50C92417-1043-5A1B-792C-0DED5EDBAAC6}"/>
              </a:ext>
            </a:extLst>
          </p:cNvPr>
          <p:cNvSpPr>
            <a:spLocks noGrp="1"/>
          </p:cNvSpPr>
          <p:nvPr>
            <p:ph type="sldNum" sz="quarter" idx="12"/>
          </p:nvPr>
        </p:nvSpPr>
        <p:spPr/>
        <p:txBody>
          <a:bodyPr/>
          <a:lstStyle/>
          <a:p>
            <a:fld id="{C1FF6DA9-008F-8B48-92A6-B652298478BF}" type="slidenum">
              <a:rPr lang="en-US" smtClean="0"/>
              <a:t>24</a:t>
            </a:fld>
            <a:endParaRPr lang="en-US"/>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E20179F8-B0EE-BC7F-572D-FE44F23C7A0A}"/>
                  </a:ext>
                </a:extLst>
              </p:cNvPr>
              <p:cNvSpPr txBox="1">
                <a:spLocks/>
              </p:cNvSpPr>
              <p:nvPr/>
            </p:nvSpPr>
            <p:spPr>
              <a:xfrm>
                <a:off x="6204163" y="1412875"/>
                <a:ext cx="5256000" cy="4860000"/>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de-CH" sz="1600" dirty="0"/>
                  <a:t>Am </a:t>
                </a:r>
                <a:r>
                  <a:rPr lang="de-CH" sz="1600" b="1" dirty="0"/>
                  <a:t>Originalnetzwerk</a:t>
                </a:r>
                <a:r>
                  <a:rPr lang="de-CH" sz="1600" dirty="0"/>
                  <a:t> liefert die Quelle </a:t>
                </a:r>
                <a14:m>
                  <m:oMath xmlns:m="http://schemas.openxmlformats.org/officeDocument/2006/math">
                    <m:r>
                      <m:rPr>
                        <m:sty m:val="p"/>
                      </m:rPr>
                      <a:rPr lang="de-CH" sz="1600" i="1" smtClean="0">
                        <a:latin typeface="Cambria Math" panose="02040503050406030204" pitchFamily="18" charset="0"/>
                      </a:rPr>
                      <m:t>U</m:t>
                    </m:r>
                  </m:oMath>
                </a14:m>
                <a:r>
                  <a:rPr lang="de-CH" sz="1600" dirty="0"/>
                  <a:t> die Leistung für </a:t>
                </a:r>
                <a14:m>
                  <m:oMath xmlns:m="http://schemas.openxmlformats.org/officeDocument/2006/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oMath>
                </a14:m>
                <a:r>
                  <a:rPr lang="de-CH" sz="1600" dirty="0"/>
                  <a:t>, </a:t>
                </a:r>
                <a14:m>
                  <m:oMath xmlns:m="http://schemas.openxmlformats.org/officeDocument/2006/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oMath>
                </a14:m>
                <a:r>
                  <a:rPr lang="de-CH" sz="1600" dirty="0"/>
                  <a:t> und </a:t>
                </a:r>
                <a14:m>
                  <m:oMath xmlns:m="http://schemas.openxmlformats.org/officeDocument/2006/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Last</m:t>
                        </m:r>
                      </m:sub>
                    </m:sSub>
                  </m:oMath>
                </a14:m>
                <a:r>
                  <a:rPr lang="de-CH" sz="1600" dirty="0"/>
                  <a:t>:</a:t>
                </a:r>
              </a:p>
              <a:p>
                <a:pPr marL="0" indent="0" algn="ctr">
                  <a:buFont typeface="Arial"/>
                  <a:buNone/>
                </a:pPr>
                <a14:m>
                  <m:oMathPara xmlns:m="http://schemas.openxmlformats.org/officeDocument/2006/math">
                    <m:oMath>
                      <m:r>
                        <m:rPr>
                          <m:sty m:val="p"/>
                        </m:rPr>
                        <a:rPr lang="de-CH" sz="1600" i="1" smtClean="0">
                          <a:latin typeface="Cambria Math" panose="02040503050406030204" pitchFamily="18" charset="0"/>
                        </a:rPr>
                        <m:t>η</m:t>
                      </m:r>
                      <m:r>
                        <a:rPr lang="de-CH" sz="1600" i="1" smtClean="0">
                          <a:latin typeface="Cambria Math" panose="02040503050406030204" pitchFamily="18" charset="0"/>
                        </a:rPr>
                        <m:t>=</m:t>
                      </m:r>
                      <m:f>
                        <m:fPr>
                          <m:ctrlPr>
                            <a:rPr lang="de-CH" sz="1600" i="1" smtClean="0">
                              <a:latin typeface="Cambria Math" panose="02040503050406030204" pitchFamily="18" charset="0"/>
                            </a:rPr>
                          </m:ctrlPr>
                        </m:fPr>
                        <m:num>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P</m:t>
                              </m:r>
                            </m:e>
                            <m:sub>
                              <m:r>
                                <m:rPr>
                                  <m:sty m:val="p"/>
                                </m:rPr>
                                <a:rPr lang="de-CH" sz="1600" i="1" smtClean="0">
                                  <a:latin typeface="Cambria Math" panose="02040503050406030204" pitchFamily="18" charset="0"/>
                                </a:rPr>
                                <m:t>Last</m:t>
                              </m:r>
                            </m:sub>
                          </m:sSub>
                        </m:num>
                        <m:den>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P</m:t>
                              </m:r>
                            </m:e>
                            <m:sub>
                              <m:r>
                                <m:rPr>
                                  <m:sty m:val="p"/>
                                </m:rPr>
                                <a:rPr lang="de-CH" sz="1600" i="1" smtClean="0">
                                  <a:latin typeface="Cambria Math" panose="02040503050406030204" pitchFamily="18" charset="0"/>
                                </a:rPr>
                                <m:t>R</m:t>
                              </m:r>
                              <m:r>
                                <a:rPr lang="de-CH" sz="1600" i="1" smtClean="0">
                                  <a:latin typeface="Cambria Math" panose="02040503050406030204" pitchFamily="18" charset="0"/>
                                </a:rPr>
                                <m:t>1</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P</m:t>
                              </m:r>
                            </m:e>
                            <m:sub>
                              <m:r>
                                <m:rPr>
                                  <m:sty m:val="p"/>
                                </m:rPr>
                                <a:rPr lang="de-CH" sz="1600" i="1" smtClean="0">
                                  <a:latin typeface="Cambria Math" panose="02040503050406030204" pitchFamily="18" charset="0"/>
                                </a:rPr>
                                <m:t>R</m:t>
                              </m:r>
                              <m:r>
                                <a:rPr lang="de-CH" sz="1600" i="1" smtClean="0">
                                  <a:latin typeface="Cambria Math" panose="02040503050406030204" pitchFamily="18" charset="0"/>
                                </a:rPr>
                                <m:t>2</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P</m:t>
                              </m:r>
                            </m:e>
                            <m:sub>
                              <m:r>
                                <m:rPr>
                                  <m:sty m:val="p"/>
                                </m:rPr>
                                <a:rPr lang="de-CH" sz="1600" i="1" smtClean="0">
                                  <a:latin typeface="Cambria Math" panose="02040503050406030204" pitchFamily="18" charset="0"/>
                                </a:rPr>
                                <m:t>Last</m:t>
                              </m:r>
                            </m:sub>
                          </m:sSub>
                        </m:den>
                      </m:f>
                    </m:oMath>
                  </m:oMathPara>
                </a14:m>
                <a:endParaRPr lang="de-CH" sz="1600" dirty="0"/>
              </a:p>
              <a:p>
                <a14:m>
                  <m:oMath xmlns:m="http://schemas.openxmlformats.org/officeDocument/2006/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oMath>
                </a14:m>
                <a:r>
                  <a:rPr lang="de-CH" sz="1600" dirty="0"/>
                  <a:t> ist grösser als </a:t>
                </a:r>
                <a14:m>
                  <m:oMath xmlns:m="http://schemas.openxmlformats.org/officeDocument/2006/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Last</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r>
                      <a:rPr lang="de-CH" sz="1600" i="1" smtClean="0">
                        <a:latin typeface="Cambria Math" panose="02040503050406030204" pitchFamily="18" charset="0"/>
                      </a:rPr>
                      <m:t>∥ </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oMath>
                </a14:m>
                <a:r>
                  <a:rPr lang="de-CH" sz="1600" dirty="0"/>
                  <a:t>, und durch </a:t>
                </a:r>
                <a14:m>
                  <m:oMath xmlns:m="http://schemas.openxmlformats.org/officeDocument/2006/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oMath>
                </a14:m>
                <a:r>
                  <a:rPr lang="de-CH" sz="1600" dirty="0"/>
                  <a:t> fliesst mehr Strom als durch die Last (</a:t>
                </a:r>
                <a14:m>
                  <m:oMath xmlns:m="http://schemas.openxmlformats.org/officeDocument/2006/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I</m:t>
                        </m:r>
                      </m:e>
                      <m:sub>
                        <m:r>
                          <m:rPr>
                            <m:sty m:val="p"/>
                          </m:rPr>
                          <a:rPr lang="de-CH" sz="1600" i="1" smtClean="0">
                            <a:latin typeface="Cambria Math" panose="02040503050406030204" pitchFamily="18" charset="0"/>
                          </a:rPr>
                          <m:t>q</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I</m:t>
                        </m:r>
                      </m:e>
                      <m:sub>
                        <m:r>
                          <a:rPr lang="de-CH" sz="1600" i="1" smtClean="0">
                            <a:latin typeface="Cambria Math" panose="02040503050406030204" pitchFamily="18" charset="0"/>
                          </a:rPr>
                          <m:t>2</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I</m:t>
                        </m:r>
                      </m:e>
                      <m:sub>
                        <m:r>
                          <m:rPr>
                            <m:sty m:val="p"/>
                          </m:rPr>
                          <a:rPr lang="de-CH" sz="1600" i="1" smtClean="0">
                            <a:latin typeface="Cambria Math" panose="02040503050406030204" pitchFamily="18" charset="0"/>
                          </a:rPr>
                          <m:t>Last</m:t>
                        </m:r>
                      </m:sub>
                    </m:sSub>
                  </m:oMath>
                </a14:m>
                <a:r>
                  <a:rPr lang="de-CH" sz="1600" dirty="0"/>
                  <a:t>):</a:t>
                </a:r>
              </a:p>
              <a:p>
                <a:pPr marL="0" indent="0" algn="ctr">
                  <a:buFont typeface="Arial"/>
                  <a:buNone/>
                </a:pPr>
                <a14:m>
                  <m:oMathPara xmlns:m="http://schemas.openxmlformats.org/officeDocument/2006/math">
                    <m:o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P</m:t>
                          </m:r>
                        </m:e>
                        <m:sub>
                          <m:r>
                            <m:rPr>
                              <m:sty m:val="p"/>
                            </m:rPr>
                            <a:rPr lang="de-CH" sz="1600" i="1" smtClean="0">
                              <a:latin typeface="Cambria Math" panose="02040503050406030204" pitchFamily="18" charset="0"/>
                            </a:rPr>
                            <m:t>R</m:t>
                          </m:r>
                          <m:r>
                            <a:rPr lang="de-CH" sz="1600" i="1" smtClean="0">
                              <a:latin typeface="Cambria Math" panose="02040503050406030204" pitchFamily="18" charset="0"/>
                            </a:rPr>
                            <m:t>1</m:t>
                          </m:r>
                        </m:sub>
                      </m:sSub>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1</m:t>
                          </m:r>
                        </m:sub>
                      </m:sSub>
                      <m:r>
                        <a:rPr lang="de-CH" sz="1600" i="1" smtClean="0">
                          <a:latin typeface="Cambria Math" panose="02040503050406030204" pitchFamily="18" charset="0"/>
                        </a:rPr>
                        <m:t>⋅ </m:t>
                      </m:r>
                      <m:sSubSup>
                        <m:sSubSupPr>
                          <m:ctrlPr>
                            <a:rPr lang="de-CH" sz="1600" i="1" smtClean="0">
                              <a:latin typeface="Cambria Math" panose="02040503050406030204" pitchFamily="18" charset="0"/>
                            </a:rPr>
                          </m:ctrlPr>
                        </m:sSubSupPr>
                        <m:e>
                          <m:r>
                            <m:rPr>
                              <m:sty m:val="p"/>
                            </m:rPr>
                            <a:rPr lang="de-CH" sz="1600" i="1" smtClean="0">
                              <a:latin typeface="Cambria Math" panose="02040503050406030204" pitchFamily="18" charset="0"/>
                            </a:rPr>
                            <m:t>I</m:t>
                          </m:r>
                        </m:e>
                        <m:sub>
                          <m:r>
                            <m:rPr>
                              <m:sty m:val="p"/>
                            </m:rPr>
                            <a:rPr lang="de-CH" sz="1600" i="1" smtClean="0">
                              <a:latin typeface="Cambria Math" panose="02040503050406030204" pitchFamily="18" charset="0"/>
                            </a:rPr>
                            <m:t>q</m:t>
                          </m:r>
                        </m:sub>
                        <m:sup>
                          <m:r>
                            <a:rPr lang="de-CH" sz="1600" i="1" smtClean="0">
                              <a:latin typeface="Cambria Math" panose="02040503050406030204" pitchFamily="18" charset="0"/>
                            </a:rPr>
                            <m:t>2</m:t>
                          </m:r>
                        </m:sup>
                      </m:sSubSup>
                      <m:r>
                        <a:rPr lang="de-CH" sz="1600" i="1" smtClean="0">
                          <a:latin typeface="Cambria Math" panose="02040503050406030204" pitchFamily="18" charset="0"/>
                        </a:rPr>
                        <m:t>&gt;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m:rPr>
                              <m:sty m:val="p"/>
                            </m:rPr>
                            <a:rPr lang="de-CH" sz="1600" i="1" smtClean="0">
                              <a:latin typeface="Cambria Math" panose="02040503050406030204" pitchFamily="18" charset="0"/>
                            </a:rPr>
                            <m:t>Last</m:t>
                          </m:r>
                        </m:sub>
                      </m:sSub>
                      <m:r>
                        <a:rPr lang="de-CH" sz="1600" i="1" smtClean="0">
                          <a:latin typeface="Cambria Math" panose="02040503050406030204" pitchFamily="18" charset="0"/>
                        </a:rPr>
                        <m:t>⋅ </m:t>
                      </m:r>
                      <m:sSubSup>
                        <m:sSubSupPr>
                          <m:ctrlPr>
                            <a:rPr lang="de-CH" sz="1600" i="1" smtClean="0">
                              <a:latin typeface="Cambria Math" panose="02040503050406030204" pitchFamily="18" charset="0"/>
                            </a:rPr>
                          </m:ctrlPr>
                        </m:sSubSupPr>
                        <m:e>
                          <m:r>
                            <m:rPr>
                              <m:sty m:val="p"/>
                            </m:rPr>
                            <a:rPr lang="de-CH" sz="1600" i="1" smtClean="0">
                              <a:latin typeface="Cambria Math" panose="02040503050406030204" pitchFamily="18" charset="0"/>
                            </a:rPr>
                            <m:t>I</m:t>
                          </m:r>
                        </m:e>
                        <m:sub>
                          <m:r>
                            <m:rPr>
                              <m:sty m:val="p"/>
                            </m:rPr>
                            <a:rPr lang="de-CH" sz="1600" i="1" smtClean="0">
                              <a:latin typeface="Cambria Math" panose="02040503050406030204" pitchFamily="18" charset="0"/>
                            </a:rPr>
                            <m:t>Last</m:t>
                          </m:r>
                        </m:sub>
                        <m:sup>
                          <m:r>
                            <a:rPr lang="de-CH" sz="1600" i="1" smtClean="0">
                              <a:latin typeface="Cambria Math" panose="02040503050406030204" pitchFamily="18" charset="0"/>
                            </a:rPr>
                            <m:t>2</m:t>
                          </m:r>
                        </m:sup>
                      </m:sSubSup>
                      <m:r>
                        <a:rPr lang="de-CH" sz="1600" i="1" smtClean="0">
                          <a:latin typeface="Cambria Math" panose="02040503050406030204" pitchFamily="18" charset="0"/>
                        </a:rPr>
                        <m:t>=</m:t>
                      </m:r>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P</m:t>
                          </m:r>
                        </m:e>
                        <m:sub>
                          <m:r>
                            <m:rPr>
                              <m:sty m:val="p"/>
                            </m:rPr>
                            <a:rPr lang="de-CH" sz="1600" i="1" smtClean="0">
                              <a:latin typeface="Cambria Math" panose="02040503050406030204" pitchFamily="18" charset="0"/>
                            </a:rPr>
                            <m:t>Last</m:t>
                          </m:r>
                        </m:sub>
                      </m:sSub>
                    </m:oMath>
                  </m:oMathPara>
                </a14:m>
                <a:endParaRPr lang="de-CH" sz="1600" dirty="0"/>
              </a:p>
              <a:p>
                <a:r>
                  <a:rPr lang="de-CH" sz="1600" dirty="0"/>
                  <a:t>Dazu kommen die Verluste in </a:t>
                </a:r>
                <a14:m>
                  <m:oMath xmlns:m="http://schemas.openxmlformats.org/officeDocument/2006/math">
                    <m:sSub>
                      <m:sSubPr>
                        <m:ctrlPr>
                          <a:rPr lang="de-CH" sz="1600" i="1" smtClean="0">
                            <a:latin typeface="Cambria Math" panose="02040503050406030204" pitchFamily="18" charset="0"/>
                          </a:rPr>
                        </m:ctrlPr>
                      </m:sSubPr>
                      <m:e>
                        <m:r>
                          <m:rPr>
                            <m:sty m:val="p"/>
                          </m:rPr>
                          <a:rPr lang="de-CH" sz="1600" i="1" smtClean="0">
                            <a:latin typeface="Cambria Math" panose="02040503050406030204" pitchFamily="18" charset="0"/>
                          </a:rPr>
                          <m:t>R</m:t>
                        </m:r>
                      </m:e>
                      <m:sub>
                        <m:r>
                          <a:rPr lang="de-CH" sz="1600" i="1" smtClean="0">
                            <a:latin typeface="Cambria Math" panose="02040503050406030204" pitchFamily="18" charset="0"/>
                          </a:rPr>
                          <m:t>2</m:t>
                        </m:r>
                      </m:sub>
                    </m:sSub>
                  </m:oMath>
                </a14:m>
                <a:r>
                  <a:rPr lang="de-CH" sz="1600" dirty="0"/>
                  <a:t>.</a:t>
                </a:r>
              </a:p>
              <a:p>
                <a:r>
                  <a:rPr lang="de-CH" sz="1600" dirty="0"/>
                  <a:t>⇒ Der Wirkungsgrad ist </a:t>
                </a:r>
                <a:r>
                  <a:rPr lang="de-CH" sz="1600" b="1" dirty="0"/>
                  <a:t>kleiner als 50 %</a:t>
                </a:r>
                <a:r>
                  <a:rPr lang="de-CH" sz="1600" dirty="0"/>
                  <a:t>.</a:t>
                </a:r>
              </a:p>
              <a:p>
                <a:pPr marL="0" indent="0">
                  <a:buFont typeface="Arial"/>
                  <a:buNone/>
                </a:pPr>
                <a:r>
                  <a:rPr lang="de-CH" sz="1600" b="1" dirty="0"/>
                  <a:t>Merke:</a:t>
                </a:r>
                <a:r>
                  <a:rPr lang="de-CH" sz="1600" dirty="0"/>
                  <a:t> Die Ersatzquelle stimmt nur an den Klemmen. Verluste im Inneren am Originalnetzwerk bestimmen den Wirkungsgrad.</a:t>
                </a:r>
              </a:p>
            </p:txBody>
          </p:sp>
        </mc:Choice>
        <mc:Fallback xmlns="">
          <p:sp>
            <p:nvSpPr>
              <p:cNvPr id="5" name="Content Placeholder 2">
                <a:extLst>
                  <a:ext uri="{FF2B5EF4-FFF2-40B4-BE49-F238E27FC236}">
                    <a16:creationId xmlns:a16="http://schemas.microsoft.com/office/drawing/2014/main" id="{E20179F8-B0EE-BC7F-572D-FE44F23C7A0A}"/>
                  </a:ext>
                </a:extLst>
              </p:cNvPr>
              <p:cNvSpPr txBox="1">
                <a:spLocks noRot="1" noChangeAspect="1" noMove="1" noResize="1" noEditPoints="1" noAdjustHandles="1" noChangeArrowheads="1" noChangeShapeType="1" noTextEdit="1"/>
              </p:cNvSpPr>
              <p:nvPr/>
            </p:nvSpPr>
            <p:spPr>
              <a:xfrm>
                <a:off x="6204163" y="1412875"/>
                <a:ext cx="5256000" cy="4860000"/>
              </a:xfrm>
              <a:prstGeom prst="rect">
                <a:avLst/>
              </a:prstGeom>
              <a:blipFill>
                <a:blip r:embed="rId3"/>
                <a:stretch>
                  <a:fillRect l="-696" t="-376" r="-696"/>
                </a:stretch>
              </a:blipFill>
            </p:spPr>
            <p:txBody>
              <a:bodyPr/>
              <a:lstStyle/>
              <a:p>
                <a:r>
                  <a:rPr lang="de-CH">
                    <a:noFill/>
                  </a:rPr>
                  <a:t> </a:t>
                </a:r>
              </a:p>
            </p:txBody>
          </p:sp>
        </mc:Fallback>
      </mc:AlternateContent>
      <p:pic>
        <p:nvPicPr>
          <p:cNvPr id="6" name="Grafik 10">
            <a:extLst>
              <a:ext uri="{FF2B5EF4-FFF2-40B4-BE49-F238E27FC236}">
                <a16:creationId xmlns:a16="http://schemas.microsoft.com/office/drawing/2014/main" id="{259B67D1-0C6B-995C-6C8C-4DC51691D9F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832543" y="1414795"/>
            <a:ext cx="4838589" cy="2346159"/>
          </a:xfrm>
          <a:prstGeom prst="rect">
            <a:avLst/>
          </a:prstGeom>
        </p:spPr>
      </p:pic>
    </p:spTree>
    <p:extLst>
      <p:ext uri="{BB962C8B-B14F-4D97-AF65-F5344CB8AC3E}">
        <p14:creationId xmlns:p14="http://schemas.microsoft.com/office/powerpoint/2010/main" val="2247455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ounded Rectangle 1"/>
          <p:cNvSpPr/>
          <p:nvPr/>
        </p:nvSpPr>
        <p:spPr>
          <a:xfrm>
            <a:off x="594360" y="475488"/>
            <a:ext cx="969264" cy="292608"/>
          </a:xfrm>
          <a:prstGeom prst="roundRect">
            <a:avLst/>
          </a:prstGeom>
          <a:solidFill>
            <a:srgbClr val="EEEEEA"/>
          </a:solidFill>
          <a:ln w="10160">
            <a:solidFill>
              <a:srgbClr val="EEEE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484632"/>
            <a:ext cx="969264" cy="246888"/>
          </a:xfrm>
          <a:prstGeom prst="rect">
            <a:avLst/>
          </a:prstGeom>
          <a:noFill/>
        </p:spPr>
        <p:txBody>
          <a:bodyPr wrap="none" lIns="0" tIns="0" rIns="0" bIns="0" anchor="ctr">
            <a:spAutoFit/>
          </a:bodyPr>
          <a:lstStyle/>
          <a:p>
            <a:pPr algn="ctr"/>
            <a:r>
              <a:rPr sz="850" b="1">
                <a:solidFill>
                  <a:srgbClr val="737373"/>
                </a:solidFill>
                <a:latin typeface="Aptos"/>
              </a:rPr>
              <a:t>AM ENDE</a:t>
            </a:r>
          </a:p>
        </p:txBody>
      </p:sp>
      <p:sp>
        <p:nvSpPr>
          <p:cNvPr id="4" name="TextBox 3"/>
          <p:cNvSpPr txBox="1"/>
          <p:nvPr/>
        </p:nvSpPr>
        <p:spPr>
          <a:xfrm>
            <a:off x="594360" y="932688"/>
            <a:ext cx="10515600" cy="594360"/>
          </a:xfrm>
          <a:prstGeom prst="rect">
            <a:avLst/>
          </a:prstGeom>
          <a:noFill/>
        </p:spPr>
        <p:txBody>
          <a:bodyPr wrap="none" lIns="0" tIns="0" rIns="0" bIns="0" anchor="t">
            <a:spAutoFit/>
          </a:bodyPr>
          <a:lstStyle/>
          <a:p>
            <a:pPr algn="l"/>
            <a:r>
              <a:rPr sz="3100" b="1">
                <a:solidFill>
                  <a:srgbClr val="171717"/>
                </a:solidFill>
                <a:latin typeface="Aptos"/>
              </a:rPr>
              <a:t>Takeaways</a:t>
            </a:r>
          </a:p>
        </p:txBody>
      </p:sp>
      <p:sp>
        <p:nvSpPr>
          <p:cNvPr id="5" name="TextBox 4"/>
          <p:cNvSpPr txBox="1"/>
          <p:nvPr/>
        </p:nvSpPr>
        <p:spPr>
          <a:xfrm>
            <a:off x="612648" y="1609344"/>
            <a:ext cx="9692640" cy="384048"/>
          </a:xfrm>
          <a:prstGeom prst="rect">
            <a:avLst/>
          </a:prstGeom>
          <a:noFill/>
        </p:spPr>
        <p:txBody>
          <a:bodyPr wrap="none" lIns="0" tIns="0" rIns="0" bIns="0" anchor="t">
            <a:spAutoFit/>
          </a:bodyPr>
          <a:lstStyle/>
          <a:p>
            <a:pPr algn="l"/>
            <a:r>
              <a:rPr sz="1350" b="0" dirty="0">
                <a:solidFill>
                  <a:srgbClr val="737373"/>
                </a:solidFill>
                <a:latin typeface="Aptos"/>
              </a:rPr>
              <a:t>Drei Dinge, die </a:t>
            </a:r>
            <a:r>
              <a:rPr sz="1350" b="0" dirty="0" err="1">
                <a:solidFill>
                  <a:srgbClr val="737373"/>
                </a:solidFill>
                <a:latin typeface="Aptos"/>
              </a:rPr>
              <a:t>heute</a:t>
            </a:r>
            <a:r>
              <a:rPr sz="1350" b="0" dirty="0">
                <a:solidFill>
                  <a:srgbClr val="737373"/>
                </a:solidFill>
                <a:latin typeface="Aptos"/>
              </a:rPr>
              <a:t> </a:t>
            </a:r>
            <a:r>
              <a:rPr sz="1350" b="0" dirty="0" err="1">
                <a:solidFill>
                  <a:srgbClr val="737373"/>
                </a:solidFill>
                <a:latin typeface="Aptos"/>
              </a:rPr>
              <a:t>sitzen</a:t>
            </a:r>
            <a:r>
              <a:rPr sz="1350" b="0" dirty="0">
                <a:solidFill>
                  <a:srgbClr val="737373"/>
                </a:solidFill>
                <a:latin typeface="Aptos"/>
              </a:rPr>
              <a:t> </a:t>
            </a:r>
            <a:r>
              <a:rPr sz="1350" b="0" dirty="0" err="1">
                <a:solidFill>
                  <a:srgbClr val="737373"/>
                </a:solidFill>
                <a:latin typeface="Aptos"/>
              </a:rPr>
              <a:t>sollten</a:t>
            </a:r>
            <a:r>
              <a:rPr sz="1350" b="0" dirty="0">
                <a:solidFill>
                  <a:srgbClr val="737373"/>
                </a:solidFill>
                <a:latin typeface="Aptos"/>
              </a:rPr>
              <a:t>.</a:t>
            </a:r>
          </a:p>
        </p:txBody>
      </p:sp>
      <p:sp>
        <p:nvSpPr>
          <p:cNvPr id="10" name="Rounded Rectangle 9"/>
          <p:cNvSpPr/>
          <p:nvPr/>
        </p:nvSpPr>
        <p:spPr>
          <a:xfrm>
            <a:off x="594360" y="2423160"/>
            <a:ext cx="3401568" cy="2057400"/>
          </a:xfrm>
          <a:prstGeom prst="roundRect">
            <a:avLst/>
          </a:prstGeom>
          <a:solidFill>
            <a:srgbClr val="FFFFFF"/>
          </a:solidFill>
          <a:ln w="10160">
            <a:solidFill>
              <a:srgbClr val="E8E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 y="2697480"/>
            <a:ext cx="457200" cy="274320"/>
          </a:xfrm>
          <a:prstGeom prst="rect">
            <a:avLst/>
          </a:prstGeom>
          <a:noFill/>
        </p:spPr>
        <p:txBody>
          <a:bodyPr wrap="none" lIns="0" tIns="0" rIns="0" bIns="0" anchor="t">
            <a:spAutoFit/>
          </a:bodyPr>
          <a:lstStyle/>
          <a:p>
            <a:pPr algn="l"/>
            <a:r>
              <a:rPr sz="1000" b="1">
                <a:solidFill>
                  <a:srgbClr val="737373"/>
                </a:solidFill>
                <a:latin typeface="Aptos"/>
              </a:rPr>
              <a:t>01</a:t>
            </a:r>
          </a:p>
        </p:txBody>
      </p:sp>
      <p:sp>
        <p:nvSpPr>
          <p:cNvPr id="12" name="TextBox 11"/>
          <p:cNvSpPr txBox="1"/>
          <p:nvPr/>
        </p:nvSpPr>
        <p:spPr>
          <a:xfrm>
            <a:off x="841248" y="3246120"/>
            <a:ext cx="2848280" cy="553998"/>
          </a:xfrm>
          <a:prstGeom prst="rect">
            <a:avLst/>
          </a:prstGeom>
          <a:noFill/>
        </p:spPr>
        <p:txBody>
          <a:bodyPr wrap="none" lIns="0" tIns="0" rIns="0" bIns="0" anchor="t">
            <a:spAutoFit/>
          </a:bodyPr>
          <a:lstStyle/>
          <a:p>
            <a:pPr algn="l"/>
            <a:r>
              <a:rPr lang="de-CH" sz="1800" b="1">
                <a:solidFill>
                  <a:srgbClr val="171717"/>
                </a:solidFill>
                <a:latin typeface="Aptos"/>
              </a:rPr>
              <a:t>Wissen, </a:t>
            </a:r>
            <a:r>
              <a:rPr lang="de-CH" sz="1800" b="1" dirty="0">
                <a:solidFill>
                  <a:srgbClr val="171717"/>
                </a:solidFill>
                <a:latin typeface="Aptos"/>
              </a:rPr>
              <a:t>was euch in eurem</a:t>
            </a:r>
            <a:br>
              <a:rPr lang="de-CH" sz="1800" b="1" dirty="0">
                <a:solidFill>
                  <a:srgbClr val="171717"/>
                </a:solidFill>
                <a:latin typeface="Aptos"/>
              </a:rPr>
            </a:br>
            <a:r>
              <a:rPr lang="de-CH" sz="1800" b="1" dirty="0">
                <a:solidFill>
                  <a:srgbClr val="171717"/>
                </a:solidFill>
                <a:latin typeface="Aptos"/>
              </a:rPr>
              <a:t>Studiu</a:t>
            </a:r>
            <a:r>
              <a:rPr lang="de-CH" b="1" dirty="0">
                <a:solidFill>
                  <a:srgbClr val="171717"/>
                </a:solidFill>
                <a:latin typeface="Aptos"/>
              </a:rPr>
              <a:t>m erwartet</a:t>
            </a:r>
            <a:endParaRPr sz="1800" b="1" dirty="0">
              <a:solidFill>
                <a:srgbClr val="171717"/>
              </a:solidFill>
              <a:latin typeface="Aptos"/>
            </a:endParaRPr>
          </a:p>
        </p:txBody>
      </p:sp>
      <p:sp>
        <p:nvSpPr>
          <p:cNvPr id="13" name="Rounded Rectangle 12"/>
          <p:cNvSpPr/>
          <p:nvPr/>
        </p:nvSpPr>
        <p:spPr>
          <a:xfrm>
            <a:off x="4297680" y="2423160"/>
            <a:ext cx="3401568" cy="2057400"/>
          </a:xfrm>
          <a:prstGeom prst="roundRect">
            <a:avLst/>
          </a:prstGeom>
          <a:solidFill>
            <a:srgbClr val="FFFFFF"/>
          </a:solidFill>
          <a:ln w="10160">
            <a:solidFill>
              <a:srgbClr val="E8E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44568" y="2697480"/>
            <a:ext cx="457200" cy="274320"/>
          </a:xfrm>
          <a:prstGeom prst="rect">
            <a:avLst/>
          </a:prstGeom>
          <a:noFill/>
        </p:spPr>
        <p:txBody>
          <a:bodyPr wrap="none" lIns="0" tIns="0" rIns="0" bIns="0" anchor="t">
            <a:spAutoFit/>
          </a:bodyPr>
          <a:lstStyle/>
          <a:p>
            <a:pPr algn="l"/>
            <a:r>
              <a:rPr sz="1000" b="1">
                <a:solidFill>
                  <a:srgbClr val="737373"/>
                </a:solidFill>
                <a:latin typeface="Aptos"/>
              </a:rPr>
              <a:t>02</a:t>
            </a:r>
          </a:p>
        </p:txBody>
      </p:sp>
      <p:sp>
        <p:nvSpPr>
          <p:cNvPr id="15" name="TextBox 14"/>
          <p:cNvSpPr txBox="1"/>
          <p:nvPr/>
        </p:nvSpPr>
        <p:spPr>
          <a:xfrm>
            <a:off x="4544568" y="3246120"/>
            <a:ext cx="1458220" cy="276999"/>
          </a:xfrm>
          <a:prstGeom prst="rect">
            <a:avLst/>
          </a:prstGeom>
          <a:noFill/>
        </p:spPr>
        <p:txBody>
          <a:bodyPr wrap="none" lIns="0" tIns="0" rIns="0" bIns="0" anchor="t">
            <a:spAutoFit/>
          </a:bodyPr>
          <a:lstStyle/>
          <a:p>
            <a:pPr algn="l"/>
            <a:r>
              <a:rPr lang="de-CH" sz="1800" b="1" dirty="0">
                <a:solidFill>
                  <a:srgbClr val="171717"/>
                </a:solidFill>
                <a:latin typeface="Aptos"/>
              </a:rPr>
              <a:t>Stern-Dreieck</a:t>
            </a:r>
            <a:endParaRPr sz="1800" b="1" dirty="0">
              <a:solidFill>
                <a:srgbClr val="171717"/>
              </a:solidFill>
              <a:latin typeface="Aptos"/>
            </a:endParaRPr>
          </a:p>
        </p:txBody>
      </p:sp>
      <p:sp>
        <p:nvSpPr>
          <p:cNvPr id="16" name="Rounded Rectangle 15"/>
          <p:cNvSpPr/>
          <p:nvPr/>
        </p:nvSpPr>
        <p:spPr>
          <a:xfrm>
            <a:off x="8001000" y="2423160"/>
            <a:ext cx="3401568" cy="2057400"/>
          </a:xfrm>
          <a:prstGeom prst="roundRect">
            <a:avLst/>
          </a:prstGeom>
          <a:solidFill>
            <a:srgbClr val="FFFFFF"/>
          </a:solidFill>
          <a:ln w="10160">
            <a:solidFill>
              <a:srgbClr val="E8E8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47888" y="2697480"/>
            <a:ext cx="457200" cy="274320"/>
          </a:xfrm>
          <a:prstGeom prst="rect">
            <a:avLst/>
          </a:prstGeom>
          <a:noFill/>
        </p:spPr>
        <p:txBody>
          <a:bodyPr wrap="none" lIns="0" tIns="0" rIns="0" bIns="0" anchor="t">
            <a:spAutoFit/>
          </a:bodyPr>
          <a:lstStyle/>
          <a:p>
            <a:pPr algn="l"/>
            <a:r>
              <a:rPr sz="1000" b="1">
                <a:solidFill>
                  <a:srgbClr val="737373"/>
                </a:solidFill>
                <a:latin typeface="Aptos"/>
              </a:rPr>
              <a:t>03</a:t>
            </a:r>
          </a:p>
        </p:txBody>
      </p:sp>
      <p:sp>
        <p:nvSpPr>
          <p:cNvPr id="18" name="TextBox 17"/>
          <p:cNvSpPr txBox="1"/>
          <p:nvPr/>
        </p:nvSpPr>
        <p:spPr>
          <a:xfrm>
            <a:off x="8247888" y="3246120"/>
            <a:ext cx="3082575" cy="553998"/>
          </a:xfrm>
          <a:prstGeom prst="rect">
            <a:avLst/>
          </a:prstGeom>
          <a:noFill/>
        </p:spPr>
        <p:txBody>
          <a:bodyPr wrap="none" lIns="0" tIns="0" rIns="0" bIns="0" anchor="t">
            <a:spAutoFit/>
          </a:bodyPr>
          <a:lstStyle/>
          <a:p>
            <a:pPr algn="l"/>
            <a:r>
              <a:rPr lang="de-CH" sz="1800" b="1" dirty="0">
                <a:solidFill>
                  <a:srgbClr val="171717"/>
                </a:solidFill>
                <a:latin typeface="Aptos"/>
              </a:rPr>
              <a:t>Wissen, dass ihr das Studium</a:t>
            </a:r>
            <a:br>
              <a:rPr lang="de-CH" sz="1800" b="1" dirty="0">
                <a:solidFill>
                  <a:srgbClr val="171717"/>
                </a:solidFill>
                <a:latin typeface="Aptos"/>
              </a:rPr>
            </a:br>
            <a:r>
              <a:rPr lang="de-CH" sz="1800" b="1" dirty="0">
                <a:solidFill>
                  <a:srgbClr val="171717"/>
                </a:solidFill>
                <a:latin typeface="Aptos"/>
              </a:rPr>
              <a:t>packt und schafft </a:t>
            </a:r>
            <a:endParaRPr sz="1800" b="1" dirty="0">
              <a:solidFill>
                <a:srgbClr val="171717"/>
              </a:solidFill>
              <a:latin typeface="Aptos"/>
            </a:endParaRPr>
          </a:p>
        </p:txBody>
      </p:sp>
      <p:sp>
        <p:nvSpPr>
          <p:cNvPr id="19" name="TextBox 18"/>
          <p:cNvSpPr txBox="1"/>
          <p:nvPr/>
        </p:nvSpPr>
        <p:spPr>
          <a:xfrm>
            <a:off x="621792" y="5074920"/>
            <a:ext cx="1828800" cy="457200"/>
          </a:xfrm>
          <a:prstGeom prst="rect">
            <a:avLst/>
          </a:prstGeom>
          <a:noFill/>
        </p:spPr>
        <p:txBody>
          <a:bodyPr wrap="none" lIns="0" tIns="0" rIns="0" bIns="0" anchor="t">
            <a:spAutoFit/>
          </a:bodyPr>
          <a:lstStyle/>
          <a:p>
            <a:pPr algn="l"/>
            <a:r>
              <a:rPr sz="2300" b="1">
                <a:solidFill>
                  <a:srgbClr val="171717"/>
                </a:solidFill>
                <a:latin typeface="Aptos"/>
              </a:rPr>
              <a:t>Fragen?</a:t>
            </a:r>
          </a:p>
        </p:txBody>
      </p:sp>
      <p:sp>
        <p:nvSpPr>
          <p:cNvPr id="24" name="Datumsplatzhalter 23">
            <a:extLst>
              <a:ext uri="{FF2B5EF4-FFF2-40B4-BE49-F238E27FC236}">
                <a16:creationId xmlns:a16="http://schemas.microsoft.com/office/drawing/2014/main" id="{2EA94921-0C4B-A8A0-74D0-1080596E2268}"/>
              </a:ext>
            </a:extLst>
          </p:cNvPr>
          <p:cNvSpPr>
            <a:spLocks noGrp="1"/>
          </p:cNvSpPr>
          <p:nvPr>
            <p:ph type="dt" sz="half" idx="10"/>
          </p:nvPr>
        </p:nvSpPr>
        <p:spPr/>
        <p:txBody>
          <a:bodyPr/>
          <a:lstStyle/>
          <a:p>
            <a:fld id="{A0236968-7915-4C2B-B068-6C45EAF23E4C}" type="datetime1">
              <a:rPr lang="de-CH" smtClean="0"/>
              <a:t>28.10.2026</a:t>
            </a:fld>
            <a:endParaRPr lang="en-US" dirty="0"/>
          </a:p>
        </p:txBody>
      </p:sp>
      <p:sp>
        <p:nvSpPr>
          <p:cNvPr id="25" name="Fußzeilenplatzhalter 24">
            <a:extLst>
              <a:ext uri="{FF2B5EF4-FFF2-40B4-BE49-F238E27FC236}">
                <a16:creationId xmlns:a16="http://schemas.microsoft.com/office/drawing/2014/main" id="{9438F619-6A04-AD9B-6C65-51AEB489A950}"/>
              </a:ext>
            </a:extLst>
          </p:cNvPr>
          <p:cNvSpPr>
            <a:spLocks noGrp="1"/>
          </p:cNvSpPr>
          <p:nvPr>
            <p:ph type="ftr" sz="quarter" idx="11"/>
          </p:nvPr>
        </p:nvSpPr>
        <p:spPr/>
        <p:txBody>
          <a:bodyPr/>
          <a:lstStyle/>
          <a:p>
            <a:r>
              <a:rPr lang="en-US"/>
              <a:t>Enrico Putzi W07</a:t>
            </a:r>
          </a:p>
        </p:txBody>
      </p:sp>
      <p:sp>
        <p:nvSpPr>
          <p:cNvPr id="26" name="Foliennummernplatzhalter 25">
            <a:extLst>
              <a:ext uri="{FF2B5EF4-FFF2-40B4-BE49-F238E27FC236}">
                <a16:creationId xmlns:a16="http://schemas.microsoft.com/office/drawing/2014/main" id="{6A495C1E-4949-515F-CE44-BD0B40A25FEC}"/>
              </a:ext>
            </a:extLst>
          </p:cNvPr>
          <p:cNvSpPr>
            <a:spLocks noGrp="1"/>
          </p:cNvSpPr>
          <p:nvPr>
            <p:ph type="sldNum" sz="quarter" idx="12"/>
          </p:nvPr>
        </p:nvSpPr>
        <p:spPr/>
        <p:txBody>
          <a:bodyPr/>
          <a:lstStyle/>
          <a:p>
            <a:fld id="{C1FF6DA9-008F-8B48-92A6-B652298478BF}" type="slidenum">
              <a:rPr lang="en-US" smtClean="0"/>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2737</Words>
  <Application>Microsoft Office PowerPoint</Application>
  <PresentationFormat>Breitbild</PresentationFormat>
  <Paragraphs>263</Paragraphs>
  <Slides>25</Slides>
  <Notes>25</Notes>
  <HiddenSlides>3</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25</vt:i4>
      </vt:variant>
    </vt:vector>
  </HeadingPairs>
  <TitlesOfParts>
    <vt:vector size="30" baseType="lpstr">
      <vt:lpstr>Aptos</vt:lpstr>
      <vt:lpstr>Arial</vt:lpstr>
      <vt:lpstr>Calibri</vt:lpstr>
      <vt:lpstr>Cambria Math</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W07</dc:title>
  <dc:subject/>
  <dc:creator>Enrico Putzi</dc:creator>
  <cp:keywords/>
  <dc:description>generated using python-pptx</dc:description>
  <cp:lastModifiedBy>Putzi  Enrico</cp:lastModifiedBy>
  <cp:revision>22</cp:revision>
  <dcterms:created xsi:type="dcterms:W3CDTF">2013-01-27T09:14:16Z</dcterms:created>
  <dcterms:modified xsi:type="dcterms:W3CDTF">2026-10-28T17:07:20Z</dcterms:modified>
  <cp:category/>
</cp:coreProperties>
</file>