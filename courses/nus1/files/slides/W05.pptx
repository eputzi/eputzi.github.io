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3" r:id="rId3"/>
    <p:sldId id="264" r:id="rId4"/>
    <p:sldId id="265" r:id="rId5"/>
    <p:sldId id="267" r:id="rId6"/>
    <p:sldId id="266" r:id="rId7"/>
    <p:sldId id="268" r:id="rId8"/>
    <p:sldId id="269" r:id="rId9"/>
    <p:sldId id="274" r:id="rId10"/>
    <p:sldId id="272" r:id="rId11"/>
    <p:sldId id="276" r:id="rId12"/>
    <p:sldId id="275" r:id="rId13"/>
    <p:sldId id="279" r:id="rId14"/>
    <p:sldId id="277" r:id="rId15"/>
    <p:sldId id="278" r:id="rId16"/>
    <p:sldId id="271" r:id="rId17"/>
    <p:sldId id="280" r:id="rId18"/>
    <p:sldId id="281" r:id="rId19"/>
    <p:sldId id="273" r:id="rId20"/>
    <p:sldId id="293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62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914" y="7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9192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Cover. Pro Woche nur Übungsnummer, Thema und ggf. Website-Link ändern.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B6A9-5DDB-582F-2129-F7A88AF3B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CDD46E-BA1A-EB03-3B5B-098886663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BF34C0-7AEA-0DC9-0F31-3A4EEC27F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EAFA64-B444-378B-D71A-D17440F33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618600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61AF8-44F1-579E-DFCF-8B6E9701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95A710-3DC3-6DAF-110B-43A886EAE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29343-C327-A031-6C94-C357B0FA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AD0075-7D1C-899E-B51A-AB94E0D67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1154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C053-B07C-32D1-F23B-0FDB015E1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6EEE38-06FE-DBA4-393B-23FE0FB53F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EB2E3-7D3F-2F54-C751-C43EE36B3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92A4F-BC7E-3D4B-FB28-97CECE88D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9669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91FFB-4678-CC3A-502D-2C1068D97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2E6A55-2038-ABAF-6C69-96B29C7E38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1E5B2-EA7D-AA1F-CC53-D3DF8095D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F8163-8789-0DBC-464D-99F285684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79098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AB53-34AD-04DA-B94A-790753F8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946AA-BFCB-0DC1-24E8-603760DBF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D712A9-7177-BA30-74C0-6D497190F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E7644-3964-CA07-ED1E-189A338C3C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1923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50EDD-A0B3-136D-28A3-93E4F8C3C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D617E-5F58-B1E4-0B3A-77C0337D85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3942CA-A379-5D51-8489-FAF1CAE9F4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CBF716-8009-1DB3-F6FA-08C780D89F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774224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4DC4A-EC84-F0C3-5D42-363DD17A5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AA9BE-0068-2AE7-794A-2CACB13B36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42C22-5E8E-7F9A-DA2C-9D877927CA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B6CD0-93CF-A60C-0424-1640BD2AE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81166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46A70-01C4-AF2C-DF8B-1B9A57D3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BFB3C-B5EE-362D-F9AD-14A12EE7E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DC95D4-42DE-CE25-81C0-3F5C79F57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D6642-E904-6AC8-27D9-5E198111D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578894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B6B55-D50D-D088-E55C-5692CA722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C85406-8A30-850A-61B3-4504AC85C8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D4662E-2E6B-E7A1-EE8E-355700F45A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A90B4-8951-66CD-ADA6-C901238C8F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336189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CA43C-E422-0E74-BAA6-3C69D063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7127B9-CBD4-DE94-1DDF-7009C16E68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62A341-F5FD-ACA8-FA97-279A136D8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0EE9B-4CF7-03E0-8F20-1949C95C5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53026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87F84-BB69-85BF-5CAF-21A3D976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E1C3DC-FF3F-57C7-FE6B-83642B35FE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3D63D-8A26-0302-9F1F-8228C2964C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0F14D-68D0-5450-C631-2C39B6C4C8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0148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482CC-C31A-4BFD-B226-83B0E43C0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18F29-E075-6D6C-33E3-614AE39C5D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C576E8-A59E-2034-891F-EF6E75515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23F61-C773-8F49-6183-51C4F4302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5938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AEDC1-D266-0A37-72CF-734645801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021C6-2C92-ADB3-5FBF-15D5667CEB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7D562-3518-0E64-2F98-932B6B73AC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05612-B6B7-7558-C4F1-00985F18B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12751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D872C-B111-E697-2353-C7BCC2085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591485-8D0F-2A8F-C540-ED47BBDCCF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82FF88-0CF2-A1D8-8EB5-4E119A51C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ED1AD-2813-87C3-2BC7-35740F9779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276719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442B-B4AE-FB8D-75DE-EEF740C2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A7D596-60E8-F3C9-A931-FD9272BDF5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EEC389-CC6E-C0A7-B842-EB2668A7A2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21659-029A-C745-ECD2-F74A684D1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095119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692D-4897-669E-068C-05A5E94AE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2A5F80-AA3C-928F-7DD9-5B39CBCA4E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4E35D-1BB7-AEA1-5274-4E371AC61A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8E188-7371-45DC-8882-625552D11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24630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7BAF-4756-23CD-877C-34DE7B5F2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DBBCC-5E2B-BAFE-AC65-A7D54840E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041F4-6931-B83A-9248-EC753C5C11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A7E1A-4244-04E6-136A-5A1BF4183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806380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C4671-2A68-BADE-915D-917DE3E10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5AB66-0234-E2D4-CEAE-9C0C0EE896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DD6B13-D7D6-51A8-B45F-8302EA1B4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CD07DE-B886-1281-2858-0A992EE1A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667252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B81A2-A8BD-D114-282F-D3B8324B6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602B8-BE14-495F-FC8F-21D85FFB7A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141670-DC52-E31B-1E66-92E76169B3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941E19-F2EA-B60D-9474-9EA68BF22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118348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F4F7D-82D7-DEC2-C45E-6449CA986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89EAFC-9DF1-4CA7-CC61-11E90537B1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AAB22-A9CA-1C62-DC3D-4BA42262CF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Die </a:t>
            </a:r>
            <a:r>
              <a:rPr dirty="0" err="1"/>
              <a:t>wichtigste</a:t>
            </a:r>
            <a:r>
              <a:rPr dirty="0"/>
              <a:t> </a:t>
            </a:r>
            <a:r>
              <a:rPr dirty="0" err="1"/>
              <a:t>Standardfolie</a:t>
            </a:r>
            <a:r>
              <a:rPr dirty="0"/>
              <a:t>: links 2–5 </a:t>
            </a:r>
            <a:r>
              <a:rPr dirty="0" err="1"/>
              <a:t>Stichpunkte</a:t>
            </a:r>
            <a:r>
              <a:rPr dirty="0"/>
              <a:t>, </a:t>
            </a:r>
            <a:r>
              <a:rPr dirty="0" err="1"/>
              <a:t>rechts</a:t>
            </a:r>
            <a:r>
              <a:rPr dirty="0"/>
              <a:t> </a:t>
            </a:r>
            <a:r>
              <a:rPr dirty="0" err="1"/>
              <a:t>ein</a:t>
            </a:r>
            <a:r>
              <a:rPr dirty="0"/>
              <a:t> grosses Bild,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Schaltung</a:t>
            </a:r>
            <a:r>
              <a:rPr dirty="0"/>
              <a:t>, </a:t>
            </a:r>
            <a:r>
              <a:rPr dirty="0" err="1"/>
              <a:t>ein</a:t>
            </a:r>
            <a:r>
              <a:rPr dirty="0"/>
              <a:t> Screenshot </a:t>
            </a:r>
            <a:r>
              <a:rPr dirty="0" err="1"/>
              <a:t>oder</a:t>
            </a:r>
            <a:r>
              <a:rPr dirty="0"/>
              <a:t>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Skizze</a:t>
            </a:r>
            <a:r>
              <a:rPr dirty="0"/>
              <a:t>. Wenn </a:t>
            </a:r>
            <a:r>
              <a:rPr dirty="0" err="1"/>
              <a:t>kein</a:t>
            </a:r>
            <a:r>
              <a:rPr dirty="0"/>
              <a:t> Visual </a:t>
            </a:r>
            <a:r>
              <a:rPr dirty="0" err="1"/>
              <a:t>nötig</a:t>
            </a:r>
            <a:r>
              <a:rPr dirty="0"/>
              <a:t> </a:t>
            </a:r>
            <a:r>
              <a:rPr dirty="0" err="1"/>
              <a:t>ist</a:t>
            </a:r>
            <a:r>
              <a:rPr dirty="0"/>
              <a:t>, die </a:t>
            </a:r>
            <a:r>
              <a:rPr dirty="0" err="1"/>
              <a:t>rechte</a:t>
            </a:r>
            <a:r>
              <a:rPr dirty="0"/>
              <a:t> </a:t>
            </a:r>
            <a:r>
              <a:rPr dirty="0" err="1"/>
              <a:t>Fläche</a:t>
            </a:r>
            <a:r>
              <a:rPr dirty="0"/>
              <a:t> für </a:t>
            </a:r>
            <a:r>
              <a:rPr dirty="0" err="1"/>
              <a:t>eine</a:t>
            </a:r>
            <a:r>
              <a:rPr dirty="0"/>
              <a:t> </a:t>
            </a:r>
            <a:r>
              <a:rPr dirty="0" err="1"/>
              <a:t>grosse</a:t>
            </a:r>
            <a:r>
              <a:rPr dirty="0"/>
              <a:t> Formel </a:t>
            </a:r>
            <a:r>
              <a:rPr dirty="0" err="1"/>
              <a:t>nutzen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3B604-6FB7-C182-BBE5-29D0CC90C6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5447366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CF4E-F830-4733-DC28-C5BB4381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0D707-113E-87B2-8723-97C1DA46FC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D1F56C-ECFE-A2D4-210F-8945B3947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00FFD-5D13-363B-64C6-FC38EDDE5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4844842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1CF2E-75CE-A33D-F096-7822588E3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41966-B7D6-1202-8DCF-42843F9CEC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630055-52CA-2AE1-4B54-077155E944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B9DC0-333F-DB32-76CC-ED49174437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952288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E8892-54AB-F992-3BBF-A0915B6A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7BF6CF-0514-FE84-8B2F-4429B26896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57558-1683-F551-7FFC-4E2DCA374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E9578-41B8-931B-2D69-EAC77D9D7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740548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DB0F2-1CA3-AA45-0E8D-17E87E048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D436D9-57C2-66D0-1EA8-A038FF24E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335B92-9957-6478-4D2B-857C4CA50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F21B-91A6-6AFF-9BE8-C41B816CA1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20491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6B9FE-0263-8E9C-4D18-CF440A605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9BB61B-1F9C-722F-7887-89525FA86D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F1E28-9600-DEE1-FB26-CF52A6453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92B3EE-0AFB-3F59-233F-E01D419189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7885216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4EDC7-CA48-BB3C-BB7C-155C2690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3BD847-AD4B-5F21-18D7-9FCE60B496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B889CB-D732-6E51-3B99-934E60BC14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BCC39C-4CE4-B05D-46B9-2668DBCF26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504494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3E43A-AC24-DCD4-ADA6-2E724024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2C17FA-A178-0818-29D0-D9096B437C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F5E8FB-B837-8FDA-8571-1CABFD0F2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FCB102-42A5-DA7C-F44B-E828A6247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88386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A40E5-D832-CAA7-29FB-1F75FF083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AF197B-097E-A891-65D9-AA315012B1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A0BB6-EEF3-1B42-3FB1-419C61958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A41B3-01EA-F40E-5992-22657BF336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160159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3C0F2-2A82-89B4-BF62-BF73D5989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DC67D-F1BD-9730-B2B9-5840CB99D4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171EB9-CE8B-AB0E-4CC8-7C623876E6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28172-D654-9D46-06A4-FEC637D04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390269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573CE-F255-4834-6E4D-AF22D324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46400-D9FE-0464-FBAE-7F64EAD46A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C93D47-A5B4-D916-B76D-F5FEF12B1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 wichtigste Standardfolie: links 2–5 Stichpunkte, rechts ein grosses Bild, eine Schaltung, ein Screenshot oder eine Skizze. Wenn kein Visual nötig ist, die rechte Fläche für eine grosse Formel nutzen.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A61CC-9D55-37E2-1689-9C24E895C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123489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Optional: QR-Code oder kurzer Link zum Fragen-Tool.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410A0-021D-469D-B128-6B2F0F8E7310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2D9A8-66DC-4B0F-823C-1E23FD01198B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516B7-2DC5-4E62-9114-9BFC88E179C3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878B3-3248-4D05-A2FF-5A1FD9BD5279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D8377-B351-4491-B0DE-161174C93D77}" type="datetime1">
              <a:rPr lang="de-CH" smtClean="0"/>
              <a:t>14.10.2026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ED84B-F1C8-492E-92DC-963A3C55D876}" type="datetime1">
              <a:rPr lang="de-CH" smtClean="0"/>
              <a:t>14.10.2026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DFFD9-7A57-48A4-866C-BB9473590D2A}" type="datetime1">
              <a:rPr lang="de-CH" smtClean="0"/>
              <a:t>14.10.2026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18843-C117-4AFC-9CBE-63D7BB281A20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80AAF-A563-43AF-8BD7-72B79CB0334F}" type="datetime1">
              <a:rPr lang="de-CH" smtClean="0"/>
              <a:t>14.10.2026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75DDF-1033-450B-A116-9374A478C2D2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9ED0D-CDAC-4379-AE23-ED8236BE5916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4335E-9AAD-40F0-87C0-4C8870F30229}" type="datetime1">
              <a:rPr lang="de-CH" smtClean="0"/>
              <a:t>14.10.2026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90426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Enrico Putzi W05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796732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jpe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530352"/>
            <a:ext cx="2514600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486171" y="597537"/>
            <a:ext cx="7309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 dirty="0">
                <a:solidFill>
                  <a:srgbClr val="737373"/>
                </a:solidFill>
                <a:latin typeface="Aptos"/>
              </a:rPr>
              <a:t>ENRICO PUTZI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417320"/>
            <a:ext cx="7955279" cy="1508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300" b="1" dirty="0" err="1">
                <a:solidFill>
                  <a:srgbClr val="171717"/>
                </a:solidFill>
                <a:latin typeface="Aptos"/>
              </a:rPr>
              <a:t>Netzwerke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
und </a:t>
            </a:r>
            <a:r>
              <a:rPr sz="4300" b="1" dirty="0" err="1">
                <a:solidFill>
                  <a:srgbClr val="171717"/>
                </a:solidFill>
                <a:latin typeface="Aptos"/>
              </a:rPr>
              <a:t>Schaltungen</a:t>
            </a:r>
            <a:r>
              <a:rPr sz="4300" b="1" dirty="0">
                <a:solidFill>
                  <a:srgbClr val="171717"/>
                </a:solidFill>
                <a:latin typeface="Aptos"/>
              </a:rPr>
              <a:t>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3255264"/>
            <a:ext cx="113973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dirty="0" err="1">
                <a:solidFill>
                  <a:srgbClr val="737373"/>
                </a:solidFill>
                <a:latin typeface="Aptos"/>
              </a:rPr>
              <a:t>Übung</a:t>
            </a:r>
            <a:r>
              <a:rPr sz="2100" b="1" dirty="0">
                <a:solidFill>
                  <a:srgbClr val="737373"/>
                </a:solidFill>
                <a:latin typeface="Aptos"/>
              </a:rPr>
              <a:t> </a:t>
            </a:r>
            <a:r>
              <a:rPr lang="de-CH" sz="2100" b="1" dirty="0">
                <a:solidFill>
                  <a:srgbClr val="737373"/>
                </a:solidFill>
                <a:latin typeface="Aptos"/>
              </a:rPr>
              <a:t>05</a:t>
            </a:r>
            <a:endParaRPr sz="210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2085123" cy="2616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700" dirty="0">
                <a:solidFill>
                  <a:srgbClr val="737373"/>
                </a:solidFill>
                <a:latin typeface="Aptos"/>
              </a:rPr>
              <a:t>Elektrische Netzwerke</a:t>
            </a:r>
            <a:endParaRPr sz="1700" b="0" dirty="0">
              <a:solidFill>
                <a:srgbClr val="737373"/>
              </a:solidFill>
              <a:latin typeface="Aptos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621792" y="4498848"/>
            <a:ext cx="2121408" cy="0"/>
          </a:xfrm>
          <a:prstGeom prst="line">
            <a:avLst/>
          </a:prstGeom>
          <a:ln w="25400">
            <a:solidFill>
              <a:srgbClr val="17171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21792" y="4736592"/>
            <a:ext cx="298158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https://eputzi.github.io/courses/nus1/index.html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C2376DB-FD73-E522-DD12-8C3D47FFD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3435" y="236574"/>
            <a:ext cx="2689505" cy="2689505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568BB238-676F-2AD1-5311-843CEFE0748F}"/>
              </a:ext>
            </a:extLst>
          </p:cNvPr>
          <p:cNvSpPr txBox="1"/>
          <p:nvPr/>
        </p:nvSpPr>
        <p:spPr>
          <a:xfrm>
            <a:off x="10171249" y="2926079"/>
            <a:ext cx="573875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Webseite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A10E91CE-7B15-F9A8-AE20-F447081B85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3435" y="3246120"/>
            <a:ext cx="2689505" cy="2689505"/>
          </a:xfrm>
          <a:prstGeom prst="rect">
            <a:avLst/>
          </a:prstGeom>
        </p:spPr>
      </p:pic>
      <p:sp>
        <p:nvSpPr>
          <p:cNvPr id="19" name="TextBox 7">
            <a:extLst>
              <a:ext uri="{FF2B5EF4-FFF2-40B4-BE49-F238E27FC236}">
                <a16:creationId xmlns:a16="http://schemas.microsoft.com/office/drawing/2014/main" id="{D71EEF3B-ED6D-524B-767C-8CC0B281E789}"/>
              </a:ext>
            </a:extLst>
          </p:cNvPr>
          <p:cNvSpPr txBox="1"/>
          <p:nvPr/>
        </p:nvSpPr>
        <p:spPr>
          <a:xfrm>
            <a:off x="10249795" y="5850986"/>
            <a:ext cx="416781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1100" dirty="0">
                <a:solidFill>
                  <a:srgbClr val="737373"/>
                </a:solidFill>
                <a:latin typeface="Aptos"/>
              </a:rPr>
              <a:t>Fragen</a:t>
            </a:r>
            <a:endParaRPr sz="1100" b="0" dirty="0">
              <a:solidFill>
                <a:srgbClr val="73737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B9536-DE59-07C9-6808-B00E3848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B72A73-95D1-D97A-BBE9-299963A03A6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95E696-F425-D46C-960D-9E65A19EAB9A}"/>
              </a:ext>
            </a:extLst>
          </p:cNvPr>
          <p:cNvSpPr txBox="1"/>
          <p:nvPr/>
        </p:nvSpPr>
        <p:spPr>
          <a:xfrm>
            <a:off x="926707" y="542673"/>
            <a:ext cx="304571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Heute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181480-67A6-FEC1-EE2C-43F3C270BD52}"/>
              </a:ext>
            </a:extLst>
          </p:cNvPr>
          <p:cNvSpPr txBox="1"/>
          <p:nvPr/>
        </p:nvSpPr>
        <p:spPr>
          <a:xfrm>
            <a:off x="594360" y="932688"/>
            <a:ext cx="4283417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Was machen wir heute?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97C930-FBEB-7878-3215-0CE692537FE7}"/>
              </a:ext>
            </a:extLst>
          </p:cNvPr>
          <p:cNvSpPr txBox="1"/>
          <p:nvPr/>
        </p:nvSpPr>
        <p:spPr>
          <a:xfrm>
            <a:off x="914400" y="2761488"/>
            <a:ext cx="3725122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Zählpfeile und Zählpfeilsystem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Spannungs- und Stromquellen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Kirchhoff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Widerstandsnetzwerke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65D779F-88C5-7459-1D4D-9F46CC5DE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EC110-DAEF-422A-ACFC-95ECBE940FB1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2D751A8-D0E1-B251-43EA-4E34BBD6E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C5D0704-2203-D267-4845-3994FF213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41811E2-E6A6-950C-63A7-B3C8044AD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939" y="452104"/>
            <a:ext cx="5400235" cy="297689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FA4E8FC-3AB4-B681-929D-24A2C8DCBE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358" y="3816199"/>
            <a:ext cx="2591162" cy="21529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5813A3B-4FA7-53EE-B43E-DB30A3548D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058" y="3796145"/>
            <a:ext cx="2543530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69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DE02-B980-BA2D-C58B-0D379DF6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467F2C-E1D3-46E9-F5F4-28D5A6D51D0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4164E7B-7E29-0BD3-13E1-AABFA060BE9E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BF5F75-DAF7-4C52-8A10-0F5C7E3E4FAD}"/>
              </a:ext>
            </a:extLst>
          </p:cNvPr>
          <p:cNvSpPr txBox="1"/>
          <p:nvPr/>
        </p:nvSpPr>
        <p:spPr>
          <a:xfrm>
            <a:off x="594360" y="932688"/>
            <a:ext cx="1815433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Zählpfeile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3A879B-8316-C440-D645-7CDEAA933BA0}"/>
              </a:ext>
            </a:extLst>
          </p:cNvPr>
          <p:cNvSpPr txBox="1"/>
          <p:nvPr/>
        </p:nvSpPr>
        <p:spPr>
          <a:xfrm>
            <a:off x="914400" y="2761488"/>
            <a:ext cx="4236673" cy="9233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Für Spannung und Strom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Falls Wert </a:t>
            </a:r>
            <a:r>
              <a:rPr lang="de-CH" sz="2000" b="1" dirty="0">
                <a:solidFill>
                  <a:srgbClr val="171717"/>
                </a:solidFill>
                <a:latin typeface="Aptos"/>
              </a:rPr>
              <a:t>negativ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 zeigt der Pfeil in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 err="1">
                <a:solidFill>
                  <a:srgbClr val="171717"/>
                </a:solidFill>
                <a:latin typeface="Aptos"/>
              </a:rPr>
              <a:t>wirklichkeit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 in die andere Richtung!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6762517-6CB0-B1BE-0976-69E2D10E0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9A0C-531E-461A-B472-E7FB7435FD09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74E07E9-D8F6-6218-5095-959EBEAF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69C1BDA-41F6-1CC4-E25D-80664CE40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7A40C9C-51E6-3562-8E6E-D83A4FDCD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023" y="342055"/>
            <a:ext cx="4801270" cy="118126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211D0A36-9913-6C52-1D81-F87C30A095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023" y="1688342"/>
            <a:ext cx="4696480" cy="847843"/>
          </a:xfrm>
          <a:prstGeom prst="rect">
            <a:avLst/>
          </a:prstGeom>
        </p:spPr>
      </p:pic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154362DF-0554-A3F1-892C-0AF4A6371FFE}"/>
              </a:ext>
            </a:extLst>
          </p:cNvPr>
          <p:cNvCxnSpPr/>
          <p:nvPr/>
        </p:nvCxnSpPr>
        <p:spPr>
          <a:xfrm>
            <a:off x="1773936" y="4754880"/>
            <a:ext cx="1258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54F3EB8D-3F87-CFC0-8C26-56A6D4BC0020}"/>
              </a:ext>
            </a:extLst>
          </p:cNvPr>
          <p:cNvSpPr txBox="1"/>
          <p:nvPr/>
        </p:nvSpPr>
        <p:spPr>
          <a:xfrm>
            <a:off x="2121962" y="4376404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-10V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CB9400AF-F0B6-9F77-6EF1-5BAE6004878F}"/>
              </a:ext>
            </a:extLst>
          </p:cNvPr>
          <p:cNvSpPr txBox="1"/>
          <p:nvPr/>
        </p:nvSpPr>
        <p:spPr>
          <a:xfrm>
            <a:off x="3419856" y="459764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=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47121AB2-718B-0A09-BBAA-9B4657CC8AD1}"/>
              </a:ext>
            </a:extLst>
          </p:cNvPr>
          <p:cNvCxnSpPr>
            <a:cxnSpLocks/>
          </p:cNvCxnSpPr>
          <p:nvPr/>
        </p:nvCxnSpPr>
        <p:spPr>
          <a:xfrm flipH="1">
            <a:off x="4107058" y="4782312"/>
            <a:ext cx="1150742" cy="91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C4B84F94-F515-09B2-838E-76B1353A0DC6}"/>
              </a:ext>
            </a:extLst>
          </p:cNvPr>
          <p:cNvSpPr txBox="1"/>
          <p:nvPr/>
        </p:nvSpPr>
        <p:spPr>
          <a:xfrm>
            <a:off x="4397149" y="4412980"/>
            <a:ext cx="550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10V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65EC83C9-FF2F-714C-8251-4F8E5941E9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4850800"/>
            <a:ext cx="1819529" cy="37152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8EE23741-B94D-34FA-CB4B-4470E81F35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6265" y="4850800"/>
            <a:ext cx="1819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94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F0AFF-66C8-28C4-4B7F-46F4B6B8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3E44778-3AEA-0400-7723-9197C28F00C6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97776-5327-F1E3-DC71-C84FCF93D50A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F908C-A7E6-39AF-0554-42EAE7961A02}"/>
              </a:ext>
            </a:extLst>
          </p:cNvPr>
          <p:cNvSpPr txBox="1"/>
          <p:nvPr/>
        </p:nvSpPr>
        <p:spPr>
          <a:xfrm>
            <a:off x="594360" y="932688"/>
            <a:ext cx="548419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Spannungs- und Stromquellen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CF932-28F8-F609-2ED2-D0B2107DFF83}"/>
              </a:ext>
            </a:extLst>
          </p:cNvPr>
          <p:cNvSpPr txBox="1"/>
          <p:nvPr/>
        </p:nvSpPr>
        <p:spPr>
          <a:xfrm>
            <a:off x="914400" y="2761488"/>
            <a:ext cx="4645374" cy="184665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Ideale Quellen: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Kein Innenwiderstand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Halten Strom/Spannung konstant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lang="de-CH" sz="2000" dirty="0">
                <a:solidFill>
                  <a:srgbClr val="171717"/>
                </a:solidFill>
                <a:latin typeface="Aptos"/>
              </a:rPr>
              <a:t>Ideale Stromquelle (Strom vorgegeben)</a:t>
            </a:r>
            <a:r>
              <a:rPr sz="2000" b="0" dirty="0">
                <a:solidFill>
                  <a:srgbClr val="171717"/>
                </a:solidFill>
                <a:latin typeface="Aptos"/>
              </a:rPr>
              <a:t>
</a:t>
            </a:r>
            <a:r>
              <a:rPr lang="de-CH" sz="2000" b="0" dirty="0">
                <a:solidFill>
                  <a:srgbClr val="171717"/>
                </a:solidFill>
                <a:latin typeface="Aptos"/>
              </a:rPr>
              <a:t>Ideale Spannungsquelle (Spannung 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vorgegeben)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9C479EE-8A25-D665-E183-A06747AF1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87484-3331-446C-A9EE-A30416FDF773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A4EAFAC-F541-BD58-27EA-EB6868438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6FDA835-F75C-625B-293B-0B1FE95CC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00697D9-5210-136A-42B8-771813A23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448" y="1408025"/>
            <a:ext cx="6020640" cy="455358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EC9A81D-76D7-D343-A5EE-B56682DF7625}"/>
              </a:ext>
            </a:extLst>
          </p:cNvPr>
          <p:cNvSpPr txBox="1"/>
          <p:nvPr/>
        </p:nvSpPr>
        <p:spPr>
          <a:xfrm>
            <a:off x="7438263" y="5998186"/>
            <a:ext cx="1908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Seite 122 Pearson</a:t>
            </a:r>
          </a:p>
        </p:txBody>
      </p:sp>
    </p:spTree>
    <p:extLst>
      <p:ext uri="{BB962C8B-B14F-4D97-AF65-F5344CB8AC3E}">
        <p14:creationId xmlns:p14="http://schemas.microsoft.com/office/powerpoint/2010/main" val="2192534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23274-778E-84F3-6961-8D43767A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3584EB4B-99CD-60A7-75BF-B9119241F91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A3C16E-CE24-5B5C-EBED-F2A3DE96CEFD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38D66F-06DA-1883-05B4-7BFB91D0F3AB}"/>
              </a:ext>
            </a:extLst>
          </p:cNvPr>
          <p:cNvSpPr txBox="1"/>
          <p:nvPr/>
        </p:nvSpPr>
        <p:spPr>
          <a:xfrm>
            <a:off x="594360" y="932688"/>
            <a:ext cx="8104591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Generator- und Verbraucherzählpfeilsystem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B2ACD4-FFD8-0E4B-451B-03FB1E3811E6}"/>
              </a:ext>
            </a:extLst>
          </p:cNvPr>
          <p:cNvSpPr txBox="1"/>
          <p:nvPr/>
        </p:nvSpPr>
        <p:spPr>
          <a:xfrm>
            <a:off x="914400" y="2761488"/>
            <a:ext cx="5312993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Generator: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Strom entgegen der Spannung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Verbraucher: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Strom hat die gleiche Richtung wie Spannung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6AAB723-7190-0663-0E89-B54491858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79A0C-531E-461A-B472-E7FB7435FD09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CAD1D35-8C9C-9A61-A670-0A25A83BC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62F1DB6-A828-5C93-9EEA-D343DD8BA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15A6A0F-5ECF-33ED-A02E-B56A00FD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623" y="1574334"/>
            <a:ext cx="5925377" cy="272453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07B563A-0A6F-47C7-C0FC-49C411953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02384" y="4151855"/>
            <a:ext cx="4353533" cy="232442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F9505331-D91B-74B2-5404-D061A765B4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331" y="4755117"/>
            <a:ext cx="400106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828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7B71-00A5-ECDB-3CFC-C0F45AA6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766EBC8-11E5-728B-B076-535F617A9CA9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09925-9EC7-8DA9-1BAB-3D6B55A89EDC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D23D41-FA8D-FD23-59EC-AF1948B4F6C4}"/>
              </a:ext>
            </a:extLst>
          </p:cNvPr>
          <p:cNvSpPr txBox="1"/>
          <p:nvPr/>
        </p:nvSpPr>
        <p:spPr>
          <a:xfrm>
            <a:off x="594360" y="932688"/>
            <a:ext cx="2553841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Maschenregel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D7A3B2-6474-1F76-AB67-CE6C988E96C4}"/>
              </a:ext>
            </a:extLst>
          </p:cNvPr>
          <p:cNvSpPr txBox="1"/>
          <p:nvPr/>
        </p:nvSpPr>
        <p:spPr>
          <a:xfrm>
            <a:off x="914400" y="2761488"/>
            <a:ext cx="344620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Summe der Spannungen = 0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A5D1EAF-0AAE-4A4A-5A08-F99792D96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35CDE65-3DDB-BE5D-53F7-94AFA319C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6F6A09B-A53C-59A5-5965-C04F047A1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6173185-ABDB-CF54-2F62-270747438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377" y="200533"/>
            <a:ext cx="3038899" cy="266737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99984E0-63A1-8FB8-DCA8-57CA16FA0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9065" y="2960330"/>
            <a:ext cx="2991267" cy="571580"/>
          </a:xfrm>
          <a:prstGeom prst="rect">
            <a:avLst/>
          </a:prstGeom>
        </p:spPr>
      </p:pic>
      <p:sp>
        <p:nvSpPr>
          <p:cNvPr id="10" name="Pfeil: 180-Grad 9">
            <a:extLst>
              <a:ext uri="{FF2B5EF4-FFF2-40B4-BE49-F238E27FC236}">
                <a16:creationId xmlns:a16="http://schemas.microsoft.com/office/drawing/2014/main" id="{CF58E046-79D5-9DDF-EC6C-A4FC372CFDF7}"/>
              </a:ext>
            </a:extLst>
          </p:cNvPr>
          <p:cNvSpPr/>
          <p:nvPr/>
        </p:nvSpPr>
        <p:spPr>
          <a:xfrm>
            <a:off x="10580068" y="1600200"/>
            <a:ext cx="283464" cy="228600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FCD40D0-74EE-32AF-9242-3D10586E3399}"/>
                  </a:ext>
                </a:extLst>
              </p:cNvPr>
              <p:cNvSpPr txBox="1"/>
              <p:nvPr/>
            </p:nvSpPr>
            <p:spPr>
              <a:xfrm>
                <a:off x="5964960" y="1637657"/>
                <a:ext cx="374904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de-CH" dirty="0"/>
                  <a:t>1. Umlaufrichtung festlegen.</a:t>
                </a:r>
              </a:p>
              <a:p>
                <a:pPr lvl="0"/>
                <a:r>
                  <a:rPr lang="de-CH" dirty="0"/>
                  <a:t>2. Pfeilen entlang des Weges folgen:</a:t>
                </a:r>
              </a:p>
              <a:p>
                <a:pPr lvl="1"/>
                <a:r>
                  <a:rPr lang="de-CH" dirty="0"/>
                  <a:t>In Umlaufrichtung </a:t>
                </a:r>
                <a14:m>
                  <m:oMath xmlns:m="http://schemas.openxmlformats.org/officeDocument/2006/math">
                    <m:r>
                      <a:rPr lang="de-CH"/>
                      <m:t>→</m:t>
                    </m:r>
                    <m:d>
                      <m:dPr>
                        <m:ctrlPr>
                          <a:rPr lang="de-CH"/>
                        </m:ctrlPr>
                      </m:dPr>
                      <m:e>
                        <m:r>
                          <a:rPr lang="de-CH"/>
                          <m:t>+</m:t>
                        </m:r>
                      </m:e>
                    </m:d>
                  </m:oMath>
                </a14:m>
                <a:endParaRPr lang="de-CH" dirty="0"/>
              </a:p>
              <a:p>
                <a:pPr lvl="1"/>
                <a:r>
                  <a:rPr lang="de-CH" dirty="0"/>
                  <a:t>Entgegen der Umlaufrichtung </a:t>
                </a:r>
                <a14:m>
                  <m:oMath xmlns:m="http://schemas.openxmlformats.org/officeDocument/2006/math">
                    <m:r>
                      <a:rPr lang="de-CH"/>
                      <m:t>→</m:t>
                    </m:r>
                    <m:d>
                      <m:dPr>
                        <m:ctrlPr>
                          <a:rPr lang="de-CH"/>
                        </m:ctrlPr>
                      </m:dPr>
                      <m:e>
                        <m:r>
                          <a:rPr lang="de-CH"/>
                          <m:t>−</m:t>
                        </m:r>
                      </m:e>
                    </m:d>
                  </m:oMath>
                </a14:m>
                <a:endParaRPr lang="de-CH" dirty="0"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BFCD40D0-74EE-32AF-9242-3D10586E3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960" y="1637657"/>
                <a:ext cx="3749040" cy="1477328"/>
              </a:xfrm>
              <a:prstGeom prst="rect">
                <a:avLst/>
              </a:prstGeom>
              <a:blipFill>
                <a:blip r:embed="rId5"/>
                <a:stretch>
                  <a:fillRect l="-1463" t="-247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fik 13">
            <a:extLst>
              <a:ext uri="{FF2B5EF4-FFF2-40B4-BE49-F238E27FC236}">
                <a16:creationId xmlns:a16="http://schemas.microsoft.com/office/drawing/2014/main" id="{B8CDACE0-9544-65FE-3AF8-B4F11D9DD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2538" y="3838329"/>
            <a:ext cx="1924319" cy="943107"/>
          </a:xfrm>
          <a:prstGeom prst="rect">
            <a:avLst/>
          </a:prstGeom>
        </p:spPr>
      </p:pic>
      <p:pic>
        <p:nvPicPr>
          <p:cNvPr id="18" name="Grafik 17" descr="Maschenregel – Lerninhalte und Abschlussarbeiten">
            <a:extLst>
              <a:ext uri="{FF2B5EF4-FFF2-40B4-BE49-F238E27FC236}">
                <a16:creationId xmlns:a16="http://schemas.microsoft.com/office/drawing/2014/main" id="{27C114D4-A2A2-CFC6-8D57-309E80ED35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8637"/>
          <a:stretch>
            <a:fillRect/>
          </a:stretch>
        </p:blipFill>
        <p:spPr>
          <a:xfrm>
            <a:off x="892906" y="3246120"/>
            <a:ext cx="5897520" cy="3283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94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47376-BA85-9EDA-2EC3-E4CD308A4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5A895A3-28C5-9E72-649F-4CB73AD0CF4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A97990-3A39-FC77-82AD-421F4E17AE3F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3C1D4-4A79-227C-D333-38C813E9324D}"/>
              </a:ext>
            </a:extLst>
          </p:cNvPr>
          <p:cNvSpPr txBox="1"/>
          <p:nvPr/>
        </p:nvSpPr>
        <p:spPr>
          <a:xfrm>
            <a:off x="594360" y="932688"/>
            <a:ext cx="219867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Knotenregel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5A3AC-D657-447D-4371-F558434EFACD}"/>
              </a:ext>
            </a:extLst>
          </p:cNvPr>
          <p:cNvSpPr txBox="1"/>
          <p:nvPr/>
        </p:nvSpPr>
        <p:spPr>
          <a:xfrm>
            <a:off x="914400" y="2761488"/>
            <a:ext cx="3401637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Gleich viel Strom «raus» wie</a:t>
            </a:r>
            <a:br>
              <a:rPr lang="de-CH" sz="2000" b="0" dirty="0">
                <a:solidFill>
                  <a:srgbClr val="171717"/>
                </a:solidFill>
                <a:latin typeface="Aptos"/>
              </a:rPr>
            </a:br>
            <a:r>
              <a:rPr lang="de-CH" sz="2000" b="0" dirty="0">
                <a:solidFill>
                  <a:srgbClr val="171717"/>
                </a:solidFill>
                <a:latin typeface="Aptos"/>
              </a:rPr>
              <a:t>«reinkommt»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C24E235-310A-920A-CE52-0C8910A72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7FF778AA-9F2C-E680-597D-B998AB64F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25EA8E4-87EA-8890-8A8C-84143C2DF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20F9FE-553E-CCBF-8DEA-6BAEBABD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158" y="104635"/>
            <a:ext cx="3019846" cy="130510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6784831F-CAF3-B65F-8215-32BEFEED3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4344" y="1409742"/>
            <a:ext cx="4605988" cy="321585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74997EBE-617C-EFE3-925D-850BE11D34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7386" y="4621687"/>
            <a:ext cx="2667372" cy="4858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C9C25B5-5445-2C97-CFB6-21E9ED483ADD}"/>
                  </a:ext>
                </a:extLst>
              </p:cNvPr>
              <p:cNvSpPr txBox="1"/>
              <p:nvPr/>
            </p:nvSpPr>
            <p:spPr>
              <a:xfrm>
                <a:off x="5720148" y="2528695"/>
                <a:ext cx="609447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de-CH" sz="1800" dirty="0"/>
                  <a:t>Strom zu Knoten </a:t>
                </a:r>
                <a14:m>
                  <m:oMath xmlns:m="http://schemas.openxmlformats.org/officeDocument/2006/math">
                    <m:r>
                      <a:rPr lang="de-CH" sz="180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CH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80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</m:d>
                  </m:oMath>
                </a14:m>
                <a:endParaRPr lang="de-CH" sz="1800" dirty="0"/>
              </a:p>
              <a:p>
                <a:pPr lvl="0"/>
                <a:r>
                  <a:rPr lang="de-CH" sz="1800" dirty="0"/>
                  <a:t>Strom aus Knoten </a:t>
                </a:r>
                <a14:m>
                  <m:oMath xmlns:m="http://schemas.openxmlformats.org/officeDocument/2006/math">
                    <m:r>
                      <a:rPr lang="de-CH" sz="180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ctrlPr>
                          <a:rPr lang="de-CH" sz="18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800"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d>
                  </m:oMath>
                </a14:m>
                <a:br>
                  <a:rPr lang="de-CH" sz="1800" dirty="0"/>
                </a:br>
                <a:r>
                  <a:rPr lang="de-CH" sz="1800" dirty="0"/>
                  <a:t>Umgekehrt geht auch, einfach</a:t>
                </a:r>
                <a:br>
                  <a:rPr lang="de-CH" sz="1800" dirty="0"/>
                </a:br>
                <a:r>
                  <a:rPr lang="de-CH" sz="1800" dirty="0"/>
                  <a:t>beide tauschen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1C9C25B5-5445-2C97-CFB6-21E9ED483A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148" y="2528695"/>
                <a:ext cx="6094476" cy="1200329"/>
              </a:xfrm>
              <a:prstGeom prst="rect">
                <a:avLst/>
              </a:prstGeom>
              <a:blipFill>
                <a:blip r:embed="rId6"/>
                <a:stretch>
                  <a:fillRect l="-800" t="-3046" b="-710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fik 19">
            <a:extLst>
              <a:ext uri="{FF2B5EF4-FFF2-40B4-BE49-F238E27FC236}">
                <a16:creationId xmlns:a16="http://schemas.microsoft.com/office/drawing/2014/main" id="{823503D3-E94E-5D1D-2710-A70929DAC5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75552" y="3747405"/>
            <a:ext cx="3291840" cy="2098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413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DA9F-A9D8-FFCF-952B-AEFEB0D86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6834DD7-892D-3BA8-2B24-E4691313ECF4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33B03-F02B-1673-9EEB-69A731AE6A27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B87DF9-279F-91B1-A212-F510D1E26121}"/>
              </a:ext>
            </a:extLst>
          </p:cNvPr>
          <p:cNvSpPr txBox="1"/>
          <p:nvPr/>
        </p:nvSpPr>
        <p:spPr>
          <a:xfrm>
            <a:off x="594360" y="932688"/>
            <a:ext cx="4403834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Aufgabe zur Knotenregel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8A215-EA8E-971C-DA2B-414B88608F80}"/>
              </a:ext>
            </a:extLst>
          </p:cNvPr>
          <p:cNvSpPr txBox="1"/>
          <p:nvPr/>
        </p:nvSpPr>
        <p:spPr>
          <a:xfrm>
            <a:off x="612648" y="1609344"/>
            <a:ext cx="2842445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350" dirty="0">
                <a:solidFill>
                  <a:srgbClr val="737373"/>
                </a:solidFill>
                <a:latin typeface="Aptos"/>
              </a:rPr>
              <a:t>Achtung Vorzeichen und Pfeilrichtung!</a:t>
            </a:r>
            <a:endParaRPr sz="1350" b="0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3584E6E-EF69-C4F2-A4A2-551D62361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D592592-07A2-E468-9245-976B7F9B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EE8548D-2E34-9606-3835-189AF443D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Grafik 5" descr="Knotengleichung / Knotensatz">
            <a:extLst>
              <a:ext uri="{FF2B5EF4-FFF2-40B4-BE49-F238E27FC236}">
                <a16:creationId xmlns:a16="http://schemas.microsoft.com/office/drawing/2014/main" id="{B20E1E8C-0FF1-EE4F-3504-C1475885B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34736"/>
            <a:ext cx="7028441" cy="308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599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A8DDC-E29B-E510-FC1F-7486C8678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85125E6-E0C3-F8C4-B790-548B7499F3E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933D46-C5D8-A497-13EF-1CF5FD66DF11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94696-18BB-772E-EA0D-2FF1892ACBCC}"/>
              </a:ext>
            </a:extLst>
          </p:cNvPr>
          <p:cNvSpPr txBox="1"/>
          <p:nvPr/>
        </p:nvSpPr>
        <p:spPr>
          <a:xfrm>
            <a:off x="594360" y="932688"/>
            <a:ext cx="5770939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 err="1">
                <a:solidFill>
                  <a:srgbClr val="171717"/>
                </a:solidFill>
                <a:latin typeface="Aptos"/>
              </a:rPr>
              <a:t>Recap</a:t>
            </a:r>
            <a:r>
              <a:rPr lang="de-CH" sz="3100" b="1" dirty="0">
                <a:solidFill>
                  <a:srgbClr val="171717"/>
                </a:solidFill>
                <a:latin typeface="Aptos"/>
              </a:rPr>
              <a:t> Widerstandsschaltungen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6C96B681-2893-E0D2-C4D9-2E13F279F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59AC46E-33B0-5B07-3996-93AAA0C6F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DC90719-BDFE-4D19-DA4C-F81EE0DE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A203A37-171E-9DDC-A545-33E4FA41C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23744"/>
            <a:ext cx="4706007" cy="1782682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AC6482E-2865-54A8-588A-F44BA2892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64480"/>
            <a:ext cx="5171526" cy="2129039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2498A1C0-C326-D857-8E41-A03E6029EE88}"/>
              </a:ext>
            </a:extLst>
          </p:cNvPr>
          <p:cNvSpPr txBox="1"/>
          <p:nvPr/>
        </p:nvSpPr>
        <p:spPr>
          <a:xfrm>
            <a:off x="635267" y="4610501"/>
            <a:ext cx="36675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Spannung teilt sich auf</a:t>
            </a:r>
            <a:br>
              <a:rPr lang="de-CH" dirty="0"/>
            </a:br>
            <a:r>
              <a:rPr lang="de-CH" dirty="0"/>
              <a:t>Strom durch jeden Widerstand gleich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5F3BE62-9EDC-F842-5220-A1F19E30CA98}"/>
              </a:ext>
            </a:extLst>
          </p:cNvPr>
          <p:cNvSpPr txBox="1"/>
          <p:nvPr/>
        </p:nvSpPr>
        <p:spPr>
          <a:xfrm>
            <a:off x="6129190" y="4636810"/>
            <a:ext cx="39359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Strom teilt sich auf</a:t>
            </a:r>
            <a:br>
              <a:rPr lang="de-CH" dirty="0"/>
            </a:br>
            <a:r>
              <a:rPr lang="de-CH" dirty="0"/>
              <a:t>Spannung über jeden Widerstand gleich</a:t>
            </a:r>
          </a:p>
        </p:txBody>
      </p:sp>
    </p:spTree>
    <p:extLst>
      <p:ext uri="{BB962C8B-B14F-4D97-AF65-F5344CB8AC3E}">
        <p14:creationId xmlns:p14="http://schemas.microsoft.com/office/powerpoint/2010/main" val="3099272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EC2E9-E4F4-9046-007E-FF7740440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7263ED-51F4-366F-D8BE-EDFCB08AAEF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5D208-266B-7672-90B3-50D13E261DDC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D7772D-3F43-550D-2B50-1FADBD484717}"/>
              </a:ext>
            </a:extLst>
          </p:cNvPr>
          <p:cNvSpPr txBox="1"/>
          <p:nvPr/>
        </p:nvSpPr>
        <p:spPr>
          <a:xfrm>
            <a:off x="594360" y="932688"/>
            <a:ext cx="396211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Widerstandsnetzwerk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B62CA42-21B6-9B4B-C751-9C2972D01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1A62913B-4B0E-AC64-FA36-DF2B0C855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B2C893C-1032-DB53-F5FC-137A3A15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B52CD2B-9571-7D46-85AC-4887759B42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endParaRPr lang="de-CH" sz="10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zwischen den Klemmen A und B.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3B52CD2B-9571-7D46-85AC-4887759B4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10" descr="Widerstandsnetzwerk">
            <a:extLst>
              <a:ext uri="{FF2B5EF4-FFF2-40B4-BE49-F238E27FC236}">
                <a16:creationId xmlns:a16="http://schemas.microsoft.com/office/drawing/2014/main" id="{80C5C085-9935-508B-9551-4A9F8E6A65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100" y="1412875"/>
            <a:ext cx="3391476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15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17B3EED-8C53-C670-737A-339F42BD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9480013-572C-DE6C-B29E-39B7B4972E1E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00A9C9-B407-425F-1AA4-6F1CF4E083C9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BFC0D-43F8-C24B-9399-C243692C8FE0}"/>
              </a:ext>
            </a:extLst>
          </p:cNvPr>
          <p:cNvSpPr txBox="1"/>
          <p:nvPr/>
        </p:nvSpPr>
        <p:spPr>
          <a:xfrm>
            <a:off x="594360" y="932688"/>
            <a:ext cx="396211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100" b="1" dirty="0">
                <a:solidFill>
                  <a:srgbClr val="171717"/>
                </a:solidFill>
                <a:latin typeface="Aptos"/>
              </a:rPr>
              <a:t>Widerstandsnetzwerk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519D4EA-AED0-5157-7715-E7D5AA3B6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EB261FC-3BD6-A44C-4CCE-4EE5F8EBB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86B2837-AAA6-2704-9F4D-EC1CFE64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8710DFE-1C19-0D58-8E6F-99F20EAC48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endParaRPr lang="de-CH" sz="10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den Gesamtwiderstand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AB</m:t>
                        </m:r>
                      </m:sub>
                    </m:sSub>
                  </m:oMath>
                </a14:m>
                <a:r>
                  <a:rPr lang="de-CH" sz="1600" dirty="0"/>
                  <a:t> zwischen den Klemmen A und B.</a:t>
                </a:r>
              </a:p>
              <a:p>
                <a:pPr marL="0" indent="0">
                  <a:buFont typeface="Arial"/>
                  <a:buNone/>
                </a:pPr>
                <a:endParaRPr lang="de-CH" sz="1600" dirty="0"/>
              </a:p>
              <a:p>
                <a:pPr marL="0" indent="0">
                  <a:buNone/>
                </a:pPr>
                <a:endParaRPr lang="de-CH" sz="1000" dirty="0"/>
              </a:p>
              <a:p>
                <a:pPr marL="0" indent="0">
                  <a:buNone/>
                </a:pPr>
                <a:r>
                  <a:rPr lang="de-CH" sz="1600" dirty="0"/>
                  <a:t>Links: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Serie, rechts: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Serie. Die beiden Zweige sind parallel, dazu </a:t>
                </a:r>
                <a14:m>
                  <m:oMath xmlns:m="http://schemas.openxmlformats.org/officeDocument/2006/math">
                    <m:r>
                      <a:rPr lang="de-CH" sz="1600" i="1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 in Serie: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AB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=(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de-CH" sz="1600" i="1">
                          <a:latin typeface="Cambria Math" panose="02040503050406030204" pitchFamily="18" charset="0"/>
                        </a:rPr>
                        <m:t>∥ </m:t>
                      </m:r>
                      <m:d>
                        <m:d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</m:d>
                      <m:r>
                        <a:rPr lang="de-CH" sz="1600" i="1">
                          <a:latin typeface="Cambria Math" panose="02040503050406030204" pitchFamily="18" charset="0"/>
                        </a:rPr>
                        <m:t>)+3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=(4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∥ 2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)+3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None/>
                </a:pPr>
                <a:r>
                  <a:rPr lang="de-CH" sz="1600" dirty="0"/>
                  <a:t>Parallelschaltung zweier Widerstände: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b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den>
                    </m:f>
                  </m:oMath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⋅ 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8</m:t>
                          </m:r>
                          <m:sSup>
                            <m:sSup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p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F8710DFE-1C19-0D58-8E6F-99F20EAC48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r="-139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10" descr="Widerstandsnetzwerk">
            <a:extLst>
              <a:ext uri="{FF2B5EF4-FFF2-40B4-BE49-F238E27FC236}">
                <a16:creationId xmlns:a16="http://schemas.microsoft.com/office/drawing/2014/main" id="{D72D8411-CC18-ED88-0C1A-E610491AC2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6100" y="1412875"/>
            <a:ext cx="3391476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51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F2036-AB76-4B2B-ED9C-9D93675CE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C1B26CC-755A-ECBC-6497-89EB2095911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B09CCD-1B08-CB79-80BB-ACF5BFA81242}"/>
              </a:ext>
            </a:extLst>
          </p:cNvPr>
          <p:cNvSpPr txBox="1"/>
          <p:nvPr/>
        </p:nvSpPr>
        <p:spPr>
          <a:xfrm>
            <a:off x="893848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6D56C7-5DEE-CF96-C182-436FC25710E4}"/>
              </a:ext>
            </a:extLst>
          </p:cNvPr>
          <p:cNvSpPr txBox="1"/>
          <p:nvPr/>
        </p:nvSpPr>
        <p:spPr>
          <a:xfrm>
            <a:off x="594360" y="932688"/>
            <a:ext cx="296998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Spannungsteiler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70DA03-F446-5B1B-4BB1-C04733276622}"/>
              </a:ext>
            </a:extLst>
          </p:cNvPr>
          <p:cNvSpPr txBox="1"/>
          <p:nvPr/>
        </p:nvSpPr>
        <p:spPr>
          <a:xfrm>
            <a:off x="914400" y="2761488"/>
            <a:ext cx="3312766" cy="123110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b="0" dirty="0">
                <a:solidFill>
                  <a:srgbClr val="171717"/>
                </a:solidFill>
                <a:latin typeface="Aptos"/>
              </a:rPr>
              <a:t>Strom durch beide R gleich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Praktisches Werkzeug für 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Berechnungen</a:t>
            </a:r>
            <a:endParaRPr lang="de-CH" sz="2000" b="0" dirty="0">
              <a:solidFill>
                <a:srgbClr val="171717"/>
              </a:solidFill>
              <a:latin typeface="Apto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B0AA366-C1F0-3AB4-AB58-D74F3F946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392ABB1-4673-E3CF-EDC6-23FDD167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0BF0B02-9EC1-8BAA-B714-5B9C0CDC9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DEBD139-B043-E123-BD0C-BE7FFEE08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894" y="136525"/>
            <a:ext cx="4115746" cy="362364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F1AC9C5-ACD8-90DA-CECA-698A48788D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426" y="3863547"/>
            <a:ext cx="5230239" cy="40085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B097183-67C3-A620-C5C1-C91E86091E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6331" y="4412674"/>
            <a:ext cx="4858428" cy="1019317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E926E2E4-2CBA-65AD-C48B-187A354D0AFC}"/>
              </a:ext>
            </a:extLst>
          </p:cNvPr>
          <p:cNvSpPr txBox="1"/>
          <p:nvPr/>
        </p:nvSpPr>
        <p:spPr>
          <a:xfrm>
            <a:off x="7470293" y="5645916"/>
            <a:ext cx="46528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/>
              <a:t>Beim Spannungsteiler ist der Widerstand oben, </a:t>
            </a:r>
          </a:p>
          <a:p>
            <a:r>
              <a:rPr lang="de-CH" dirty="0"/>
              <a:t>über den man auch die Spannung sucht</a:t>
            </a:r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0D30A176-35AB-20F0-AB9C-C4ADC5DC2119}"/>
              </a:ext>
            </a:extLst>
          </p:cNvPr>
          <p:cNvCxnSpPr/>
          <p:nvPr/>
        </p:nvCxnSpPr>
        <p:spPr>
          <a:xfrm flipV="1">
            <a:off x="10488168" y="4922332"/>
            <a:ext cx="539496" cy="829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BA966A0E-CA95-CE8B-43A5-101516A379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3624" y="3992594"/>
            <a:ext cx="4760903" cy="265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99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FCC9-3A88-B33E-2E27-CD9EA5A6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68A271-F38B-CB76-10F9-B8D892E93D2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FEA1FB-9477-F085-6F28-0DC9B7B55D40}"/>
              </a:ext>
            </a:extLst>
          </p:cNvPr>
          <p:cNvSpPr txBox="1"/>
          <p:nvPr/>
        </p:nvSpPr>
        <p:spPr>
          <a:xfrm>
            <a:off x="893848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A488F4-380C-89DD-797A-09FFCC7E647B}"/>
              </a:ext>
            </a:extLst>
          </p:cNvPr>
          <p:cNvSpPr txBox="1"/>
          <p:nvPr/>
        </p:nvSpPr>
        <p:spPr>
          <a:xfrm>
            <a:off x="594360" y="932688"/>
            <a:ext cx="492493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Belasteter Spannungsteiler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448315-1EA9-44C3-0914-5F4D45A65205}"/>
              </a:ext>
            </a:extLst>
          </p:cNvPr>
          <p:cNvSpPr txBox="1"/>
          <p:nvPr/>
        </p:nvSpPr>
        <p:spPr>
          <a:xfrm>
            <a:off x="914400" y="2761488"/>
            <a:ext cx="4019755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Spannung teilt sich anders auf da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R2 parallel zu RL ist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9E6CD2FF-BD8A-974C-9A9F-3ACA8309F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A7D8B6A-7F9B-2A6A-9AD9-D69632479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94C4605-9B99-6087-50A2-C732C787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5" name="Grafik 4" descr="Spannungsteiler belastet berechnen">
            <a:extLst>
              <a:ext uri="{FF2B5EF4-FFF2-40B4-BE49-F238E27FC236}">
                <a16:creationId xmlns:a16="http://schemas.microsoft.com/office/drawing/2014/main" id="{2A04463A-D03E-D167-28FF-ABB592AE11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302" y="768096"/>
            <a:ext cx="4403298" cy="421185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9A0547E-ACA8-FCC6-64FE-2655FDB63818}"/>
                  </a:ext>
                </a:extLst>
              </p:cNvPr>
              <p:cNvSpPr txBox="1"/>
              <p:nvPr/>
            </p:nvSpPr>
            <p:spPr>
              <a:xfrm>
                <a:off x="1488492" y="4078434"/>
                <a:ext cx="3476143" cy="1576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de-CH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de-CH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i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de-CH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de-CH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Out</m:t>
                          </m:r>
                        </m:sub>
                      </m:sSub>
                      <m:r>
                        <a:rPr lang="de-CH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CH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de-CH" i="0">
                              <a:latin typeface="Cambria Math" panose="02040503050406030204" pitchFamily="18" charset="0"/>
                            </a:rPr>
                            <m:t>In</m:t>
                          </m:r>
                        </m:sub>
                      </m:sSub>
                      <m:r>
                        <a:rPr lang="de-CH" i="0"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de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de-CH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de-CH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9A0547E-ACA8-FCC6-64FE-2655FDB6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492" y="4078434"/>
                <a:ext cx="3476143" cy="157652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9997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19E81-128A-F3C0-3591-815E9F281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D468EA4-F55F-165D-56C1-DA44BAE4BF01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03CE7F-D2A3-66B7-958C-36B4CE440061}"/>
              </a:ext>
            </a:extLst>
          </p:cNvPr>
          <p:cNvSpPr txBox="1"/>
          <p:nvPr/>
        </p:nvSpPr>
        <p:spPr>
          <a:xfrm>
            <a:off x="873812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DE507-A9D4-DB12-D693-05821CEB112B}"/>
              </a:ext>
            </a:extLst>
          </p:cNvPr>
          <p:cNvSpPr txBox="1"/>
          <p:nvPr/>
        </p:nvSpPr>
        <p:spPr>
          <a:xfrm>
            <a:off x="594360" y="932688"/>
            <a:ext cx="296998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Spannungsteiler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1900507-3710-7920-C238-03873A8C3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BD1FD29-5CC0-D2C8-9E95-6730F96C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7D582D1-734A-3106-2D81-E16BD1EF1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3CECDE5-2459-50E5-BBFD-52F20CDFA2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Beim I²C-Bus ist die Datenleitung SDA über einen Pull-up-Widerstand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P</m:t>
                        </m:r>
                      </m:sub>
                    </m:sSub>
                  </m:oMath>
                </a14:m>
                <a:r>
                  <a:rPr lang="de-CH" sz="1600" dirty="0"/>
                  <a:t> = 10 kΩ mit der Versorgung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de-CH" sz="1600" dirty="0"/>
                  <a:t> = 3.3 V verbunden.</a:t>
                </a:r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Um eine logische 0 zu senden, schaltet ein Teilnehmer seinen Open-Collector-Ausgang durch. Dieser wird hier als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de-CH" sz="1600" dirty="0"/>
                  <a:t> = 1.0 kΩ gegen Masse modelliert.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</m:oMath>
                </a14:m>
                <a:r>
                  <a:rPr lang="de-CH" sz="1600" dirty="0"/>
                  <a:t> der Leitung, wenn der Treiber durchgeschaltet ist.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3CECDE5-2459-50E5-BBFD-52F20CDF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 r="-812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I2C Pull-up als Spannungsteiler">
            <a:extLst>
              <a:ext uri="{FF2B5EF4-FFF2-40B4-BE49-F238E27FC236}">
                <a16:creationId xmlns:a16="http://schemas.microsoft.com/office/drawing/2014/main" id="{911AC3BA-4B60-30C9-6FC8-501E46958F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150670"/>
            <a:ext cx="5040000" cy="338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37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3AB2EA-CEC9-F5C8-6B25-3F5AEC9B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AB0FC9D-3361-15AE-B0CB-9A8553F4210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5CCF05-CC2E-C889-15B5-F95A295DADBC}"/>
              </a:ext>
            </a:extLst>
          </p:cNvPr>
          <p:cNvSpPr txBox="1"/>
          <p:nvPr/>
        </p:nvSpPr>
        <p:spPr>
          <a:xfrm>
            <a:off x="873812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B1751-6E2C-F85D-80E4-35FB6E758858}"/>
              </a:ext>
            </a:extLst>
          </p:cNvPr>
          <p:cNvSpPr txBox="1"/>
          <p:nvPr/>
        </p:nvSpPr>
        <p:spPr>
          <a:xfrm>
            <a:off x="594360" y="932688"/>
            <a:ext cx="296998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Spannungsteiler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9AF8E1F-4FB5-2624-61C2-E5667368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067EEBD6-B1B3-20C0-4D6C-AD7A25154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6994B9A-DCE5-200A-2FAC-A50FD7EAE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7D639B-C136-AA47-8930-025D64DA4C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Die Eingänge der Busteilnehmer sind hochohmig: Über SDA fliesst kein Strom ab. ⇒ unbelasteter Spannungsteiler</a:t>
                </a:r>
              </a:p>
              <a:p>
                <a:r>
                  <a:rPr lang="de-CH" sz="1600" dirty="0"/>
                  <a:t>Die Spannungen verhalten sich wie die Widerstände: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SDA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DD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P</m:t>
                              </m:r>
                            </m:sub>
                          </m:s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SDA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=3.3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11 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≈0.30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⇒ Die Leitung liegt nahe bei 0 V: logisch 0 (LOW).</a:t>
                </a:r>
              </a:p>
              <a:p>
                <a:pPr marL="0" indent="0">
                  <a:buNone/>
                </a:pPr>
                <a:r>
                  <a:rPr lang="de-CH" sz="1600" dirty="0"/>
                  <a:t>Wie ist die Spannung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</m:oMath>
                </a14:m>
                <a:r>
                  <a:rPr lang="de-CH" sz="1600" dirty="0"/>
                  <a:t> bei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→ ∞</m:t>
                    </m:r>
                  </m:oMath>
                </a14:m>
                <a:r>
                  <a:rPr lang="de-CH" sz="1600" dirty="0"/>
                  <a:t>?</a:t>
                </a:r>
              </a:p>
              <a:p>
                <a:r>
                  <a:rPr lang="de-CH" sz="1600" dirty="0"/>
                  <a:t>Treiber gesperrt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→ ∞</m:t>
                    </m:r>
                  </m:oMath>
                </a14:m>
                <a:r>
                  <a:rPr lang="de-CH" sz="1600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SDA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DD</m:t>
                        </m:r>
                      </m:sub>
                    </m:sSub>
                  </m:oMath>
                </a14:m>
                <a:r>
                  <a:rPr lang="de-CH" sz="1600" dirty="0"/>
                  <a:t> = 3.3 V, d.h. logisch 1 (HIGH).</a:t>
                </a:r>
              </a:p>
              <a:p>
                <a:pPr marL="0" indent="0">
                  <a:buFont typeface="Arial"/>
                  <a:buNone/>
                </a:pPr>
                <a:endParaRPr lang="de-CH" sz="16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817D639B-C136-AA47-8930-025D64DA4C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I2C Pull-up als Spannungsteiler">
            <a:extLst>
              <a:ext uri="{FF2B5EF4-FFF2-40B4-BE49-F238E27FC236}">
                <a16:creationId xmlns:a16="http://schemas.microsoft.com/office/drawing/2014/main" id="{5CD78D77-8491-C2C4-0128-8B317044A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150670"/>
            <a:ext cx="5040000" cy="338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87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B85A1-DD09-E6F3-4CA4-B3FE128B3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19D2DF-C47F-1D3A-7803-1AA450913B5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6FD64-6863-CD01-F1EC-AF193829F152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83775A-B455-0632-6376-FFE904A2DD13}"/>
              </a:ext>
            </a:extLst>
          </p:cNvPr>
          <p:cNvSpPr txBox="1"/>
          <p:nvPr/>
        </p:nvSpPr>
        <p:spPr>
          <a:xfrm>
            <a:off x="594360" y="932688"/>
            <a:ext cx="205505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Stromteiler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FE9DBC-0A36-16A3-6665-F63819443478}"/>
              </a:ext>
            </a:extLst>
          </p:cNvPr>
          <p:cNvSpPr txBox="1"/>
          <p:nvPr/>
        </p:nvSpPr>
        <p:spPr>
          <a:xfrm>
            <a:off x="914400" y="2761488"/>
            <a:ext cx="37287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Spannung über alle R ist gleich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B6EDEF8C-0786-48DD-4EF6-9E265C33A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0503871-2CCF-5DA6-9DF4-2AFC2F516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044D6F-2F27-00BA-D36F-20D3C4A9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FB3BC25-57C9-E54C-6C43-399A47BAA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7571" y="136525"/>
            <a:ext cx="4458322" cy="362000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814F692-9EBA-95E7-A658-74FF6E326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865" y="3821746"/>
            <a:ext cx="3734321" cy="933580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142E32F-7B7B-0A58-F30A-A632185C7E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114" y="4755326"/>
            <a:ext cx="4963218" cy="1019317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1AB2C3C8-1D95-6EC1-9B08-EB7B96C0B1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668" y="5280477"/>
            <a:ext cx="6811326" cy="1057423"/>
          </a:xfrm>
          <a:prstGeom prst="rect">
            <a:avLst/>
          </a:prstGeom>
        </p:spPr>
      </p:pic>
      <p:sp>
        <p:nvSpPr>
          <p:cNvPr id="19" name="Textfeld 18">
            <a:extLst>
              <a:ext uri="{FF2B5EF4-FFF2-40B4-BE49-F238E27FC236}">
                <a16:creationId xmlns:a16="http://schemas.microsoft.com/office/drawing/2014/main" id="{F10D7398-DB05-E04B-3E97-F8F546B4552E}"/>
              </a:ext>
            </a:extLst>
          </p:cNvPr>
          <p:cNvSpPr txBox="1"/>
          <p:nvPr/>
        </p:nvSpPr>
        <p:spPr>
          <a:xfrm>
            <a:off x="2012253" y="4541443"/>
            <a:ext cx="496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/>
              <a:t>Beim Stromteiler steht im Zähler der Widerstand des Zweigs, den man </a:t>
            </a:r>
            <a:r>
              <a:rPr lang="de-CH" b="1" dirty="0"/>
              <a:t>NICHT</a:t>
            </a:r>
            <a:r>
              <a:rPr lang="de-CH" dirty="0"/>
              <a:t> sucht.</a:t>
            </a:r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CDB0FFDA-0D8A-9D1E-949A-DDF40E3CE0FA}"/>
              </a:ext>
            </a:extLst>
          </p:cNvPr>
          <p:cNvCxnSpPr>
            <a:cxnSpLocks/>
          </p:cNvCxnSpPr>
          <p:nvPr/>
        </p:nvCxnSpPr>
        <p:spPr>
          <a:xfrm flipH="1">
            <a:off x="5029200" y="4868997"/>
            <a:ext cx="771525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erade Verbindung mit Pfeil 22">
            <a:extLst>
              <a:ext uri="{FF2B5EF4-FFF2-40B4-BE49-F238E27FC236}">
                <a16:creationId xmlns:a16="http://schemas.microsoft.com/office/drawing/2014/main" id="{AE00410C-4A4D-7F7B-C056-FDF581CAF5C3}"/>
              </a:ext>
            </a:extLst>
          </p:cNvPr>
          <p:cNvCxnSpPr>
            <a:cxnSpLocks/>
          </p:cNvCxnSpPr>
          <p:nvPr/>
        </p:nvCxnSpPr>
        <p:spPr>
          <a:xfrm flipH="1">
            <a:off x="4076700" y="5093208"/>
            <a:ext cx="200025" cy="411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98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6DD13-8E0D-424F-B508-CAA09135E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405600C-DF53-A245-074D-260C13BF4143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6C9F91-1D1E-B0A4-063B-DB589E479170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D2758E-CB0F-D4C1-A22E-A6C66783476F}"/>
              </a:ext>
            </a:extLst>
          </p:cNvPr>
          <p:cNvSpPr txBox="1"/>
          <p:nvPr/>
        </p:nvSpPr>
        <p:spPr>
          <a:xfrm>
            <a:off x="594360" y="932688"/>
            <a:ext cx="205505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Stromteiler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10C2DFFA-638E-5168-4326-0E04D3ED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804977B7-579E-B08F-5C2F-0B123C628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58AFFA8E-C06E-EC1A-140F-C9DBD55E7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A5FB33-4660-13AB-4397-07E320ADEC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An eine ideale Stromquelle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de-CH" sz="1600" dirty="0"/>
                  <a:t> = 5.0 A werden zwei Lasten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 = 4.0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 = 1.0 Ω parallel angeschlossen.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die Ströme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in den beiden Widerständen.</a:t>
                </a:r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A0A5FB33-4660-13AB-4397-07E320ADE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251" r="-92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Stromteiler an Stromquelle">
            <a:extLst>
              <a:ext uri="{FF2B5EF4-FFF2-40B4-BE49-F238E27FC236}">
                <a16:creationId xmlns:a16="http://schemas.microsoft.com/office/drawing/2014/main" id="{3B30B5AF-CF55-3384-CF0D-3249E5005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62714"/>
            <a:ext cx="5040000" cy="296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24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94AF3A-0F62-B1AF-E3BD-C6C78A1F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032C9A3-8D02-89BC-D56C-0479C3D298E7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47938-3D2B-D3A4-53A3-A3DD45088FBE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5E6714-15CF-F807-EC3F-11A91CD5184C}"/>
              </a:ext>
            </a:extLst>
          </p:cNvPr>
          <p:cNvSpPr txBox="1"/>
          <p:nvPr/>
        </p:nvSpPr>
        <p:spPr>
          <a:xfrm>
            <a:off x="594360" y="932688"/>
            <a:ext cx="2055050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Stromteiler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CD7D616-CC0C-1AA1-FAE4-520B79DE0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D3EF11A-3B2A-5549-6727-B1AFA8866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413289FF-23B6-AF74-703A-A030D3F2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B0DFBAD-F154-C886-6339-6A730C72CF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An eine ideale Stromquelle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q</m:t>
                        </m:r>
                      </m:sub>
                    </m:sSub>
                  </m:oMath>
                </a14:m>
                <a:r>
                  <a:rPr lang="de-CH" sz="1600" dirty="0"/>
                  <a:t> = 5.0 A werden zwei Lasten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 = 4.0 Ω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 = 1.0 Ω parallel angeschlossen.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die Ströme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in den beiden Widerständen.</a:t>
                </a:r>
              </a:p>
              <a:p>
                <a:pPr marL="0" indent="0">
                  <a:buFont typeface="Arial"/>
                  <a:buNone/>
                </a:pPr>
                <a:endParaRPr lang="de-CH" sz="1600" dirty="0"/>
              </a:p>
              <a:p>
                <a:r>
                  <a:rPr lang="de-CH" sz="1600" dirty="0"/>
                  <a:t>Stromteiler: Die Teilströme verhalten sich wie die Leitwerte: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G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=5.0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5.0 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=1.0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=5.0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4.0 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5.0 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=4.0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Der grössere Strom fliesst durch den kleineren Widerstand.</a:t>
                </a:r>
              </a:p>
              <a:p>
                <a:pPr marL="0" indent="0">
                  <a:buFont typeface="Arial"/>
                  <a:buNone/>
                </a:pPr>
                <a:endParaRPr lang="de-CH" sz="1600" dirty="0"/>
              </a:p>
            </p:txBody>
          </p:sp>
        </mc:Choice>
        <mc:Fallback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BB0DFBAD-F154-C886-6339-6A730C72C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251" r="-928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Stromteiler an Stromquelle">
            <a:extLst>
              <a:ext uri="{FF2B5EF4-FFF2-40B4-BE49-F238E27FC236}">
                <a16:creationId xmlns:a16="http://schemas.microsoft.com/office/drawing/2014/main" id="{441667E1-3BD8-6F94-826E-9371A06301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62714"/>
            <a:ext cx="5040000" cy="2960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527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F59B4-16F1-6E52-91C5-78D8F3A49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67A637B-C262-F0C1-2BEF-B86F112F93A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9BF7A-D235-B893-5767-9E292742EFDA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0DE0B-6D34-8D2D-9BCC-CA018B0D7777}"/>
              </a:ext>
            </a:extLst>
          </p:cNvPr>
          <p:cNvSpPr txBox="1"/>
          <p:nvPr/>
        </p:nvSpPr>
        <p:spPr>
          <a:xfrm>
            <a:off x="594360" y="932688"/>
            <a:ext cx="209159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Messgeräte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AAEB2-C00E-DDA7-D381-9EDAAADE487F}"/>
              </a:ext>
            </a:extLst>
          </p:cNvPr>
          <p:cNvSpPr txBox="1"/>
          <p:nvPr/>
        </p:nvSpPr>
        <p:spPr>
          <a:xfrm>
            <a:off x="893846" y="1919937"/>
            <a:ext cx="3839000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de-CH" sz="2000" dirty="0">
                <a:solidFill>
                  <a:srgbClr val="171717"/>
                </a:solidFill>
                <a:latin typeface="Aptos"/>
              </a:rPr>
              <a:t>Ideale Messgeräte beeinflussen</a:t>
            </a:r>
            <a:br>
              <a:rPr lang="de-CH" sz="2000" dirty="0">
                <a:solidFill>
                  <a:srgbClr val="171717"/>
                </a:solidFill>
                <a:latin typeface="Aptos"/>
              </a:rPr>
            </a:br>
            <a:r>
              <a:rPr lang="de-CH" sz="2000" dirty="0">
                <a:solidFill>
                  <a:srgbClr val="171717"/>
                </a:solidFill>
                <a:latin typeface="Aptos"/>
              </a:rPr>
              <a:t>das Netzwerk nicht!</a:t>
            </a:r>
            <a:endParaRPr sz="2000" b="0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14BD37C-2973-F5E6-6DC7-79F214983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983E5FA-5E79-DCFD-2CD3-2A6737960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908FEED4-5030-C411-4C97-3AAC131E4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38964B8-1F4B-43C1-F2B1-373339029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628" y="2628276"/>
            <a:ext cx="1505160" cy="96215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116BD669-6D1E-A083-DF16-B059AED58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3119" y="2575042"/>
            <a:ext cx="1305107" cy="1524213"/>
          </a:xfrm>
          <a:prstGeom prst="rect">
            <a:avLst/>
          </a:prstGeom>
        </p:spPr>
      </p:pic>
      <p:pic>
        <p:nvPicPr>
          <p:cNvPr id="13" name="Grafik 12" descr="Was ist der Unterschied zwischen Strom und Spannungsmessung Aufbau?  (Physik, Elektronik, Elektrotechnik)">
            <a:extLst>
              <a:ext uri="{FF2B5EF4-FFF2-40B4-BE49-F238E27FC236}">
                <a16:creationId xmlns:a16="http://schemas.microsoft.com/office/drawing/2014/main" id="{7756A789-27F7-4EE3-C90D-0B2244803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5273" y="265587"/>
            <a:ext cx="4493406" cy="22883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599A264-13C3-6FE5-DE23-E96288DB3261}"/>
                  </a:ext>
                </a:extLst>
              </p:cNvPr>
              <p:cNvSpPr txBox="1"/>
              <p:nvPr/>
            </p:nvSpPr>
            <p:spPr>
              <a:xfrm>
                <a:off x="6424905" y="4234798"/>
                <a:ext cx="23215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CH" dirty="0"/>
                  <a:t>	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a:rPr lang="de-CH" i="1"/>
                          <m:t>𝑉</m:t>
                        </m:r>
                      </m:sub>
                    </m:sSub>
                    <m:r>
                      <a:rPr lang="de-CH"/>
                      <m:t>→∞</m:t>
                    </m:r>
                  </m:oMath>
                </a14:m>
                <a:r>
                  <a:rPr lang="de-CH" dirty="0"/>
                  <a:t> </a:t>
                </a:r>
              </a:p>
              <a:p>
                <a:r>
                  <a:rPr lang="de-CH" dirty="0"/>
                  <a:t>Immer parallel messen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599A264-13C3-6FE5-DE23-E96288DB32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905" y="4234798"/>
                <a:ext cx="2321533" cy="646331"/>
              </a:xfrm>
              <a:prstGeom prst="rect">
                <a:avLst/>
              </a:prstGeom>
              <a:blipFill>
                <a:blip r:embed="rId6"/>
                <a:stretch>
                  <a:fillRect l="-2362" r="-1575" b="-1415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B6DF969-114E-5D4F-8870-23692D298100}"/>
                  </a:ext>
                </a:extLst>
              </p:cNvPr>
              <p:cNvSpPr txBox="1"/>
              <p:nvPr/>
            </p:nvSpPr>
            <p:spPr>
              <a:xfrm>
                <a:off x="9072724" y="4234798"/>
                <a:ext cx="218842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i="1"/>
                          </m:ctrlPr>
                        </m:sSubPr>
                        <m:e>
                          <m:r>
                            <a:rPr lang="de-CH" i="1"/>
                            <m:t>𝑅</m:t>
                          </m:r>
                        </m:e>
                        <m:sub>
                          <m:r>
                            <a:rPr lang="de-CH" i="1"/>
                            <m:t>𝐴</m:t>
                          </m:r>
                        </m:sub>
                      </m:sSub>
                      <m:r>
                        <a:rPr lang="de-CH"/>
                        <m:t>=0 </m:t>
                      </m:r>
                      <m:r>
                        <m:rPr>
                          <m:sty m:val="p"/>
                        </m:rPr>
                        <a:rPr lang="de-CH"/>
                        <m:t>Ω</m:t>
                      </m:r>
                    </m:oMath>
                  </m:oMathPara>
                </a14:m>
                <a:br>
                  <a:rPr lang="de-CH" dirty="0"/>
                </a:br>
                <a:r>
                  <a:rPr lang="de-CH" dirty="0"/>
                  <a:t>Immer seriell messen</a:t>
                </a:r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B6DF969-114E-5D4F-8870-23692D298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2724" y="4234798"/>
                <a:ext cx="2188420" cy="646331"/>
              </a:xfrm>
              <a:prstGeom prst="rect">
                <a:avLst/>
              </a:prstGeom>
              <a:blipFill>
                <a:blip r:embed="rId7"/>
                <a:stretch>
                  <a:fillRect l="-2228" r="-1950" b="-14151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Grafik 19" descr="r/PeterExplainsTheJoke - 0IJod Digita Multiveter People Who Dont Know People Who Know">
            <a:extLst>
              <a:ext uri="{FF2B5EF4-FFF2-40B4-BE49-F238E27FC236}">
                <a16:creationId xmlns:a16="http://schemas.microsoft.com/office/drawing/2014/main" id="{23FB135D-7020-1068-F3A0-47AE57DD9B1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85195" y="2605936"/>
            <a:ext cx="3347651" cy="3750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735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9FB6D-EA31-D7AC-E40D-561681A70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3BAB2CA-4F8C-3714-8BBC-DFF98B95406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38FE78-B1AF-3FF0-0B22-6758EAD95181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751900-178B-0673-2BA0-A4613ABD0896}"/>
              </a:ext>
            </a:extLst>
          </p:cNvPr>
          <p:cNvSpPr txBox="1"/>
          <p:nvPr/>
        </p:nvSpPr>
        <p:spPr>
          <a:xfrm>
            <a:off x="594360" y="932688"/>
            <a:ext cx="2091598" cy="47705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3100" b="1" dirty="0">
                <a:solidFill>
                  <a:srgbClr val="171717"/>
                </a:solidFill>
                <a:latin typeface="Aptos"/>
              </a:rPr>
              <a:t>Messgeräte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C30EB82-948F-FBFE-DFAB-17652DE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EF267E2F-139D-4DF9-8ABF-AE234193E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0075C38-54D0-8221-3E1F-1DEA41B4F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5" name="Grafik 4" descr="FLUKE 179 FLUKE, Digital Multimeter, Fluke 170 Series, 6000 Count | Farnell  Switzerland">
            <a:extLst>
              <a:ext uri="{FF2B5EF4-FFF2-40B4-BE49-F238E27FC236}">
                <a16:creationId xmlns:a16="http://schemas.microsoft.com/office/drawing/2014/main" id="{AFCDBB3E-0696-0F27-E751-C9915AA71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224" y="237873"/>
            <a:ext cx="3044728" cy="594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926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2FE39-498E-3BFB-057A-50A3B1C83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4325624-BE2D-D95B-5897-E84E7CC236A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FBF35E-CEB4-6031-8D05-3FA632E41372}"/>
              </a:ext>
            </a:extLst>
          </p:cNvPr>
          <p:cNvSpPr txBox="1"/>
          <p:nvPr/>
        </p:nvSpPr>
        <p:spPr>
          <a:xfrm>
            <a:off x="893846" y="542673"/>
            <a:ext cx="370294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Theorie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7A2001-B67A-C0CA-858D-87DA4D023700}"/>
              </a:ext>
            </a:extLst>
          </p:cNvPr>
          <p:cNvSpPr txBox="1"/>
          <p:nvPr/>
        </p:nvSpPr>
        <p:spPr>
          <a:xfrm>
            <a:off x="594360" y="932688"/>
            <a:ext cx="955761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Spannungsrichtige Vs Stromrichtige Widerstandsmessung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4D3EE69A-75B1-33B0-254B-3A9B4ABB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AC24E7E8-A88C-B9EB-955D-486152805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246118B9-5901-3B2B-25D0-30E4B664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F817A6D-A002-E48A-AEB8-7DD17F241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574" y="1589723"/>
            <a:ext cx="5210902" cy="249589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BC73F04-D797-0321-6137-5598EC5581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1627828"/>
            <a:ext cx="4896533" cy="24196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41662872-94FE-AA84-8854-20AAD761D43D}"/>
                  </a:ext>
                </a:extLst>
              </p:cNvPr>
              <p:cNvSpPr txBox="1"/>
              <p:nvPr/>
            </p:nvSpPr>
            <p:spPr>
              <a:xfrm>
                <a:off x="876300" y="4133246"/>
                <a:ext cx="5086351" cy="2061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b="1" dirty="0"/>
                  <a:t>Spannungsrichtige Schaltung</a:t>
                </a:r>
                <a:r>
                  <a:rPr lang="de-CH" dirty="0"/>
                  <a:t> </a:t>
                </a:r>
                <a:r>
                  <a:rPr lang="de-CH" i="1" dirty="0"/>
                  <a:t>(Stromfehlerschaltung)</a:t>
                </a:r>
                <a:endParaRPr lang="de-CH" dirty="0"/>
              </a:p>
              <a:p>
                <a:r>
                  <a:rPr lang="de-CH" dirty="0"/>
                  <a:t>• </a:t>
                </a:r>
                <a:r>
                  <a:rPr lang="de-CH" b="1" dirty="0"/>
                  <a:t>Voltmeter</a:t>
                </a:r>
                <a:r>
                  <a:rPr lang="de-CH" dirty="0"/>
                  <a:t> liegt direkt am Widerstand </a:t>
                </a:r>
                <a14:m>
                  <m:oMath xmlns:m="http://schemas.openxmlformats.org/officeDocument/2006/math">
                    <m:r>
                      <a:rPr lang="de-CH"/>
                      <m:t>→</m:t>
                    </m:r>
                  </m:oMath>
                </a14:m>
                <a:r>
                  <a:rPr lang="de-CH" dirty="0"/>
                  <a:t>Spannung wird korrekt gemessen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𝑈</m:t>
                        </m:r>
                      </m:e>
                      <m:sub>
                        <m:r>
                          <a:rPr lang="de-CH" i="1"/>
                          <m:t>𝑅</m:t>
                        </m:r>
                      </m:sub>
                    </m:sSub>
                    <m:r>
                      <a:rPr lang="de-CH"/>
                      <m:t>=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𝑈</m:t>
                        </m:r>
                      </m:e>
                      <m:sub>
                        <m:r>
                          <a:rPr lang="de-CH" i="1"/>
                          <m:t>𝑉</m:t>
                        </m:r>
                      </m:sub>
                    </m:sSub>
                  </m:oMath>
                </a14:m>
                <a:r>
                  <a:rPr lang="de-CH" dirty="0"/>
                  <a:t>).</a:t>
                </a:r>
              </a:p>
              <a:p>
                <a:r>
                  <a:rPr lang="de-CH" dirty="0"/>
                  <a:t>• </a:t>
                </a:r>
                <a:r>
                  <a:rPr lang="de-CH" b="1" dirty="0"/>
                  <a:t>Amperemeter</a:t>
                </a:r>
                <a:r>
                  <a:rPr lang="de-CH" dirty="0"/>
                  <a:t> misst den Gesamtstrom durch Widerstand </a:t>
                </a:r>
                <a:r>
                  <a:rPr lang="de-CH" i="1" dirty="0"/>
                  <a:t>und</a:t>
                </a:r>
                <a:r>
                  <a:rPr lang="de-CH" dirty="0"/>
                  <a:t>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𝐼</m:t>
                        </m:r>
                      </m:e>
                      <m:sub>
                        <m:r>
                          <a:rPr lang="de-CH" i="1"/>
                          <m:t>𝐴</m:t>
                        </m:r>
                      </m:sub>
                    </m:sSub>
                    <m:r>
                      <a:rPr lang="de-CH"/>
                      <m:t>=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𝐼</m:t>
                        </m:r>
                      </m:e>
                      <m:sub>
                        <m:r>
                          <a:rPr lang="de-CH" i="1"/>
                          <m:t>𝑅</m:t>
                        </m:r>
                      </m:sub>
                    </m:sSub>
                    <m:r>
                      <a:rPr lang="de-CH"/>
                      <m:t>+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𝐼</m:t>
                        </m:r>
                      </m:e>
                      <m:sub>
                        <m:r>
                          <a:rPr lang="de-CH" i="1"/>
                          <m:t>𝑉</m:t>
                        </m:r>
                      </m:sub>
                    </m:sSub>
                  </m:oMath>
                </a14:m>
                <a:r>
                  <a:rPr lang="de-CH" dirty="0"/>
                  <a:t>).</a:t>
                </a:r>
              </a:p>
              <a:p>
                <a:r>
                  <a:rPr lang="de-CH" dirty="0"/>
                  <a:t>• </a:t>
                </a:r>
                <a:r>
                  <a:rPr lang="de-CH" b="1" dirty="0"/>
                  <a:t>Gemessener Widerstand: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de-CH"/>
                          <m:t>gem</m:t>
                        </m:r>
                      </m:sub>
                    </m:sSub>
                    <m:r>
                      <a:rPr lang="de-CH"/>
                      <m:t>=</m:t>
                    </m:r>
                    <m:r>
                      <a:rPr lang="de-CH" i="1"/>
                      <m:t>𝑅</m:t>
                    </m:r>
                    <m:r>
                      <a:rPr lang="de-CH"/>
                      <m:t>∥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a:rPr lang="de-CH" i="1"/>
                          <m:t>𝑉</m:t>
                        </m:r>
                      </m:sub>
                    </m:sSub>
                    <m:r>
                      <a:rPr lang="de-CH"/>
                      <m:t>&lt;</m:t>
                    </m:r>
                    <m:r>
                      <a:rPr lang="de-CH" i="1"/>
                      <m:t>𝑅</m:t>
                    </m:r>
                  </m:oMath>
                </a14:m>
                <a:endParaRPr lang="de-CH" dirty="0"/>
              </a:p>
              <a:p>
                <a:r>
                  <a:rPr lang="de-CH" dirty="0"/>
                  <a:t>• </a:t>
                </a:r>
                <a:r>
                  <a:rPr lang="de-CH" b="1" dirty="0"/>
                  <a:t>Geeignet für: ?</a:t>
                </a:r>
                <a:endParaRPr lang="de-CH" dirty="0"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41662872-94FE-AA84-8854-20AAD761D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300" y="4133246"/>
                <a:ext cx="5086351" cy="2061911"/>
              </a:xfrm>
              <a:prstGeom prst="rect">
                <a:avLst/>
              </a:prstGeom>
              <a:blipFill>
                <a:blip r:embed="rId5"/>
                <a:stretch>
                  <a:fillRect l="-1079" t="-1479" r="-959" b="-384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11753C5-422A-45BB-7C0E-D621248F272A}"/>
                  </a:ext>
                </a:extLst>
              </p:cNvPr>
              <p:cNvSpPr txBox="1"/>
              <p:nvPr/>
            </p:nvSpPr>
            <p:spPr>
              <a:xfrm>
                <a:off x="6229350" y="4098482"/>
                <a:ext cx="5172075" cy="2061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CH" b="1" dirty="0"/>
                  <a:t>Stromrichtige Schaltung</a:t>
                </a:r>
                <a:r>
                  <a:rPr lang="de-CH" dirty="0"/>
                  <a:t> </a:t>
                </a:r>
                <a:r>
                  <a:rPr lang="de-CH" i="1" dirty="0"/>
                  <a:t>(Spannungsfehlerschaltung)</a:t>
                </a:r>
                <a:endParaRPr lang="de-CH" dirty="0"/>
              </a:p>
              <a:p>
                <a:r>
                  <a:rPr lang="de-CH" dirty="0"/>
                  <a:t>• </a:t>
                </a:r>
                <a:r>
                  <a:rPr lang="de-CH" b="1" dirty="0"/>
                  <a:t>Amperemeter</a:t>
                </a:r>
                <a:r>
                  <a:rPr lang="de-CH" dirty="0"/>
                  <a:t> liegt direkt vor dem Widerstand </a:t>
                </a:r>
                <a14:m>
                  <m:oMath xmlns:m="http://schemas.openxmlformats.org/officeDocument/2006/math">
                    <m:r>
                      <a:rPr lang="de-CH"/>
                      <m:t>→</m:t>
                    </m:r>
                  </m:oMath>
                </a14:m>
                <a:r>
                  <a:rPr lang="de-CH" dirty="0"/>
                  <a:t>Strom wird korrekt gemessen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𝐼</m:t>
                        </m:r>
                      </m:e>
                      <m:sub>
                        <m:r>
                          <a:rPr lang="de-CH" i="1"/>
                          <m:t>𝑅</m:t>
                        </m:r>
                      </m:sub>
                    </m:sSub>
                    <m:r>
                      <a:rPr lang="de-CH"/>
                      <m:t>=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𝐼</m:t>
                        </m:r>
                      </m:e>
                      <m:sub>
                        <m:r>
                          <a:rPr lang="de-CH" i="1"/>
                          <m:t>𝐴</m:t>
                        </m:r>
                      </m:sub>
                    </m:sSub>
                  </m:oMath>
                </a14:m>
                <a:r>
                  <a:rPr lang="de-CH" dirty="0"/>
                  <a:t>).</a:t>
                </a:r>
              </a:p>
              <a:p>
                <a:r>
                  <a:rPr lang="de-CH" dirty="0"/>
                  <a:t>• </a:t>
                </a:r>
                <a:r>
                  <a:rPr lang="de-CH" b="1" dirty="0"/>
                  <a:t>Voltmeter</a:t>
                </a:r>
                <a:r>
                  <a:rPr lang="de-CH" dirty="0"/>
                  <a:t> misst die Gesamtspannung über Widerstand </a:t>
                </a:r>
                <a:r>
                  <a:rPr lang="de-CH" i="1" dirty="0"/>
                  <a:t>und</a:t>
                </a:r>
                <a:r>
                  <a:rPr lang="de-CH" dirty="0"/>
                  <a:t> Amperemeter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𝑈</m:t>
                        </m:r>
                      </m:e>
                      <m:sub>
                        <m:r>
                          <a:rPr lang="de-CH" i="1"/>
                          <m:t>𝑉</m:t>
                        </m:r>
                      </m:sub>
                    </m:sSub>
                    <m:r>
                      <a:rPr lang="de-CH"/>
                      <m:t>=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𝑈</m:t>
                        </m:r>
                      </m:e>
                      <m:sub>
                        <m:r>
                          <a:rPr lang="de-CH" i="1"/>
                          <m:t>𝑅</m:t>
                        </m:r>
                      </m:sub>
                    </m:sSub>
                    <m:r>
                      <a:rPr lang="de-CH"/>
                      <m:t>+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𝑈</m:t>
                        </m:r>
                      </m:e>
                      <m:sub>
                        <m:r>
                          <a:rPr lang="de-CH" i="1"/>
                          <m:t>𝐴</m:t>
                        </m:r>
                      </m:sub>
                    </m:sSub>
                  </m:oMath>
                </a14:m>
                <a:r>
                  <a:rPr lang="de-CH" dirty="0"/>
                  <a:t>).</a:t>
                </a:r>
              </a:p>
              <a:p>
                <a:r>
                  <a:rPr lang="de-CH" dirty="0"/>
                  <a:t>• </a:t>
                </a:r>
                <a:r>
                  <a:rPr lang="de-CH" b="1" dirty="0"/>
                  <a:t>Gemessener Widerstand:</a:t>
                </a:r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m:rPr>
                            <m:nor/>
                          </m:rPr>
                          <a:rPr lang="de-CH"/>
                          <m:t>gem</m:t>
                        </m:r>
                      </m:sub>
                    </m:sSub>
                    <m:r>
                      <a:rPr lang="de-CH"/>
                      <m:t>=</m:t>
                    </m:r>
                    <m:r>
                      <a:rPr lang="de-CH" i="1"/>
                      <m:t>𝑅</m:t>
                    </m:r>
                    <m:r>
                      <a:rPr lang="de-CH"/>
                      <m:t>+</m:t>
                    </m:r>
                    <m:sSub>
                      <m:sSubPr>
                        <m:ctrlPr>
                          <a:rPr lang="de-CH" i="1"/>
                        </m:ctrlPr>
                      </m:sSubPr>
                      <m:e>
                        <m:r>
                          <a:rPr lang="de-CH" i="1"/>
                          <m:t>𝑅</m:t>
                        </m:r>
                      </m:e>
                      <m:sub>
                        <m:r>
                          <a:rPr lang="de-CH" i="1"/>
                          <m:t>𝐴</m:t>
                        </m:r>
                      </m:sub>
                    </m:sSub>
                    <m:r>
                      <a:rPr lang="de-CH"/>
                      <m:t>&gt;</m:t>
                    </m:r>
                    <m:r>
                      <a:rPr lang="de-CH" i="1"/>
                      <m:t>𝑅</m:t>
                    </m:r>
                  </m:oMath>
                </a14:m>
                <a:endParaRPr lang="de-CH" dirty="0"/>
              </a:p>
              <a:p>
                <a:r>
                  <a:rPr lang="de-CH" dirty="0"/>
                  <a:t>• </a:t>
                </a:r>
                <a:r>
                  <a:rPr lang="de-CH" b="1" dirty="0"/>
                  <a:t>Geeignet für: ?</a:t>
                </a:r>
                <a:endParaRPr lang="de-CH" dirty="0"/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511753C5-422A-45BB-7C0E-D621248F2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0" y="4098482"/>
                <a:ext cx="5172075" cy="2061911"/>
              </a:xfrm>
              <a:prstGeom prst="rect">
                <a:avLst/>
              </a:prstGeom>
              <a:blipFill>
                <a:blip r:embed="rId6"/>
                <a:stretch>
                  <a:fillRect l="-1061" t="-1475" b="-35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6920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19A84-5ACE-BB7D-3C8E-4FFDD3B5C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FB511B4-12AD-0187-0DE8-AF64C4CDAF5F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449E65-B634-A355-B7CE-AD4E7466CB07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00B8F-035A-61DF-6FB2-DEFE1AC75B84}"/>
              </a:ext>
            </a:extLst>
          </p:cNvPr>
          <p:cNvSpPr txBox="1"/>
          <p:nvPr/>
        </p:nvSpPr>
        <p:spPr>
          <a:xfrm>
            <a:off x="594360" y="932688"/>
            <a:ext cx="673928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Spannungsrichtige Widerstandsmessung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5103A6F6-802A-C9E9-8243-6B63DCB705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C73D5C2-8343-7D50-8412-46E62F580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DDEA9C5-B8AB-4936-E7B5-BEAE39B5D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B357F83-1A81-BAD7-EF0A-15F7A81AF0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Mit einem Ampèremeter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 = 1.000 Ω) und einem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 = 50.00 kΩ) soll der Nennwert eines Widerstandes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nachgemessen werden. Die Spannungsquelle liefert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r>
                  <a:rPr lang="de-CH" sz="1600" dirty="0"/>
                  <a:t>Welche Werte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 werden gemessen?</a:t>
                </a:r>
              </a:p>
              <a:p>
                <a:r>
                  <a:rPr lang="de-CH" sz="1600" dirty="0"/>
                  <a:t>Wie gross ist der daraus berechnete Widerstand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mess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U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V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de-CH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den>
                    </m:f>
                  </m:oMath>
                </a14:m>
                <a:r>
                  <a:rPr lang="de-CH" sz="1600" dirty="0"/>
                  <a:t> und der relative Fehler?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B357F83-1A81-BAD7-EF0A-15F7A81AF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Spannungsrichtige Messschaltung">
            <a:extLst>
              <a:ext uri="{FF2B5EF4-FFF2-40B4-BE49-F238E27FC236}">
                <a16:creationId xmlns:a16="http://schemas.microsoft.com/office/drawing/2014/main" id="{0DA9D17E-9450-61CA-1B6B-F1DC11BBA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50530"/>
            <a:ext cx="5040000" cy="29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842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EF7F51D-9592-55C7-A46E-91CB8307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C64E95A-F2CB-E3B8-0649-428DFCEDFAEA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6A9187-8841-F533-E59B-4261F22B7022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76BF4-6D7C-AF36-EC49-AEDDC0581C3D}"/>
              </a:ext>
            </a:extLst>
          </p:cNvPr>
          <p:cNvSpPr txBox="1"/>
          <p:nvPr/>
        </p:nvSpPr>
        <p:spPr>
          <a:xfrm>
            <a:off x="594360" y="932688"/>
            <a:ext cx="6739281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Spannungsrichtige Widerstandsmessung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E20A4987-AA37-672A-4808-FA16365B4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395762F3-BFAC-70C9-1E98-292E1095A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0FE967D4-C665-2589-F0B4-E675CAD69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FA0EA1-FFE4-85E2-9D5F-67B016165E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Mit einem Ampèremeter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 = 1.000 Ω) und einem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 = 50.00 kΩ) soll der Nennwert eines Widerstandes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nachgemessen werden. Die Spannungsquelle liefert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r>
                  <a:rPr lang="de-CH" sz="1600" dirty="0"/>
                  <a:t>Voltmeter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 (Spannung richtig), Ampèremeter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⋅ 50.00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+50.00 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≈980.4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∥ </m:t>
                          </m:r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≈0.1019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⋅ (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)≈99.90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mess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∥ 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≈980.4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Relativer Fehler: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e-CH" sz="1600" i="1">
                                <a:latin typeface="Cambria Math" panose="02040503050406030204" pitchFamily="18" charset="0"/>
                              </a:rPr>
                              <m:t>mess</m:t>
                            </m:r>
                          </m:sub>
                        </m:sSub>
                        <m:r>
                          <a:rPr lang="de-CH" sz="1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  <m:r>
                      <a:rPr lang="de-CH" sz="1600" i="1">
                        <a:latin typeface="Cambria Math" panose="02040503050406030204" pitchFamily="18" charset="0"/>
                      </a:rPr>
                      <m:t>≈−1.961 %</m:t>
                    </m:r>
                  </m:oMath>
                </a14:m>
                <a:r>
                  <a:rPr lang="de-CH" sz="1600" dirty="0"/>
                  <a:t> (wegen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pPr marL="0" indent="0">
                  <a:buNone/>
                </a:pPr>
                <a:r>
                  <a:rPr lang="de-CH" sz="1200" i="1" dirty="0"/>
                  <a:t>Mit ungerundeten Zwischenergebnissen weiterrechnen!</a:t>
                </a:r>
                <a:endParaRPr lang="de-CH" sz="12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6FA0EA1-FFE4-85E2-9D5F-67B016165E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Spannungsrichtige Messschaltung">
            <a:extLst>
              <a:ext uri="{FF2B5EF4-FFF2-40B4-BE49-F238E27FC236}">
                <a16:creationId xmlns:a16="http://schemas.microsoft.com/office/drawing/2014/main" id="{A6DA70EB-3426-97D6-5916-F6030FC4D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350530"/>
            <a:ext cx="5040000" cy="29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53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7A5E-9133-9425-27E5-009E45A45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034B439-FEAB-BA0D-A338-CEDA3633346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27B132-87F3-C0BE-F37F-2BBEC75D2EC1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F22121-D39E-EB74-95B6-3C0C220165C5}"/>
              </a:ext>
            </a:extLst>
          </p:cNvPr>
          <p:cNvSpPr txBox="1"/>
          <p:nvPr/>
        </p:nvSpPr>
        <p:spPr>
          <a:xfrm>
            <a:off x="594360" y="932688"/>
            <a:ext cx="592476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Stromrichtige Widerstandsmessung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36BDA7F3-CD9E-D86B-1EAF-387969850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FFDE31C-2DC7-1938-B7DB-166EA801D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FDBF7334-3A3D-5E99-6236-B89CA912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01EF8B1-C723-391D-AEF1-27B6583D32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CH" sz="1600" dirty="0"/>
                  <a:t>Mit einem Ampèremeter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 = 1.000 Ω) und einem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 = 50.00 kΩ) soll der Nennwert eines Widerstandes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nachgemessen werden. Die Spannungsquelle liefert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r>
                  <a:rPr lang="de-CH" sz="1600" dirty="0"/>
                  <a:t>Welche Werte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 und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 werden gemessen?</a:t>
                </a:r>
              </a:p>
              <a:p>
                <a:r>
                  <a:rPr lang="de-CH" sz="1600" dirty="0"/>
                  <a:t>Wie gross ist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mess</m:t>
                        </m:r>
                      </m:sub>
                    </m:sSub>
                  </m:oMath>
                </a14:m>
                <a:r>
                  <a:rPr lang="de-CH" sz="1600" dirty="0"/>
                  <a:t> und der relative Fehler?</a:t>
                </a:r>
              </a:p>
              <a:p>
                <a:r>
                  <a:rPr lang="de-CH" sz="1600" dirty="0"/>
                  <a:t>Welche Schaltung eignet sich für kleine, welche für grosse Widerstände?</a:t>
                </a:r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301EF8B1-C723-391D-AEF1-27B6583D3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Stromrichtige Messschaltung">
            <a:extLst>
              <a:ext uri="{FF2B5EF4-FFF2-40B4-BE49-F238E27FC236}">
                <a16:creationId xmlns:a16="http://schemas.microsoft.com/office/drawing/2014/main" id="{D1F1D3D9-5FD4-6A89-42D3-534EF29A8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425542"/>
            <a:ext cx="5040000" cy="28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0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E83908-A9D3-9469-FE63-C0DF5748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DF8DDD0-8C7F-24E9-8E07-CA665CAF4B8C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764548-5E20-53C5-779D-F2DBBACB7E6A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B95672-4769-F019-C07D-6C9B7355DBFD}"/>
              </a:ext>
            </a:extLst>
          </p:cNvPr>
          <p:cNvSpPr txBox="1"/>
          <p:nvPr/>
        </p:nvSpPr>
        <p:spPr>
          <a:xfrm>
            <a:off x="594360" y="932688"/>
            <a:ext cx="5924763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Stromrichtige Widerstandsmessung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82872311-33EE-E3FA-0A07-433B8547A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4B0E3D9-2061-D50F-C8DB-1C2C3A3E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6EF3CA83-C8BA-0630-8EA7-860B8780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5E69C1-7EE3-77C6-B233-AC35442AF2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de-CH" sz="1600" dirty="0"/>
                  <a:t>Mit einem Ampèremeter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 = 1.000 Ω) und einem Voltmeter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 = 50.00 kΩ) soll der Nennwert eines Widerstandes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de-CH" sz="1600" dirty="0"/>
                  <a:t> = 1.000 kΩ nachgemessen werden. Die Spannungsquelle liefert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 = 100.0 V.</a:t>
                </a:r>
              </a:p>
              <a:p>
                <a:pPr marL="0" indent="0">
                  <a:buNone/>
                </a:pPr>
                <a:endParaRPr lang="de-CH" sz="1000" dirty="0"/>
              </a:p>
              <a:p>
                <a:r>
                  <a:rPr lang="de-CH" sz="1600" dirty="0"/>
                  <a:t>Ampèremeter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 (Strom richtig), Voltmeter misst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de-CH" sz="16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100.0 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num>
                        <m:den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1.000 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CH" sz="1600" i="1">
                              <a:latin typeface="Cambria Math" panose="02040503050406030204" pitchFamily="18" charset="0"/>
                            </a:rPr>
                            <m:t>+1.000 </m:t>
                          </m:r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kΩ</m:t>
                          </m:r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≈0.09990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V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=100.0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mess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U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sub>
                          </m:sSub>
                        </m:den>
                      </m:f>
                      <m:r>
                        <a:rPr lang="de-CH" sz="16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>
                              <a:latin typeface="Cambria Math" panose="02040503050406030204" pitchFamily="18" charset="0"/>
                            </a:rPr>
                            <m:t>A</m:t>
                          </m:r>
                        </m:sub>
                      </m:sSub>
                      <m:r>
                        <a:rPr lang="de-CH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de-CH" sz="1600" i="1">
                          <a:latin typeface="Cambria Math" panose="02040503050406030204" pitchFamily="18" charset="0"/>
                        </a:rPr>
                        <m:t>=1001 </m:t>
                      </m:r>
                      <m:r>
                        <m:rPr>
                          <m:sty m:val="p"/>
                        </m:rPr>
                        <a:rPr lang="de-CH" sz="1600" i="1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Relativer Fehler: +0.1000 % (zu gross, wegen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r>
                  <a:rPr lang="de-CH" sz="1600" dirty="0"/>
                  <a:t>Spannungsrichtig (5.1): gut für kleine Widerstände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≪ 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r>
                  <a:rPr lang="de-CH" sz="1600" dirty="0"/>
                  <a:t>Stromrichtig (5.2): gut für grosse Widerstände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>
                        <a:latin typeface="Cambria Math" panose="02040503050406030204" pitchFamily="18" charset="0"/>
                      </a:rPr>
                      <m:t>R</m:t>
                    </m:r>
                    <m:r>
                      <a:rPr lang="de-CH" sz="1600" i="1">
                        <a:latin typeface="Cambria Math" panose="02040503050406030204" pitchFamily="18" charset="0"/>
                      </a:rPr>
                      <m:t>≫ </m:t>
                    </m:r>
                    <m:sSub>
                      <m:sSubPr>
                        <m:ctrlPr>
                          <a:rPr lang="de-CH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e-CH" sz="1600" i="1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de-CH" sz="1600" dirty="0"/>
                  <a:t>)</a:t>
                </a:r>
              </a:p>
              <a:p>
                <a:pPr marL="0" indent="0">
                  <a:buNone/>
                </a:pPr>
                <a:endParaRPr lang="de-CH" sz="1600" dirty="0"/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5F5E69C1-7EE3-77C6-B233-AC35442AF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Stromrichtige Messschaltung">
            <a:extLst>
              <a:ext uri="{FF2B5EF4-FFF2-40B4-BE49-F238E27FC236}">
                <a16:creationId xmlns:a16="http://schemas.microsoft.com/office/drawing/2014/main" id="{3F62C2E5-E325-4B61-9C33-7D18318D9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425542"/>
            <a:ext cx="5040000" cy="28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6308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89D07-D09F-4D6D-4E25-5288B645D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7E87E50-F31A-577F-BC70-970C05655D4D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FEF401-478C-F750-BF3F-3567EFADE5C2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4ACE2-8B7B-8F67-3747-964584F4D2DA}"/>
              </a:ext>
            </a:extLst>
          </p:cNvPr>
          <p:cNvSpPr txBox="1"/>
          <p:nvPr/>
        </p:nvSpPr>
        <p:spPr>
          <a:xfrm>
            <a:off x="594360" y="932688"/>
            <a:ext cx="282756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57199F5-69BE-213A-2F5A-96F7008D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135DFAC-1F30-EDF8-A160-132FB59DD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3FBDB63-EBEC-E1E8-1C78-AA91E545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73D637A-C5D4-CB5F-3A09-85CF014E58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/>
                  <a:buNone/>
                </a:pPr>
                <a:r>
                  <a:rPr lang="de-CH" sz="1600" dirty="0"/>
                  <a:t>Gegeben ist das nebenstehende Netzwerk mit der Spannungsquelle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 und den Widerständen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 … 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pPr marL="0" indent="0">
                  <a:buFont typeface="Arial"/>
                  <a:buNone/>
                </a:pPr>
                <a:endParaRPr lang="de-CH" sz="600" dirty="0"/>
              </a:p>
              <a:p>
                <a:pPr marL="0" indent="0">
                  <a:buFont typeface="Arial"/>
                  <a:buNone/>
                </a:pPr>
                <a:r>
                  <a:rPr lang="de-CH" sz="1600" dirty="0"/>
                  <a:t>Berechnet den 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 allgemein.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F73D637A-C5D4-CB5F-3A09-85CF014E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696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Netzwerk">
            <a:extLst>
              <a:ext uri="{FF2B5EF4-FFF2-40B4-BE49-F238E27FC236}">
                <a16:creationId xmlns:a16="http://schemas.microsoft.com/office/drawing/2014/main" id="{3F691EA5-EEFE-B66C-0C53-6AFEECA09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2136869"/>
            <a:ext cx="5040000" cy="341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03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A1871FB-F9E9-A173-3A4E-0F288A459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6D1FB35-B135-37F8-5685-566EE6CBDDD0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053C9-9C19-3726-25A0-6119118317B8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590EFF-4D09-164F-020E-0A3430695D05}"/>
              </a:ext>
            </a:extLst>
          </p:cNvPr>
          <p:cNvSpPr txBox="1"/>
          <p:nvPr/>
        </p:nvSpPr>
        <p:spPr>
          <a:xfrm>
            <a:off x="594360" y="932688"/>
            <a:ext cx="282756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/>
              <a:t>Netzwerkanalyse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DDF3ACB0-F9E3-B563-C411-D0B259F60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58A190EA-DB06-C4EC-76FB-56BA415EC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819D8B15-78A3-C72C-CC86-239803FF2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B3AF598-0A3B-6D57-1AEA-7D639F213D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Knoten identifizieren und das Netzwerk übersichtlicher zeichnen (unten links).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 liegt direkt parallel zur idealen Spannungsquelle ⇒ kein Einfluss auf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.</a:t>
                </a:r>
              </a:p>
              <a:p>
                <a:r>
                  <a:rPr lang="de-CH" sz="1600" dirty="0"/>
                  <a:t>Strom durch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 (in Serie mit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):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de-CH" sz="160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Stromteiler 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CH" sz="1600" i="1" smtClean="0">
                        <a:latin typeface="Cambria Math" panose="02040503050406030204" pitchFamily="18" charset="0"/>
                      </a:rPr>
                      <m:t>∥ </m:t>
                    </m:r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)+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</p:txBody>
          </p:sp>
        </mc:Choice>
        <mc:Fallback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FB3AF598-0A3B-6D57-1AEA-7D639F213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fik 10" descr="Netzwerk">
            <a:extLst>
              <a:ext uri="{FF2B5EF4-FFF2-40B4-BE49-F238E27FC236}">
                <a16:creationId xmlns:a16="http://schemas.microsoft.com/office/drawing/2014/main" id="{555E0DBB-2E93-7C21-5078-EF38D07B2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420" y="1412875"/>
            <a:ext cx="3692835" cy="2500000"/>
          </a:xfrm>
          <a:prstGeom prst="rect">
            <a:avLst/>
          </a:prstGeom>
        </p:spPr>
      </p:pic>
      <p:pic>
        <p:nvPicPr>
          <p:cNvPr id="9" name="Grafik 11" descr="Übersichtlicher gezeichnetes äquivalentes Netzwerk">
            <a:extLst>
              <a:ext uri="{FF2B5EF4-FFF2-40B4-BE49-F238E27FC236}">
                <a16:creationId xmlns:a16="http://schemas.microsoft.com/office/drawing/2014/main" id="{E2661CE3-2794-415B-3463-D174C3801D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838" y="4187643"/>
            <a:ext cx="5040000" cy="1950464"/>
          </a:xfrm>
          <a:prstGeom prst="rect">
            <a:avLst/>
          </a:prstGeom>
        </p:spPr>
      </p:pic>
      <p:cxnSp>
        <p:nvCxnSpPr>
          <p:cNvPr id="11" name="Gerade Verbindung mit Pfeil 10">
            <a:extLst>
              <a:ext uri="{FF2B5EF4-FFF2-40B4-BE49-F238E27FC236}">
                <a16:creationId xmlns:a16="http://schemas.microsoft.com/office/drawing/2014/main" id="{64FE35DF-A372-DA62-8994-F7A93813870C}"/>
              </a:ext>
            </a:extLst>
          </p:cNvPr>
          <p:cNvCxnSpPr>
            <a:stCxn id="8" idx="2"/>
          </p:cNvCxnSpPr>
          <p:nvPr/>
        </p:nvCxnSpPr>
        <p:spPr>
          <a:xfrm flipH="1">
            <a:off x="3251837" y="3912875"/>
            <a:ext cx="1" cy="6972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0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4C370-9D0D-1F6F-6F50-118B2EAF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CD87314-8943-1CD3-EA53-19F3B9ADB641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2655F1-49AB-7B4A-6386-30029D817B9D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C4FD5-87F5-2E47-6F34-114EA82FDC29}"/>
              </a:ext>
            </a:extLst>
          </p:cNvPr>
          <p:cNvSpPr txBox="1"/>
          <p:nvPr/>
        </p:nvSpPr>
        <p:spPr>
          <a:xfrm>
            <a:off x="594360" y="932688"/>
            <a:ext cx="306289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 err="1"/>
              <a:t>Moodle</a:t>
            </a:r>
            <a:r>
              <a:rPr lang="de-CH" sz="3200" dirty="0"/>
              <a:t> Aufgabe 2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A353449-AE22-7418-5AD4-5563D52DA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C4BDAE19-1B3D-84B8-B500-D510A5459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9474B97-732F-C29D-A2CF-7EFE39CF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  <p:pic>
        <p:nvPicPr>
          <p:cNvPr id="8" name="Grafik 10" descr="Moodle-Aufgabe 2">
            <a:extLst>
              <a:ext uri="{FF2B5EF4-FFF2-40B4-BE49-F238E27FC236}">
                <a16:creationId xmlns:a16="http://schemas.microsoft.com/office/drawing/2014/main" id="{3A6B2D12-7874-4049-D9AC-E64F9DAEB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69529"/>
            <a:ext cx="10728325" cy="435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2585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5251DFC-368C-30A3-FB08-9CD3AF837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ABCACD9-49A0-F47B-16FF-885C06FB6225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7F8E55-DAC9-0E4C-BB22-39D12E49BAC6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4C0A53-5BC4-5D50-6703-A12B89CBF7AA}"/>
              </a:ext>
            </a:extLst>
          </p:cNvPr>
          <p:cNvSpPr txBox="1"/>
          <p:nvPr/>
        </p:nvSpPr>
        <p:spPr>
          <a:xfrm>
            <a:off x="594360" y="932688"/>
            <a:ext cx="306289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 err="1"/>
              <a:t>Moodle</a:t>
            </a:r>
            <a:r>
              <a:rPr lang="de-CH" sz="3200" dirty="0"/>
              <a:t> Aufgabe 2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BE1FB139-FD32-633B-4DC1-12840B3A3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9252871C-CFEE-7058-81D9-5343E866B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E9F2626-F5D8-9106-7607-B5B855AF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80BD57D-4A2D-0B9F-9DA8-2C1C858124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Nullabgleich: Durch das Messinstrument fliesst kein Strom.</a:t>
                </a:r>
              </a:p>
              <a:p>
                <a:r>
                  <a:rPr lang="de-CH" sz="1600" dirty="0"/>
                  <a:t>⇒ Beide Zweige sind unbelastete Spannungsteiler mit gleichem Teilerverhältnis: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⇔ 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=153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num>
                        <m:den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200 </m:t>
                          </m:r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Ω</m:t>
                          </m:r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≈76.5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80BD57D-4A2D-0B9F-9DA8-2C1C85812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10" descr="Moodle-Aufgabe 2">
            <a:extLst>
              <a:ext uri="{FF2B5EF4-FFF2-40B4-BE49-F238E27FC236}">
                <a16:creationId xmlns:a16="http://schemas.microsoft.com/office/drawing/2014/main" id="{5BD2F931-AF5E-2ECE-809C-68D4E9EDF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1412875"/>
            <a:ext cx="5552234" cy="225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138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C0C4C-FC88-D430-ED52-D953FDE25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E17468-54E6-5D66-3C81-E4CE91D2189B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88AB4-954E-153C-1E1D-C653CDD1FFF1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7194D-B25F-25CF-436E-B2537EA43409}"/>
              </a:ext>
            </a:extLst>
          </p:cNvPr>
          <p:cNvSpPr txBox="1"/>
          <p:nvPr/>
        </p:nvSpPr>
        <p:spPr>
          <a:xfrm>
            <a:off x="594360" y="932688"/>
            <a:ext cx="306289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 err="1"/>
              <a:t>Moodle</a:t>
            </a:r>
            <a:r>
              <a:rPr lang="de-CH" sz="3200" dirty="0"/>
              <a:t> Aufgabe 1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79494DBA-DBC8-72D5-76D1-09B9DC24A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D0882D53-C4A3-7B05-BCF7-E824A137E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B39371DA-2D21-3228-5CCA-44115CE4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  <p:pic>
        <p:nvPicPr>
          <p:cNvPr id="6" name="Grafik 10" descr="Moodle-Aufgabe 1">
            <a:extLst>
              <a:ext uri="{FF2B5EF4-FFF2-40B4-BE49-F238E27FC236}">
                <a16:creationId xmlns:a16="http://schemas.microsoft.com/office/drawing/2014/main" id="{EADBBF37-C791-02D4-5043-529EE987D7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8" y="1412875"/>
            <a:ext cx="7004916" cy="48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5638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27AA20A-9D61-3B8D-3F89-5F541CD6A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3412605-7EF4-E41B-07FE-900E716E4C08}"/>
              </a:ext>
            </a:extLst>
          </p:cNvPr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D0A03-62F3-5EFA-01DD-2F5CE0693542}"/>
              </a:ext>
            </a:extLst>
          </p:cNvPr>
          <p:cNvSpPr txBox="1"/>
          <p:nvPr/>
        </p:nvSpPr>
        <p:spPr>
          <a:xfrm>
            <a:off x="873810" y="542673"/>
            <a:ext cx="410369" cy="13080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lang="de-CH" sz="850" b="1" dirty="0">
                <a:solidFill>
                  <a:srgbClr val="737373"/>
                </a:solidFill>
                <a:latin typeface="Aptos"/>
              </a:rPr>
              <a:t>Aufgabe</a:t>
            </a:r>
            <a:endParaRPr sz="850" b="1" dirty="0">
              <a:solidFill>
                <a:srgbClr val="737373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BC3DA8-0B73-170D-AF83-04B9CC0054D8}"/>
              </a:ext>
            </a:extLst>
          </p:cNvPr>
          <p:cNvSpPr txBox="1"/>
          <p:nvPr/>
        </p:nvSpPr>
        <p:spPr>
          <a:xfrm>
            <a:off x="594360" y="932688"/>
            <a:ext cx="3062890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de-CH" sz="3200" dirty="0" err="1"/>
              <a:t>Moodle</a:t>
            </a:r>
            <a:r>
              <a:rPr lang="de-CH" sz="3200" dirty="0"/>
              <a:t> Aufgabe 1</a:t>
            </a:r>
            <a:endParaRPr sz="31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65C7B460-02C0-9ABB-C778-EFEA27A39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B9D18-6E31-4316-AC21-042CCEC57C8B}" type="datetime1">
              <a:rPr lang="de-CH" smtClean="0"/>
              <a:t>14.10.2026</a:t>
            </a:fld>
            <a:endParaRPr lang="en-US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F260628B-8F33-E662-749A-B847B8644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6597856-DC59-BFC8-4343-8A6B55FE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7D0DF9-E3AE-A664-EE10-4E9F255F8D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42900" indent="-3429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de-CH" sz="1600" dirty="0"/>
                  <a:t>In Serie fliesst überall derselbe Strom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de-CH" sz="1600" dirty="0"/>
                  <a:t>. Ohm’sches Gesetz: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=100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⋅ 523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mA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≈52.3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≈105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≈157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Maschenregel: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)≈314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 lang="de-CH" sz="1600" dirty="0"/>
              </a:p>
              <a:p>
                <a:r>
                  <a:rPr lang="de-CH" sz="1600" dirty="0"/>
                  <a:t>Neuer Gesamtwiderstand für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CH" sz="1600" i="1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de-CH" sz="160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de-CH" sz="1600" dirty="0"/>
                  <a:t> = 250 mA bei gleicher Spannung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6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600" dirty="0"/>
                  <a:t>:</a:t>
                </a:r>
              </a:p>
              <a:p>
                <a:pPr marL="0" indent="0" algn="ctr">
                  <a:buFont typeface="Arial"/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U</m:t>
                          </m:r>
                        </m:num>
                        <m:den>
                          <m:sSub>
                            <m:sSubPr>
                              <m:ctrl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a:rPr lang="de-CH" sz="16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CH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de-CH" sz="160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a:rPr lang="de-CH" sz="16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CH" sz="1600" i="1" smtClean="0">
                          <a:latin typeface="Cambria Math" panose="02040503050406030204" pitchFamily="18" charset="0"/>
                        </a:rPr>
                        <m:t>≈855 </m:t>
                      </m:r>
                      <m:r>
                        <m:rPr>
                          <m:sty m:val="p"/>
                        </m:rPr>
                        <a:rPr lang="de-CH" sz="1600" i="1" smtClean="0"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de-CH" sz="1600" dirty="0"/>
              </a:p>
              <a:p>
                <a:pPr marL="0" indent="0">
                  <a:buFont typeface="Arial"/>
                  <a:buNone/>
                </a:pPr>
                <a:r>
                  <a:rPr lang="de-CH" sz="1200" i="1" dirty="0"/>
                  <a:t>Ungerundetes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CH" sz="1200" i="1" smtClean="0">
                        <a:latin typeface="Cambria Math" panose="02040503050406030204" pitchFamily="18" charset="0"/>
                      </a:rPr>
                      <m:t>U</m:t>
                    </m:r>
                  </m:oMath>
                </a14:m>
                <a:r>
                  <a:rPr lang="de-CH" sz="1200" i="1" dirty="0"/>
                  <a:t> verwenden!</a:t>
                </a:r>
                <a:endParaRPr lang="de-CH" sz="12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727D0DF9-E3AE-A664-EE10-4E9F255F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4163" y="1412875"/>
                <a:ext cx="5256000" cy="4860000"/>
              </a:xfrm>
              <a:prstGeom prst="rect">
                <a:avLst/>
              </a:prstGeom>
              <a:blipFill>
                <a:blip r:embed="rId3"/>
                <a:stretch>
                  <a:fillRect l="-464" t="-376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fik 10" descr="Moodle-Aufgabe 1">
            <a:extLst>
              <a:ext uri="{FF2B5EF4-FFF2-40B4-BE49-F238E27FC236}">
                <a16:creationId xmlns:a16="http://schemas.microsoft.com/office/drawing/2014/main" id="{B36D092C-9F08-B704-5715-EF145D61C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38" y="1412875"/>
            <a:ext cx="5040000" cy="349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96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4360" y="475488"/>
            <a:ext cx="969264" cy="292608"/>
          </a:xfrm>
          <a:prstGeom prst="roundRect">
            <a:avLst/>
          </a:prstGeom>
          <a:solidFill>
            <a:srgbClr val="EEEEEA"/>
          </a:solidFill>
          <a:ln w="10160">
            <a:solidFill>
              <a:srgbClr val="EEE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484632"/>
            <a:ext cx="969264" cy="24688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850" b="1">
                <a:solidFill>
                  <a:srgbClr val="737373"/>
                </a:solidFill>
                <a:latin typeface="Aptos"/>
              </a:rPr>
              <a:t>AM ENDE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688"/>
            <a:ext cx="1051560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00" b="1">
                <a:solidFill>
                  <a:srgbClr val="171717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609344"/>
            <a:ext cx="96926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>
                <a:solidFill>
                  <a:srgbClr val="737373"/>
                </a:solidFill>
                <a:latin typeface="Aptos"/>
              </a:rPr>
              <a:t>Drei Dinge, die heute sitzen sollten.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246120"/>
            <a:ext cx="14789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Maschenregel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9768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246120"/>
            <a:ext cx="127554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b="1" dirty="0">
                <a:solidFill>
                  <a:srgbClr val="171717"/>
                </a:solidFill>
                <a:latin typeface="Aptos"/>
              </a:rPr>
              <a:t>Knotenregel</a:t>
            </a:r>
            <a:endParaRPr lang="de-CH"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01000" y="2423160"/>
            <a:ext cx="3401568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2697480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737373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46120"/>
            <a:ext cx="1948995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de-CH" sz="1800" b="1" dirty="0">
                <a:solidFill>
                  <a:srgbClr val="171717"/>
                </a:solidFill>
                <a:latin typeface="Aptos"/>
              </a:rPr>
              <a:t>Maybe Messger</a:t>
            </a:r>
            <a:r>
              <a:rPr lang="de-CH" b="1" dirty="0">
                <a:solidFill>
                  <a:srgbClr val="171717"/>
                </a:solidFill>
                <a:latin typeface="Aptos"/>
              </a:rPr>
              <a:t>äte</a:t>
            </a:r>
            <a:endParaRPr sz="1800" b="1" dirty="0">
              <a:solidFill>
                <a:srgbClr val="171717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21792" y="5074920"/>
            <a:ext cx="182880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71717"/>
                </a:solidFill>
                <a:latin typeface="Aptos"/>
              </a:rPr>
              <a:t>Fragen?</a:t>
            </a:r>
          </a:p>
        </p:txBody>
      </p:sp>
      <p:sp>
        <p:nvSpPr>
          <p:cNvPr id="24" name="Datumsplatzhalter 23">
            <a:extLst>
              <a:ext uri="{FF2B5EF4-FFF2-40B4-BE49-F238E27FC236}">
                <a16:creationId xmlns:a16="http://schemas.microsoft.com/office/drawing/2014/main" id="{2EA94921-0C4B-A8A0-74D0-1080596E2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9D1AD-ABFB-4E10-B63C-61BB81D4C1AD}" type="datetime1">
              <a:rPr lang="de-CH" smtClean="0"/>
              <a:t>14.10.2026</a:t>
            </a:fld>
            <a:endParaRPr lang="en-US" dirty="0"/>
          </a:p>
        </p:txBody>
      </p:sp>
      <p:sp>
        <p:nvSpPr>
          <p:cNvPr id="25" name="Fußzeilenplatzhalter 24">
            <a:extLst>
              <a:ext uri="{FF2B5EF4-FFF2-40B4-BE49-F238E27FC236}">
                <a16:creationId xmlns:a16="http://schemas.microsoft.com/office/drawing/2014/main" id="{9438F619-6A04-AD9B-6C65-51AEB489A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Enrico Putzi W05</a:t>
            </a:r>
          </a:p>
        </p:txBody>
      </p:sp>
      <p:sp>
        <p:nvSpPr>
          <p:cNvPr id="26" name="Foliennummernplatzhalter 25">
            <a:extLst>
              <a:ext uri="{FF2B5EF4-FFF2-40B4-BE49-F238E27FC236}">
                <a16:creationId xmlns:a16="http://schemas.microsoft.com/office/drawing/2014/main" id="{6A495C1E-4949-515F-CE44-BD0B40A2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2678</Words>
  <Application>Microsoft Office PowerPoint</Application>
  <PresentationFormat>Breitbild</PresentationFormat>
  <Paragraphs>335</Paragraphs>
  <Slides>32</Slides>
  <Notes>32</Notes>
  <HiddenSlides>8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32</vt:i4>
      </vt:variant>
    </vt:vector>
  </HeadingPairs>
  <TitlesOfParts>
    <vt:vector size="37" baseType="lpstr">
      <vt:lpstr>Aptos</vt:lpstr>
      <vt:lpstr>Arial</vt:lpstr>
      <vt:lpstr>Calibri</vt:lpstr>
      <vt:lpstr>Cambria Math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W05</dc:title>
  <dc:subject/>
  <dc:creator>Enrico Putzi</dc:creator>
  <cp:keywords/>
  <dc:description>generated using python-pptx</dc:description>
  <cp:lastModifiedBy>Putzi  Enrico</cp:lastModifiedBy>
  <cp:revision>22</cp:revision>
  <dcterms:created xsi:type="dcterms:W3CDTF">2013-01-27T09:14:16Z</dcterms:created>
  <dcterms:modified xsi:type="dcterms:W3CDTF">2026-10-14T14:29:58Z</dcterms:modified>
  <cp:category/>
</cp:coreProperties>
</file>