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64" r:id="rId4"/>
    <p:sldId id="265" r:id="rId5"/>
    <p:sldId id="266" r:id="rId6"/>
    <p:sldId id="267" r:id="rId7"/>
    <p:sldId id="268" r:id="rId8"/>
    <p:sldId id="273" r:id="rId9"/>
    <p:sldId id="269" r:id="rId10"/>
    <p:sldId id="274" r:id="rId11"/>
    <p:sldId id="270" r:id="rId12"/>
    <p:sldId id="275" r:id="rId13"/>
    <p:sldId id="271" r:id="rId14"/>
    <p:sldId id="276" r:id="rId15"/>
    <p:sldId id="272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5" r:id="rId24"/>
    <p:sldId id="284" r:id="rId25"/>
    <p:sldId id="262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54" y="6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9192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Cover. Pro Woche nur Übungsnummer, Thema und ggf. Website-Link ändern.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422BD-4682-3510-773D-0E3F069E4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532212-BEAC-DA66-8113-5FE62D38CF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D75834-F22F-C8A9-92EE-AB3F2FAF58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123843-C1D1-E59D-3494-3C41D549FA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5413200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4D14A-CAC6-903C-EDEF-C42EA6423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CD7856-292C-6FEC-4810-583E506A91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CEE37C-8ED1-29A7-FE3B-370F9E4E02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DE3A7D-53D3-2533-A19A-0E2DC54ABE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1404681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160A9-7B9C-F2A3-DC81-7646E27D6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B15D0F-F883-B56B-9B54-ACA81D5E00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70F218-409C-9AA5-47F9-703D2544D4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D6AA06-D372-8E6B-24B7-E388402553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2679449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79CA9-D6F8-6C49-C319-4674A9A0C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8FB44C-CB64-4BB9-E6EB-D93C2F2748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DC61C9-E66A-2A3A-055B-98D28AEEE8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FE254E-7ED8-3071-2B74-FA052013CE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2925396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38CAC-315B-8D9E-CF33-9C165C9E4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0975FE-2636-5446-FFA9-D7A6B7D5D7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2CCBF8-34EC-2460-BE22-B596AA9DE6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AE79F7-124F-03AD-5982-9B007BCE11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8343533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2DC1C-5D74-CD47-1317-21774EFD8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FB0DA9-D105-AC00-F7E5-65C51588FB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4E0BBD-6E5D-0A4B-EFA5-8006B8E3EF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1D4692-D515-B63F-BFFE-A4DBADA203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565839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4F319-BB91-030D-CAB8-6594DFA98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20E08D-D583-8AA3-8689-D52AF51C73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FD58AD-31FA-A184-023C-A00B1A88AB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DD631C-A48E-E4B5-8BB2-928F66A156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6298034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BB8A1-A36B-3C05-6030-CD00B60AE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68E549-4486-9B6D-6037-1CA39B9770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42B3AC-EA7A-A079-BF09-1CD2296319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D5C167-FEDB-8148-0198-735BD8E085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6559203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4F525-F1C8-0A18-B501-F7D015482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5A4999-95C3-E8BA-4C2B-39C041D250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8E4113-773B-0C00-8C00-920B5BE808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5CE509-58F0-92A0-82C7-6928410E76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937433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4CE2B-A1E5-93FB-6944-D7A28F759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8153B7-6BBA-ACB3-B799-F6F8C502C8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717A82-B61C-E544-6CAE-3342A74D91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FB3916-D2F1-D7E8-400A-A95AF536BC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277265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817AE-8FE7-5348-2188-1550A3787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B3062-7D55-1C7D-3640-D762996FF7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CCC5AF-7C8A-3EAB-9591-10F228D82C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D5E71B-DAD2-6151-E095-069BDCBD06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013109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EDD57-CD00-8398-CD07-94C236040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C9E6A6-0D1D-A69C-7C4C-724673B272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07C07E-EA96-F996-4365-5531F203B2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085528-BE87-7646-66FC-85862ADD19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5253701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7E55A-97F1-4DF0-C9E2-939A2825A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58BDEC-D77E-6472-926A-5611375CDE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DBD873-663B-D2E4-3F27-C65C5A4984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27D386-2C58-F7F8-58A4-63F0DC61AC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113983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58DC8-400B-CEB1-ECED-17E15BF9C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4BECA3-6DF5-7952-2828-04F751F8BF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9A7624-316F-FCDA-2196-36E4B28C31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43B68E-D7A7-18BD-E3B8-9A212AEF50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536713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90597-4110-0C38-6DDA-DEF938BA9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5961E6-677D-1323-3BF9-0706A97007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7C34EE-97D3-F30D-8C65-A8CEECC817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Für eine grosse Formel, einen Rechenweg oder eine Lösung. Nicht mit Text vollpacken.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1B6E5E-1106-D659-F3F6-FF79613830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8368686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23C74-7E80-9878-4F2C-B7DB220C3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B92EB7-53F1-51A2-392D-A41802F054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076BB9-E87B-0F88-E5EB-2ACADAD818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Für eine grosse Formel, einen Rechenweg oder eine Lösung. Nicht mit Text vollpacken.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7C3B5B-63F0-7F71-919E-4858FB9891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1281301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CE7B9-504B-EE1E-64DB-1485880E9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F6F7E2-5391-EF14-C86F-97976D3A71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79743A-E888-8473-E016-65030C02D2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5DE5A0-6A57-F8E4-F003-D7ACE51F7B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896455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FF14C-6987-5B8A-C171-FF821DEF4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B5345D-3B79-67B8-3C1E-BBCA44B38D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1E0EBB-78D1-D6DA-066C-AFBD98B90B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Für eine grosse Formel, einen Rechenweg oder eine Lösung. Nicht mit Text vollpacken.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E3CE4E-5801-DF61-ED0E-05AFA3F1BC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6543566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7A47B-55AB-5311-46F4-DE7895A52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68229D-86D9-53A3-E657-BF04D701A5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A50050-902D-ED90-0EBE-8FE27C25F1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Für eine grosse Formel, einen Rechenweg oder eine Lösung. Nicht mit Text vollpacken.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8C06A4-4935-C412-7A66-B2E551543C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1833665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3DBAC-8543-049C-EE18-A0FFF588A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838D42-A59B-E23A-1B07-92009AD87B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D86788-DAFF-C08E-A83C-6828574A7D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A18F85-3A12-7C3A-886E-44C4BC860E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20542204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9E965-BA4B-A4FA-1F38-710C20B92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2120EB-162B-767D-167C-C5A81879B4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EB8B0F-DDA9-E5FC-9BFD-7AD05649E1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8954A4-EE40-3EA5-4350-7040578634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82787070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B27E1-C143-6FE7-0047-9957C42E6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C47565-0CA6-9806-9072-FE966946A1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198EA4-BC52-60AB-D652-712F33122F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Für eine grosse Formel, einen Rechenweg oder eine Lösung. Nicht mit Text vollpacken.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CC52FC-8F2C-20BF-6E81-CEB9EBB823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805156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Optional: QR-Code oder kurzer Link zum Fragen-Tool.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7F7E1-EF08-4C6E-A82B-C4CB4D5E19FD}" type="datetime1">
              <a:rPr lang="de-CH" smtClean="0"/>
              <a:t>07.10.2026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FF216-1AB8-4386-A940-CB3B560F61EF}" type="datetime1">
              <a:rPr lang="de-CH" smtClean="0"/>
              <a:t>07.10.2026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2FB8D-2D59-400E-9FDA-4BC763B84227}" type="datetime1">
              <a:rPr lang="de-CH" smtClean="0"/>
              <a:t>07.10.2026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7B7F3-2300-4BC6-A3B8-C5C40FA09CA4}" type="datetime1">
              <a:rPr lang="de-CH" smtClean="0"/>
              <a:t>07.10.2026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A51CB-DEDE-40FD-B08D-221B8702FE3A}" type="datetime1">
              <a:rPr lang="de-CH" smtClean="0"/>
              <a:t>07.10.2026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W04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A8D01-AEC4-4043-A159-A04E9D39F5CD}" type="datetime1">
              <a:rPr lang="de-CH" smtClean="0"/>
              <a:t>07.10.2026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W04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BA6F4-601B-449A-AB88-A251CAA6BC99}" type="datetime1">
              <a:rPr lang="de-CH" smtClean="0"/>
              <a:t>07.10.2026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06F76-0169-4325-9D91-88C8323BE89C}" type="datetime1">
              <a:rPr lang="de-CH" smtClean="0"/>
              <a:t>07.10.2026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40A3F-A791-4831-9A3C-3B92F51293DE}" type="datetime1">
              <a:rPr lang="de-CH" smtClean="0"/>
              <a:t>07.10.2026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DE2C0-E014-4A92-8BB3-4A6F7E69AB90}" type="datetime1">
              <a:rPr lang="de-CH" smtClean="0"/>
              <a:t>07.10.2026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F11CC-AF1A-4539-A312-CA1ED165E7E2}" type="datetime1">
              <a:rPr lang="de-CH" smtClean="0"/>
              <a:t>07.10.2026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578E57-94B6-44D3-BE84-2C6D4C2B1B13}" type="datetime1">
              <a:rPr lang="de-CH" smtClean="0"/>
              <a:t>07.10.2026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90426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Enrico Putzi W04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796732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530352"/>
            <a:ext cx="2514600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486171" y="597537"/>
            <a:ext cx="730969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50" b="1" dirty="0">
                <a:solidFill>
                  <a:srgbClr val="737373"/>
                </a:solidFill>
                <a:latin typeface="Aptos"/>
              </a:rPr>
              <a:t>ENRICO PUTZI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7955279" cy="1508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300" b="1" dirty="0" err="1">
                <a:solidFill>
                  <a:srgbClr val="171717"/>
                </a:solidFill>
                <a:latin typeface="Aptos"/>
              </a:rPr>
              <a:t>Netzwerke</a:t>
            </a:r>
            <a:r>
              <a:rPr sz="4300" b="1" dirty="0">
                <a:solidFill>
                  <a:srgbClr val="171717"/>
                </a:solidFill>
                <a:latin typeface="Aptos"/>
              </a:rPr>
              <a:t>
und </a:t>
            </a:r>
            <a:r>
              <a:rPr sz="4300" b="1" dirty="0" err="1">
                <a:solidFill>
                  <a:srgbClr val="171717"/>
                </a:solidFill>
                <a:latin typeface="Aptos"/>
              </a:rPr>
              <a:t>Schaltungen</a:t>
            </a:r>
            <a:r>
              <a:rPr sz="4300" b="1" dirty="0">
                <a:solidFill>
                  <a:srgbClr val="171717"/>
                </a:solidFill>
                <a:latin typeface="Aptos"/>
              </a:rPr>
              <a:t>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3255264"/>
            <a:ext cx="1139736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dirty="0" err="1">
                <a:solidFill>
                  <a:srgbClr val="737373"/>
                </a:solidFill>
                <a:latin typeface="Aptos"/>
              </a:rPr>
              <a:t>Übung</a:t>
            </a:r>
            <a:r>
              <a:rPr sz="2100" b="1" dirty="0">
                <a:solidFill>
                  <a:srgbClr val="737373"/>
                </a:solidFill>
                <a:latin typeface="Aptos"/>
              </a:rPr>
              <a:t> </a:t>
            </a:r>
            <a:r>
              <a:rPr lang="de-CH" sz="2100" b="1" dirty="0">
                <a:solidFill>
                  <a:srgbClr val="737373"/>
                </a:solidFill>
                <a:latin typeface="Aptos"/>
              </a:rPr>
              <a:t>04</a:t>
            </a:r>
            <a:endParaRPr sz="210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12648" y="3712463"/>
            <a:ext cx="3584315" cy="2616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1700" b="0" dirty="0">
                <a:solidFill>
                  <a:srgbClr val="737373"/>
                </a:solidFill>
                <a:latin typeface="Aptos"/>
              </a:rPr>
              <a:t>Stationäres elektrische Strömungsfeld</a:t>
            </a:r>
            <a:endParaRPr sz="1700" b="0" dirty="0">
              <a:solidFill>
                <a:srgbClr val="737373"/>
              </a:solidFill>
              <a:latin typeface="Aptos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621792" y="4498848"/>
            <a:ext cx="2121408" cy="0"/>
          </a:xfrm>
          <a:prstGeom prst="line">
            <a:avLst/>
          </a:prstGeom>
          <a:ln w="254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21792" y="4736592"/>
            <a:ext cx="2981585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de-CH" sz="1100" dirty="0">
                <a:solidFill>
                  <a:srgbClr val="737373"/>
                </a:solidFill>
                <a:latin typeface="Aptos"/>
              </a:rPr>
              <a:t>https://eputzi.github.io/courses/nus1/index.html</a:t>
            </a:r>
            <a:endParaRPr sz="1100" b="0" dirty="0">
              <a:solidFill>
                <a:srgbClr val="737373"/>
              </a:solidFill>
              <a:latin typeface="Aptos"/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FC2376DB-FD73-E522-DD12-8C3D47FFD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3435" y="236574"/>
            <a:ext cx="2689505" cy="2689505"/>
          </a:xfrm>
          <a:prstGeom prst="rect">
            <a:avLst/>
          </a:prstGeom>
        </p:spPr>
      </p:pic>
      <p:sp>
        <p:nvSpPr>
          <p:cNvPr id="15" name="TextBox 7">
            <a:extLst>
              <a:ext uri="{FF2B5EF4-FFF2-40B4-BE49-F238E27FC236}">
                <a16:creationId xmlns:a16="http://schemas.microsoft.com/office/drawing/2014/main" id="{568BB238-676F-2AD1-5311-843CEFE0748F}"/>
              </a:ext>
            </a:extLst>
          </p:cNvPr>
          <p:cNvSpPr txBox="1"/>
          <p:nvPr/>
        </p:nvSpPr>
        <p:spPr>
          <a:xfrm>
            <a:off x="10171249" y="2926079"/>
            <a:ext cx="573875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de-CH" sz="1100" dirty="0">
                <a:solidFill>
                  <a:srgbClr val="737373"/>
                </a:solidFill>
                <a:latin typeface="Aptos"/>
              </a:rPr>
              <a:t>Webseite</a:t>
            </a:r>
            <a:endParaRPr sz="1100" b="0" dirty="0">
              <a:solidFill>
                <a:srgbClr val="737373"/>
              </a:solidFill>
              <a:latin typeface="Aptos"/>
            </a:endParaRP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A10E91CE-7B15-F9A8-AE20-F447081B85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3435" y="3246120"/>
            <a:ext cx="2689505" cy="2689505"/>
          </a:xfrm>
          <a:prstGeom prst="rect">
            <a:avLst/>
          </a:prstGeom>
        </p:spPr>
      </p:pic>
      <p:sp>
        <p:nvSpPr>
          <p:cNvPr id="19" name="TextBox 7">
            <a:extLst>
              <a:ext uri="{FF2B5EF4-FFF2-40B4-BE49-F238E27FC236}">
                <a16:creationId xmlns:a16="http://schemas.microsoft.com/office/drawing/2014/main" id="{D71EEF3B-ED6D-524B-767C-8CC0B281E789}"/>
              </a:ext>
            </a:extLst>
          </p:cNvPr>
          <p:cNvSpPr txBox="1"/>
          <p:nvPr/>
        </p:nvSpPr>
        <p:spPr>
          <a:xfrm>
            <a:off x="10249795" y="5850986"/>
            <a:ext cx="416781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de-CH" sz="1100" dirty="0">
                <a:solidFill>
                  <a:srgbClr val="737373"/>
                </a:solidFill>
                <a:latin typeface="Aptos"/>
              </a:rPr>
              <a:t>Fragen</a:t>
            </a:r>
            <a:endParaRPr sz="1100" b="0" dirty="0">
              <a:solidFill>
                <a:srgbClr val="737373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2252" y="542673"/>
            <a:ext cx="793487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Organisatorisch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5063502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Neues Kapitel neues Glück?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2761488"/>
            <a:ext cx="5461431" cy="184665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b="0" dirty="0">
                <a:solidFill>
                  <a:srgbClr val="171717"/>
                </a:solidFill>
                <a:latin typeface="Aptos"/>
              </a:rPr>
              <a:t>Elektrischer Strom</a:t>
            </a:r>
            <a:r>
              <a:rPr lang="de-CH" sz="2000" dirty="0">
                <a:solidFill>
                  <a:srgbClr val="171717"/>
                </a:solidFill>
                <a:latin typeface="Aptos"/>
              </a:rPr>
              <a:t> und Stromdichte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dirty="0">
                <a:solidFill>
                  <a:srgbClr val="171717"/>
                </a:solidFill>
                <a:latin typeface="Aptos"/>
              </a:rPr>
              <a:t>Ladungsträgerbewegung im Leiter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b="0" dirty="0">
                <a:solidFill>
                  <a:srgbClr val="171717"/>
                </a:solidFill>
                <a:latin typeface="Aptos"/>
              </a:rPr>
              <a:t>Spezifische Leitfähigkeit und spez. Widerstand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b="0" dirty="0" err="1">
                <a:solidFill>
                  <a:srgbClr val="171717"/>
                </a:solidFill>
                <a:latin typeface="Aptos"/>
              </a:rPr>
              <a:t>Ohmsches</a:t>
            </a:r>
            <a:r>
              <a:rPr lang="de-CH" sz="2000" b="0" dirty="0">
                <a:solidFill>
                  <a:srgbClr val="171717"/>
                </a:solidFill>
                <a:latin typeface="Aptos"/>
              </a:rPr>
              <a:t> Gesetz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dirty="0">
                <a:solidFill>
                  <a:srgbClr val="171717"/>
                </a:solidFill>
                <a:latin typeface="Aptos"/>
                <a:sym typeface="Wingdings" panose="05000000000000000000" pitchFamily="2" charset="2"/>
              </a:rPr>
              <a:t>Neue Grenzflächen :(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dirty="0">
                <a:solidFill>
                  <a:srgbClr val="171717"/>
                </a:solidFill>
                <a:latin typeface="Aptos"/>
                <a:sym typeface="Wingdings" panose="05000000000000000000" pitchFamily="2" charset="2"/>
              </a:rPr>
              <a:t>Energie und Leistung</a:t>
            </a: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FA1345AC-CE9B-7FE2-5382-D92AEFB1F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0068A-9DB3-40F5-AFB1-2461A91696D3}" type="datetime1">
              <a:rPr lang="de-CH" smtClean="0"/>
              <a:t>07.10.2026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5890F6DA-FF1C-B12F-C9A4-D27FAC23D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W04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00071AF8-AC7C-5E34-152B-776853FD6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6FAC6A-1124-7389-721B-DD93DC0BA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F2D04F3-AD8E-C688-57F1-C09F56758100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BBDA96-5407-0EC4-3020-7346F9C8ED0E}"/>
              </a:ext>
            </a:extLst>
          </p:cNvPr>
          <p:cNvSpPr txBox="1"/>
          <p:nvPr/>
        </p:nvSpPr>
        <p:spPr>
          <a:xfrm>
            <a:off x="893849" y="542673"/>
            <a:ext cx="370294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Theorie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550581-7EE4-D89F-3F1B-7045AA996F69}"/>
              </a:ext>
            </a:extLst>
          </p:cNvPr>
          <p:cNvSpPr txBox="1"/>
          <p:nvPr/>
        </p:nvSpPr>
        <p:spPr>
          <a:xfrm>
            <a:off x="594360" y="932688"/>
            <a:ext cx="3230756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Elektrische Strom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1DF34C-C5A0-E9DF-FDDB-471269D418DC}"/>
              </a:ext>
            </a:extLst>
          </p:cNvPr>
          <p:cNvSpPr txBox="1"/>
          <p:nvPr/>
        </p:nvSpPr>
        <p:spPr>
          <a:xfrm>
            <a:off x="914400" y="2761488"/>
            <a:ext cx="3100977" cy="6155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dirty="0">
                <a:solidFill>
                  <a:srgbClr val="171717"/>
                </a:solidFill>
                <a:latin typeface="Aptos"/>
                <a:sym typeface="Wingdings" panose="05000000000000000000" pitchFamily="2" charset="2"/>
              </a:rPr>
              <a:t>Angegeben in Ampere [A]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dirty="0">
                <a:solidFill>
                  <a:srgbClr val="171717"/>
                </a:solidFill>
                <a:latin typeface="Aptos"/>
                <a:sym typeface="Wingdings" panose="05000000000000000000" pitchFamily="2" charset="2"/>
              </a:rPr>
              <a:t>Strom = Ladung/Zeit </a:t>
            </a: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06BDF03F-56B0-856F-3A59-AB09289E5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0068A-9DB3-40F5-AFB1-2461A91696D3}" type="datetime1">
              <a:rPr lang="de-CH" smtClean="0"/>
              <a:t>07.10.2026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86DFE8A1-2ECB-DDF6-0B99-719E6E9FD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W04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2C6A3A4F-988A-F990-7A4A-85BBF397C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  <p:pic>
        <p:nvPicPr>
          <p:cNvPr id="5" name="Grafik 4" descr="Electric current">
            <a:extLst>
              <a:ext uri="{FF2B5EF4-FFF2-40B4-BE49-F238E27FC236}">
                <a16:creationId xmlns:a16="http://schemas.microsoft.com/office/drawing/2014/main" id="{52769455-B30E-BFCB-8753-C3C19E5B1B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7038" y="1409741"/>
            <a:ext cx="7802840" cy="2190667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5CFEC0FB-4E03-210F-9B36-0F8E8747E0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7999" y="3600408"/>
            <a:ext cx="2121326" cy="1293892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945950BB-A928-94B5-E75E-DA977A09D3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1384" y="4893851"/>
            <a:ext cx="2594555" cy="761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640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ACB3A9-7041-E366-B5F9-E7A64CFDD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5C10A6D-980C-85CF-C5DB-F765BFC81263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F6644C-94D2-CF94-E544-833FE3441D97}"/>
              </a:ext>
            </a:extLst>
          </p:cNvPr>
          <p:cNvSpPr txBox="1"/>
          <p:nvPr/>
        </p:nvSpPr>
        <p:spPr>
          <a:xfrm>
            <a:off x="893849" y="542673"/>
            <a:ext cx="370294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Theorie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AD588C-27B0-8884-EF55-C83F0ABB215B}"/>
              </a:ext>
            </a:extLst>
          </p:cNvPr>
          <p:cNvSpPr txBox="1"/>
          <p:nvPr/>
        </p:nvSpPr>
        <p:spPr>
          <a:xfrm>
            <a:off x="594360" y="932688"/>
            <a:ext cx="2250616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Stromdichte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6C66C4-03CC-6A67-E0E8-2EACE2ABE0F1}"/>
              </a:ext>
            </a:extLst>
          </p:cNvPr>
          <p:cNvSpPr txBox="1"/>
          <p:nvPr/>
        </p:nvSpPr>
        <p:spPr>
          <a:xfrm>
            <a:off x="914400" y="2761488"/>
            <a:ext cx="6149825" cy="6155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dirty="0">
                <a:solidFill>
                  <a:srgbClr val="171717"/>
                </a:solidFill>
                <a:latin typeface="Aptos"/>
                <a:sym typeface="Wingdings" panose="05000000000000000000" pitchFamily="2" charset="2"/>
              </a:rPr>
              <a:t>Angegeben in Ampere pro Quadratmeter [A/m</a:t>
            </a:r>
            <a:r>
              <a:rPr lang="de-CH" sz="2000" baseline="30000" dirty="0">
                <a:solidFill>
                  <a:srgbClr val="171717"/>
                </a:solidFill>
                <a:latin typeface="Aptos"/>
                <a:sym typeface="Wingdings" panose="05000000000000000000" pitchFamily="2" charset="2"/>
              </a:rPr>
              <a:t>2</a:t>
            </a:r>
            <a:r>
              <a:rPr lang="de-CH" sz="2000" dirty="0">
                <a:solidFill>
                  <a:srgbClr val="171717"/>
                </a:solidFill>
                <a:latin typeface="Aptos"/>
                <a:sym typeface="Wingdings" panose="05000000000000000000" pitchFamily="2" charset="2"/>
              </a:rPr>
              <a:t>]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dirty="0">
                <a:solidFill>
                  <a:srgbClr val="171717"/>
                </a:solidFill>
                <a:latin typeface="Aptos"/>
                <a:sym typeface="Wingdings" panose="05000000000000000000" pitchFamily="2" charset="2"/>
              </a:rPr>
              <a:t>Stromdichte = Wie viel Strom geht durch eine Fläche </a:t>
            </a: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8632E7A7-E96D-D48B-E3C8-D2AFB5D64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0068A-9DB3-40F5-AFB1-2461A91696D3}" type="datetime1">
              <a:rPr lang="de-CH" smtClean="0"/>
              <a:t>07.10.2026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1A0608B0-515A-F947-84BE-8BFD691BC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W04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FE94C375-F860-A752-0291-71901378E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p:pic>
        <p:nvPicPr>
          <p:cNvPr id="6" name="Grafik 5" descr="Elektrotechnik Fachbuch – Grundlagen der Elektrotechnik – 4 Elektrische  Grundgrößen">
            <a:extLst>
              <a:ext uri="{FF2B5EF4-FFF2-40B4-BE49-F238E27FC236}">
                <a16:creationId xmlns:a16="http://schemas.microsoft.com/office/drawing/2014/main" id="{EE462ADE-FD7D-2F2F-C917-0CA7A2B7CB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r="-5654"/>
          <a:stretch>
            <a:fillRect/>
          </a:stretch>
        </p:blipFill>
        <p:spPr>
          <a:xfrm>
            <a:off x="4015378" y="475488"/>
            <a:ext cx="8176622" cy="228600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E4B3B6F2-04CF-44C7-7C6F-B731C8E245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8226" y="2945703"/>
            <a:ext cx="2656046" cy="1613216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DB1FBBC0-432A-5691-C5EA-1D87FEBBE8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16" y="4146672"/>
            <a:ext cx="3133062" cy="159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847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A2F3A4-5D05-EBDE-FB7E-2015CEBA2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948EF2-7F55-3517-75A9-B51B94FF5754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E771AD-A8BB-21D6-F76F-16D5B9060211}"/>
              </a:ext>
            </a:extLst>
          </p:cNvPr>
          <p:cNvSpPr txBox="1"/>
          <p:nvPr/>
        </p:nvSpPr>
        <p:spPr>
          <a:xfrm>
            <a:off x="893849" y="542673"/>
            <a:ext cx="370294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Theorie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C9760B-F571-0C12-87EA-5BE65E34DFA8}"/>
              </a:ext>
            </a:extLst>
          </p:cNvPr>
          <p:cNvSpPr txBox="1"/>
          <p:nvPr/>
        </p:nvSpPr>
        <p:spPr>
          <a:xfrm>
            <a:off x="594360" y="932688"/>
            <a:ext cx="1760162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Why </a:t>
            </a:r>
            <a:r>
              <a:rPr lang="de-CH" sz="3100" b="1" dirty="0" err="1">
                <a:solidFill>
                  <a:srgbClr val="171717"/>
                </a:solidFill>
                <a:latin typeface="Aptos"/>
              </a:rPr>
              <a:t>this</a:t>
            </a:r>
            <a:r>
              <a:rPr lang="de-CH" sz="3100" b="1" dirty="0">
                <a:solidFill>
                  <a:srgbClr val="171717"/>
                </a:solidFill>
                <a:latin typeface="Aptos"/>
              </a:rPr>
              <a:t>?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A7DDA4-4B28-AF52-A40E-32833DAF998B}"/>
              </a:ext>
            </a:extLst>
          </p:cNvPr>
          <p:cNvSpPr txBox="1"/>
          <p:nvPr/>
        </p:nvSpPr>
        <p:spPr>
          <a:xfrm>
            <a:off x="5538947" y="4788494"/>
            <a:ext cx="336631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2000" dirty="0">
                <a:solidFill>
                  <a:srgbClr val="171717"/>
                </a:solidFill>
                <a:latin typeface="Aptos"/>
                <a:sym typeface="Wingdings" panose="05000000000000000000" pitchFamily="2" charset="2"/>
              </a:rPr>
              <a:t>Vs.</a:t>
            </a: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89EADB27-BEF4-1CE9-A7ED-DA67F81CA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0068A-9DB3-40F5-AFB1-2461A91696D3}" type="datetime1">
              <a:rPr lang="de-CH" smtClean="0"/>
              <a:t>07.10.2026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40DA9E45-A8A0-0CAE-E6D6-6D94EA77F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W04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0ECC0302-A41E-D9EF-0065-FC08A48ED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26E820A-A6F1-47BF-AD2D-DC3AC18225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9643" y="4132727"/>
            <a:ext cx="3402525" cy="1619313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AA2C85CA-9DA6-2D93-97D8-C9775C7F6B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4143" y="4362900"/>
            <a:ext cx="2820740" cy="1210475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BE6F7A58-3A0E-4F75-412B-0CCA3690DF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5213" y="1562162"/>
            <a:ext cx="4610727" cy="2432174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F1CE6944-FA5D-62D3-1F50-3223734540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228" y="1594552"/>
            <a:ext cx="4192161" cy="2288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830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8B6694-0CD1-A837-DE09-04D2F9F1C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BBAB106-FF4A-C495-4E51-460793C2B515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3D2EFC-78F8-BAED-C99C-B9547AC6B0BF}"/>
              </a:ext>
            </a:extLst>
          </p:cNvPr>
          <p:cNvSpPr txBox="1"/>
          <p:nvPr/>
        </p:nvSpPr>
        <p:spPr>
          <a:xfrm>
            <a:off x="893849" y="542673"/>
            <a:ext cx="370294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Theorie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9F69E4-313C-AFD8-B57E-531929E3520D}"/>
              </a:ext>
            </a:extLst>
          </p:cNvPr>
          <p:cNvSpPr txBox="1"/>
          <p:nvPr/>
        </p:nvSpPr>
        <p:spPr>
          <a:xfrm>
            <a:off x="594360" y="932688"/>
            <a:ext cx="3517310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Bewegung im Leiter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FB7C3B-03FB-2887-1F5C-BBE707D2276C}"/>
              </a:ext>
            </a:extLst>
          </p:cNvPr>
          <p:cNvSpPr txBox="1"/>
          <p:nvPr/>
        </p:nvSpPr>
        <p:spPr>
          <a:xfrm>
            <a:off x="914400" y="2761488"/>
            <a:ext cx="3832844" cy="6155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dirty="0">
                <a:solidFill>
                  <a:srgbClr val="171717"/>
                </a:solidFill>
                <a:latin typeface="Aptos"/>
                <a:sym typeface="Wingdings" panose="05000000000000000000" pitchFamily="2" charset="2"/>
              </a:rPr>
              <a:t>Ohne Feld = zufällige Bewegung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dirty="0">
                <a:solidFill>
                  <a:srgbClr val="171717"/>
                </a:solidFill>
                <a:latin typeface="Aptos"/>
                <a:sym typeface="Wingdings" panose="05000000000000000000" pitchFamily="2" charset="2"/>
              </a:rPr>
              <a:t>Mit Feld = geführte Bewegung</a:t>
            </a: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82823092-0163-CDCA-30E9-C68462AED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0068A-9DB3-40F5-AFB1-2461A91696D3}" type="datetime1">
              <a:rPr lang="de-CH" smtClean="0"/>
              <a:t>07.10.2026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1328B2EB-A1C6-8A84-8C48-EDCA3A619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W04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2C619BDE-A345-BFB4-0C89-309E327F4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D0FA2E6-89CB-D897-2A7A-C3165D7F1A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26919"/>
            <a:ext cx="5294301" cy="5484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283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99FFE-732D-BA3B-FE1D-5B02A6D0F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D5ACDA1-F996-BDFD-16C4-EC79E95B2145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BE14E5-2962-B7E1-CAB4-8F71E7547195}"/>
              </a:ext>
            </a:extLst>
          </p:cNvPr>
          <p:cNvSpPr txBox="1"/>
          <p:nvPr/>
        </p:nvSpPr>
        <p:spPr>
          <a:xfrm>
            <a:off x="893849" y="542673"/>
            <a:ext cx="370294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Theorie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B21E9B-93AA-B70E-C766-46EF40AC0A74}"/>
              </a:ext>
            </a:extLst>
          </p:cNvPr>
          <p:cNvSpPr txBox="1"/>
          <p:nvPr/>
        </p:nvSpPr>
        <p:spPr>
          <a:xfrm>
            <a:off x="594360" y="932688"/>
            <a:ext cx="8970917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de-CH" sz="3200" b="1" dirty="0"/>
              <a:t>Spezifische Leitfähigkeit und spezifischer Widerstand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232C73-CF00-0440-192E-1D7A393535F6}"/>
              </a:ext>
            </a:extLst>
          </p:cNvPr>
          <p:cNvSpPr txBox="1"/>
          <p:nvPr/>
        </p:nvSpPr>
        <p:spPr>
          <a:xfrm>
            <a:off x="914400" y="2761488"/>
            <a:ext cx="3549818" cy="6155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dirty="0">
                <a:solidFill>
                  <a:srgbClr val="171717"/>
                </a:solidFill>
                <a:latin typeface="Aptos"/>
                <a:sym typeface="Wingdings" panose="05000000000000000000" pitchFamily="2" charset="2"/>
              </a:rPr>
              <a:t>Wie gut leitet mein Material?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dirty="0">
                <a:solidFill>
                  <a:srgbClr val="171717"/>
                </a:solidFill>
                <a:latin typeface="Aptos"/>
                <a:sym typeface="Wingdings" panose="05000000000000000000" pitchFamily="2" charset="2"/>
              </a:rPr>
              <a:t>Abhängig von der Temperatur</a:t>
            </a: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713D3BD0-BE13-92F9-4615-6F2D7FFB4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0068A-9DB3-40F5-AFB1-2461A91696D3}" type="datetime1">
              <a:rPr lang="de-CH" smtClean="0"/>
              <a:t>07.10.2026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CE0B328D-7DFB-B6ED-D7C0-2F9CA8C4D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W04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A1B2498C-A06E-8DE0-CAF4-8ADCEB94D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8C4C5C31-9D11-C763-D7C9-1D524834A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3571" y="1569545"/>
            <a:ext cx="4786345" cy="912397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7AF18646-0DCB-073C-D7C9-EFA6FEA196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1367" y="2375671"/>
            <a:ext cx="3048425" cy="771633"/>
          </a:xfrm>
          <a:prstGeom prst="rect">
            <a:avLst/>
          </a:prstGeom>
        </p:spPr>
      </p:pic>
      <p:sp>
        <p:nvSpPr>
          <p:cNvPr id="13" name="TextBox 10">
            <a:extLst>
              <a:ext uri="{FF2B5EF4-FFF2-40B4-BE49-F238E27FC236}">
                <a16:creationId xmlns:a16="http://schemas.microsoft.com/office/drawing/2014/main" id="{D7C1A2B3-6EC2-B88C-9892-9B04F744F2CA}"/>
              </a:ext>
            </a:extLst>
          </p:cNvPr>
          <p:cNvSpPr txBox="1"/>
          <p:nvPr/>
        </p:nvSpPr>
        <p:spPr>
          <a:xfrm>
            <a:off x="1201075" y="3761195"/>
            <a:ext cx="2986202" cy="6155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2000" dirty="0">
                <a:solidFill>
                  <a:srgbClr val="171717"/>
                </a:solidFill>
                <a:latin typeface="Aptos"/>
                <a:sym typeface="Wingdings" panose="05000000000000000000" pitchFamily="2" charset="2"/>
              </a:rPr>
              <a:t>Spezifischer Widerstand</a:t>
            </a:r>
            <a:br>
              <a:rPr lang="de-CH" sz="2000" dirty="0">
                <a:solidFill>
                  <a:srgbClr val="171717"/>
                </a:solidFill>
                <a:latin typeface="Aptos"/>
                <a:sym typeface="Wingdings" panose="05000000000000000000" pitchFamily="2" charset="2"/>
              </a:rPr>
            </a:br>
            <a:r>
              <a:rPr lang="de-CH" sz="2000" dirty="0">
                <a:solidFill>
                  <a:srgbClr val="171717"/>
                </a:solidFill>
                <a:latin typeface="Aptos"/>
                <a:sym typeface="Wingdings" panose="05000000000000000000" pitchFamily="2" charset="2"/>
              </a:rPr>
              <a:t>(Kehrwert von Leitfähigkeit)</a:t>
            </a:r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FF7FFF9B-5A81-65FE-4305-D213A4F2F0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1367" y="3379074"/>
            <a:ext cx="1568634" cy="1040072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B2C9942A-CC25-9509-9EED-08C17D0AAA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939" y="5049563"/>
            <a:ext cx="7906853" cy="67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036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48E49-473F-7D8E-973C-01701038C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F65FF14-8A81-1119-B28E-B722C1C4042B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706C98-F7A4-C622-8A28-5F45903EA53B}"/>
              </a:ext>
            </a:extLst>
          </p:cNvPr>
          <p:cNvSpPr txBox="1"/>
          <p:nvPr/>
        </p:nvSpPr>
        <p:spPr>
          <a:xfrm>
            <a:off x="893849" y="542673"/>
            <a:ext cx="370294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Theorie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9F73D3-8D00-BE6C-5269-DCF7F5FE8D9A}"/>
              </a:ext>
            </a:extLst>
          </p:cNvPr>
          <p:cNvSpPr txBox="1"/>
          <p:nvPr/>
        </p:nvSpPr>
        <p:spPr>
          <a:xfrm>
            <a:off x="594360" y="932688"/>
            <a:ext cx="5853141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Eine tolle Tabelle zum markieren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E2F1BA6D-3DD3-B660-8FCB-E5D2682E5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0068A-9DB3-40F5-AFB1-2461A91696D3}" type="datetime1">
              <a:rPr lang="de-CH" smtClean="0"/>
              <a:t>07.10.2026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AC4A33BD-914B-4462-D2A4-ECC57311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W04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CEB9929E-FA81-533D-E86C-0CA86F16F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9AE9B34D-CFFC-EFA7-E35C-0EFF12788B5F}"/>
              </a:ext>
            </a:extLst>
          </p:cNvPr>
          <p:cNvSpPr txBox="1"/>
          <p:nvPr/>
        </p:nvSpPr>
        <p:spPr>
          <a:xfrm>
            <a:off x="893849" y="5771423"/>
            <a:ext cx="2042547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2000" dirty="0">
                <a:solidFill>
                  <a:srgbClr val="171717"/>
                </a:solidFill>
                <a:latin typeface="Aptos"/>
                <a:sym typeface="Wingdings" panose="05000000000000000000" pitchFamily="2" charset="2"/>
              </a:rPr>
              <a:t>Seite 97 im Albach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3E31D907-D20C-D811-A288-B60D8475A9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149"/>
          <a:stretch>
            <a:fillRect/>
          </a:stretch>
        </p:blipFill>
        <p:spPr>
          <a:xfrm>
            <a:off x="4034528" y="1650534"/>
            <a:ext cx="5762204" cy="4311650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5C5D002F-8EC6-4292-6698-ED7A30654D57}"/>
              </a:ext>
            </a:extLst>
          </p:cNvPr>
          <p:cNvSpPr txBox="1"/>
          <p:nvPr/>
        </p:nvSpPr>
        <p:spPr>
          <a:xfrm>
            <a:off x="5638800" y="2971800"/>
            <a:ext cx="65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de-CH" b="0" dirty="0"/>
          </a:p>
          <a:p>
            <a:endParaRPr lang="de-CH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79DD04CE-9043-7965-9080-62294CB8779A}"/>
                  </a:ext>
                </a:extLst>
              </p:cNvPr>
              <p:cNvSpPr txBox="1"/>
              <p:nvPr/>
            </p:nvSpPr>
            <p:spPr>
              <a:xfrm>
                <a:off x="7132365" y="5939418"/>
                <a:ext cx="87036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e-CH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CH" i="1">
                              <a:latin typeface="Cambria Math" panose="02040503050406030204" pitchFamily="18" charset="0"/>
                            </a:rPr>
                            <m:t>Ω</m:t>
                          </m:r>
                          <m:r>
                            <a:rPr lang="de-CH" i="1"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de-CH" i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de-CH" i="0">
                                  <a:latin typeface="Cambria Math" panose="02040503050406030204" pitchFamily="18" charset="0"/>
                                </a:rPr>
                                <m:t>mm</m:t>
                              </m:r>
                            </m:e>
                            <m:sup>
                              <m:r>
                                <a:rPr lang="de-CH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nor/>
                            </m:rPr>
                            <a:rPr lang="de-CH" i="0">
                              <a:latin typeface="Cambria Math" panose="02040503050406030204" pitchFamily="18" charset="0"/>
                            </a:rPr>
                            <m:t>m</m:t>
                          </m:r>
                        </m:den>
                      </m:f>
                    </m:oMath>
                  </m:oMathPara>
                </a14:m>
                <a:endParaRPr lang="de-CH" dirty="0"/>
              </a:p>
            </p:txBody>
          </p:sp>
        </mc:Choice>
        <mc:Fallback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79DD04CE-9043-7965-9080-62294CB877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2365" y="5939418"/>
                <a:ext cx="870366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E8355139-8E89-FE0F-BD27-CDF42DDA4F18}"/>
                  </a:ext>
                </a:extLst>
              </p:cNvPr>
              <p:cNvSpPr txBox="1"/>
              <p:nvPr/>
            </p:nvSpPr>
            <p:spPr>
              <a:xfrm>
                <a:off x="5809354" y="6000284"/>
                <a:ext cx="870366" cy="4725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e-CH" i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de-CH" i="0">
                              <a:latin typeface="Cambria Math" panose="02040503050406030204" pitchFamily="18" charset="0"/>
                            </a:rPr>
                            <m:t>m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de-CH" i="1">
                              <a:latin typeface="Cambria Math" panose="02040503050406030204" pitchFamily="18" charset="0"/>
                            </a:rPr>
                            <m:t>Ω</m:t>
                          </m:r>
                          <m:r>
                            <a:rPr lang="de-CH" i="1"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de-CH" i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de-CH" i="0">
                                  <a:latin typeface="Cambria Math" panose="02040503050406030204" pitchFamily="18" charset="0"/>
                                </a:rPr>
                                <m:t>mm</m:t>
                              </m:r>
                            </m:e>
                            <m:sup>
                              <m:r>
                                <a:rPr lang="de-CH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e-CH" dirty="0"/>
              </a:p>
            </p:txBody>
          </p:sp>
        </mc:Choice>
        <mc:Fallback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E8355139-8E89-FE0F-BD27-CDF42DDA4F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9354" y="6000284"/>
                <a:ext cx="870366" cy="47250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01034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5A481-14A9-07BA-E3D8-921AFB2DB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36C9864-724D-3A10-B5EA-D4B5D114B09B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4476F2-CCB2-A124-2177-6BD0372E5282}"/>
              </a:ext>
            </a:extLst>
          </p:cNvPr>
          <p:cNvSpPr txBox="1"/>
          <p:nvPr/>
        </p:nvSpPr>
        <p:spPr>
          <a:xfrm>
            <a:off x="830531" y="542673"/>
            <a:ext cx="496931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Rechnung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AA51FA-CA22-8BAA-DBF0-5103023ED431}"/>
              </a:ext>
            </a:extLst>
          </p:cNvPr>
          <p:cNvSpPr txBox="1"/>
          <p:nvPr/>
        </p:nvSpPr>
        <p:spPr>
          <a:xfrm>
            <a:off x="594360" y="932688"/>
            <a:ext cx="8518294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Widerstandsänderung bei Temperaturänderung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EAF5F2AF-2871-C0AD-588C-510E0F81A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0068A-9DB3-40F5-AFB1-2461A91696D3}" type="datetime1">
              <a:rPr lang="de-CH" smtClean="0"/>
              <a:t>07.10.2026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A87D1B7D-EC74-B467-45FF-137D14425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W04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951C96DA-277F-8D73-7D01-B0566A0EB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EC80B3F8-A5BC-1259-EC4B-EF99B269EBAD}"/>
                  </a:ext>
                </a:extLst>
              </p:cNvPr>
              <p:cNvSpPr txBox="1"/>
              <p:nvPr/>
            </p:nvSpPr>
            <p:spPr>
              <a:xfrm>
                <a:off x="431800" y="1749030"/>
                <a:ext cx="10972876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CH" b="1" dirty="0"/>
                  <a:t>Aufgabe: Temperaturänderung eines Kupferleiters</a:t>
                </a:r>
                <a:endParaRPr lang="de-CH" dirty="0"/>
              </a:p>
              <a:p>
                <a:r>
                  <a:rPr lang="de-CH" dirty="0"/>
                  <a:t>Ein Kupferleiter hat bei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i="1"/>
                        </m:ctrlPr>
                      </m:sSubPr>
                      <m:e>
                        <m:r>
                          <a:rPr lang="de-CH" i="1"/>
                          <m:t>𝑇</m:t>
                        </m:r>
                      </m:e>
                      <m:sub>
                        <m:r>
                          <a:rPr lang="de-CH"/>
                          <m:t>0</m:t>
                        </m:r>
                      </m:sub>
                    </m:sSub>
                    <m:r>
                      <a:rPr lang="de-CH"/>
                      <m:t>=20</m:t>
                    </m:r>
                    <m:sSup>
                      <m:sSupPr>
                        <m:ctrlPr>
                          <a:rPr lang="de-CH"/>
                        </m:ctrlPr>
                      </m:sSupPr>
                      <m:e>
                        <m:r>
                          <a:rPr lang="de-CH"/>
                          <m:t> </m:t>
                        </m:r>
                      </m:e>
                      <m:sup>
                        <m:r>
                          <a:rPr lang="de-CH"/>
                          <m:t>∘</m:t>
                        </m:r>
                      </m:sup>
                    </m:sSup>
                    <m:r>
                      <m:rPr>
                        <m:nor/>
                      </m:rPr>
                      <a:rPr lang="de-CH"/>
                      <m:t>C</m:t>
                    </m:r>
                  </m:oMath>
                </a14:m>
                <a:r>
                  <a:rPr lang="de-CH" dirty="0"/>
                  <a:t> den Widerstand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i="1"/>
                        </m:ctrlPr>
                      </m:sSubPr>
                      <m:e>
                        <m:r>
                          <a:rPr lang="de-CH" i="1"/>
                          <m:t>𝑅</m:t>
                        </m:r>
                      </m:e>
                      <m:sub>
                        <m:r>
                          <a:rPr lang="de-CH"/>
                          <m:t>20</m:t>
                        </m:r>
                      </m:sub>
                    </m:sSub>
                    <m:r>
                      <a:rPr lang="de-CH"/>
                      <m:t>=15 </m:t>
                    </m:r>
                    <m:r>
                      <m:rPr>
                        <m:sty m:val="p"/>
                      </m:rPr>
                      <a:rPr lang="de-CH"/>
                      <m:t>Ω</m:t>
                    </m:r>
                  </m:oMath>
                </a14:m>
                <a:r>
                  <a:rPr lang="de-CH" dirty="0"/>
                  <a:t>. Im Betrieb steigt sein Widerstand auf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i="1"/>
                        </m:ctrlPr>
                      </m:sSubPr>
                      <m:e>
                        <m:r>
                          <a:rPr lang="de-CH" i="1"/>
                          <m:t>𝑅</m:t>
                        </m:r>
                      </m:e>
                      <m:sub>
                        <m:r>
                          <a:rPr lang="de-CH" i="1"/>
                          <m:t>𝑇</m:t>
                        </m:r>
                      </m:sub>
                    </m:sSub>
                    <m:r>
                      <a:rPr lang="de-CH"/>
                      <m:t>=18,5 </m:t>
                    </m:r>
                    <m:r>
                      <m:rPr>
                        <m:sty m:val="p"/>
                      </m:rPr>
                      <a:rPr lang="de-CH"/>
                      <m:t>Ω</m:t>
                    </m:r>
                  </m:oMath>
                </a14:m>
                <a:r>
                  <a:rPr lang="de-CH" dirty="0"/>
                  <a:t>.</a:t>
                </a:r>
              </a:p>
              <a:p>
                <a:r>
                  <a:rPr lang="de-CH" dirty="0"/>
                  <a:t>Berechnen Sie die Betriebstemperatur </a:t>
                </a:r>
                <a14:m>
                  <m:oMath xmlns:m="http://schemas.openxmlformats.org/officeDocument/2006/math">
                    <m:r>
                      <a:rPr lang="de-CH" i="1"/>
                      <m:t>𝑇</m:t>
                    </m:r>
                  </m:oMath>
                </a14:m>
                <a:r>
                  <a:rPr lang="de-CH" dirty="0"/>
                  <a:t>.</a:t>
                </a:r>
              </a:p>
              <a:p>
                <a:endParaRPr lang="de-CH" dirty="0"/>
              </a:p>
            </p:txBody>
          </p:sp>
        </mc:Choice>
        <mc:Fallback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EC80B3F8-A5BC-1259-EC4B-EF99B269EB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800" y="1749030"/>
                <a:ext cx="10972876" cy="1200329"/>
              </a:xfrm>
              <a:prstGeom prst="rect">
                <a:avLst/>
              </a:prstGeom>
              <a:blipFill>
                <a:blip r:embed="rId3"/>
                <a:stretch>
                  <a:fillRect l="-500" t="-3046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03670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18947A0-AC7A-C809-F1AC-D2A3DFFC7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E47B472-A7B7-1891-B678-114725DF462B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D8D2CB-BA04-169C-F06B-89D0D18E71ED}"/>
              </a:ext>
            </a:extLst>
          </p:cNvPr>
          <p:cNvSpPr txBox="1"/>
          <p:nvPr/>
        </p:nvSpPr>
        <p:spPr>
          <a:xfrm>
            <a:off x="830531" y="542673"/>
            <a:ext cx="496931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Rechnung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BFAA6D-6BAF-5AF2-D249-C39D57B808F1}"/>
              </a:ext>
            </a:extLst>
          </p:cNvPr>
          <p:cNvSpPr txBox="1"/>
          <p:nvPr/>
        </p:nvSpPr>
        <p:spPr>
          <a:xfrm>
            <a:off x="594360" y="932688"/>
            <a:ext cx="8518294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Widerstandsänderung bei Temperaturänderung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41E8B1DC-6855-981F-111C-CECB622C6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0068A-9DB3-40F5-AFB1-2461A91696D3}" type="datetime1">
              <a:rPr lang="de-CH" smtClean="0"/>
              <a:t>07.10.2026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C2C6C2F-9A3E-109C-9B9A-E330A9AF1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W04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18939363-046F-1737-366E-A2D1744A3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0BE644CB-82DC-24EB-C324-241EBB1F43CD}"/>
                  </a:ext>
                </a:extLst>
              </p:cNvPr>
              <p:cNvSpPr txBox="1"/>
              <p:nvPr/>
            </p:nvSpPr>
            <p:spPr>
              <a:xfrm>
                <a:off x="431800" y="1749030"/>
                <a:ext cx="11671300" cy="35636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de-CH" b="1" dirty="0"/>
                  <a:t>Ansatz:</a:t>
                </a:r>
                <a:endParaRPr lang="de-CH" dirty="0"/>
              </a:p>
              <a:p>
                <a:pPr lvl="0"/>
                <a14:m>
                  <m:oMathPara xmlns:m="http://schemas.openxmlformats.org/officeDocument/2006/math">
                    <m:oMath>
                      <m:r>
                        <a:rPr lang="de-CH" i="1"/>
                        <m:t>𝑅</m:t>
                      </m:r>
                      <m:d>
                        <m:dPr>
                          <m:ctrlPr>
                            <a:rPr lang="de-CH" i="1"/>
                          </m:ctrlPr>
                        </m:dPr>
                        <m:e>
                          <m:r>
                            <a:rPr lang="de-CH" i="1"/>
                            <m:t>𝑇</m:t>
                          </m:r>
                        </m:e>
                      </m:d>
                      <m:r>
                        <a:rPr lang="de-CH"/>
                        <m:t>=</m:t>
                      </m:r>
                      <m:sSub>
                        <m:sSubPr>
                          <m:ctrlPr>
                            <a:rPr lang="de-CH" i="1"/>
                          </m:ctrlPr>
                        </m:sSubPr>
                        <m:e>
                          <m:r>
                            <a:rPr lang="de-CH" i="1"/>
                            <m:t>𝑅</m:t>
                          </m:r>
                        </m:e>
                        <m:sub>
                          <m:r>
                            <a:rPr lang="de-CH"/>
                            <m:t>20</m:t>
                          </m:r>
                        </m:sub>
                      </m:sSub>
                      <m:r>
                        <a:rPr lang="de-CH"/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de-CH"/>
                          </m:ctrlPr>
                        </m:dPr>
                        <m:e>
                          <m:r>
                            <a:rPr lang="de-CH"/>
                            <m:t>1+</m:t>
                          </m:r>
                          <m:r>
                            <a:rPr lang="de-CH" i="1"/>
                            <m:t>𝛼</m:t>
                          </m:r>
                          <m:r>
                            <a:rPr lang="de-CH"/>
                            <m:t>⋅</m:t>
                          </m:r>
                          <m:d>
                            <m:dPr>
                              <m:ctrlPr>
                                <a:rPr lang="de-CH" i="1"/>
                              </m:ctrlPr>
                            </m:dPr>
                            <m:e>
                              <m:r>
                                <a:rPr lang="de-CH" i="1"/>
                                <m:t>𝑇</m:t>
                              </m:r>
                              <m:r>
                                <a:rPr lang="de-CH"/>
                                <m:t>−</m:t>
                              </m:r>
                              <m:sSub>
                                <m:sSubPr>
                                  <m:ctrlPr>
                                    <a:rPr lang="de-CH" i="1"/>
                                  </m:ctrlPr>
                                </m:sSubPr>
                                <m:e>
                                  <m:r>
                                    <a:rPr lang="de-CH" i="1"/>
                                    <m:t>𝑇</m:t>
                                  </m:r>
                                </m:e>
                                <m:sub>
                                  <m:r>
                                    <a:rPr lang="de-CH"/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de-CH" dirty="0"/>
              </a:p>
              <a:p>
                <a:pPr lvl="0"/>
                <a:r>
                  <a:rPr lang="de-CH" b="1" dirty="0"/>
                  <a:t>Umstellung nach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/>
                      <m:t>Δ</m:t>
                    </m:r>
                    <m:r>
                      <a:rPr lang="de-CH" i="1"/>
                      <m:t>𝑇</m:t>
                    </m:r>
                    <m:r>
                      <a:rPr lang="de-CH"/>
                      <m:t>=</m:t>
                    </m:r>
                    <m:r>
                      <a:rPr lang="de-CH" i="1"/>
                      <m:t>𝑇</m:t>
                    </m:r>
                    <m:r>
                      <a:rPr lang="de-CH"/>
                      <m:t>−</m:t>
                    </m:r>
                    <m:sSub>
                      <m:sSubPr>
                        <m:ctrlPr>
                          <a:rPr lang="de-CH" i="1"/>
                        </m:ctrlPr>
                      </m:sSubPr>
                      <m:e>
                        <m:r>
                          <a:rPr lang="de-CH" i="1"/>
                          <m:t>𝑇</m:t>
                        </m:r>
                      </m:e>
                      <m:sub>
                        <m:r>
                          <a:rPr lang="de-CH"/>
                          <m:t>0</m:t>
                        </m:r>
                      </m:sub>
                    </m:sSub>
                  </m:oMath>
                </a14:m>
                <a:r>
                  <a:rPr lang="de-CH" b="1" dirty="0"/>
                  <a:t>:</a:t>
                </a:r>
                <a:endParaRPr lang="de-CH" dirty="0"/>
              </a:p>
              <a:p>
                <a:pPr lvl="0"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e-CH"/>
                          </m:ctrlPr>
                        </m:fPr>
                        <m:num>
                          <m:sSub>
                            <m:sSubPr>
                              <m:ctrlPr>
                                <a:rPr lang="de-CH" i="1"/>
                              </m:ctrlPr>
                            </m:sSubPr>
                            <m:e>
                              <m:r>
                                <a:rPr lang="de-CH" i="1"/>
                                <m:t>𝑅</m:t>
                              </m:r>
                            </m:e>
                            <m:sub>
                              <m:r>
                                <a:rPr lang="de-CH" i="1"/>
                                <m:t>𝑇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i="1"/>
                              </m:ctrlPr>
                            </m:sSubPr>
                            <m:e>
                              <m:r>
                                <a:rPr lang="de-CH" i="1"/>
                                <m:t>𝑅</m:t>
                              </m:r>
                            </m:e>
                            <m:sub>
                              <m:r>
                                <a:rPr lang="de-CH"/>
                                <m:t>20</m:t>
                              </m:r>
                            </m:sub>
                          </m:sSub>
                        </m:den>
                      </m:f>
                      <m:r>
                        <a:rPr lang="de-CH"/>
                        <m:t>=1+</m:t>
                      </m:r>
                      <m:r>
                        <a:rPr lang="de-CH" i="1"/>
                        <m:t>𝛼</m:t>
                      </m:r>
                      <m:r>
                        <a:rPr lang="de-CH"/>
                        <m:t>⋅</m:t>
                      </m:r>
                      <m:r>
                        <m:rPr>
                          <m:sty m:val="p"/>
                        </m:rPr>
                        <a:rPr lang="de-CH"/>
                        <m:t>Δ</m:t>
                      </m:r>
                      <m:r>
                        <a:rPr lang="de-CH" i="1"/>
                        <m:t>𝑇</m:t>
                      </m:r>
                      <m:r>
                        <a:rPr lang="de-CH"/>
                        <m:t>⟹</m:t>
                      </m:r>
                      <m:r>
                        <m:rPr>
                          <m:sty m:val="p"/>
                        </m:rPr>
                        <a:rPr lang="de-CH"/>
                        <m:t>Δ</m:t>
                      </m:r>
                      <m:r>
                        <a:rPr lang="de-CH" i="1"/>
                        <m:t>𝑇</m:t>
                      </m:r>
                      <m:r>
                        <a:rPr lang="de-CH"/>
                        <m:t>=</m:t>
                      </m:r>
                      <m:f>
                        <m:fPr>
                          <m:ctrlPr>
                            <a:rPr lang="de-CH" i="1"/>
                          </m:ctrlPr>
                        </m:fPr>
                        <m:num>
                          <m:f>
                            <m:fPr>
                              <m:ctrlPr>
                                <a:rPr lang="de-CH" i="1"/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de-CH" i="1"/>
                                  </m:ctrlPr>
                                </m:sSubPr>
                                <m:e>
                                  <m:r>
                                    <a:rPr lang="de-CH" i="1"/>
                                    <m:t>𝑅</m:t>
                                  </m:r>
                                </m:e>
                                <m:sub>
                                  <m:r>
                                    <a:rPr lang="de-CH" i="1"/>
                                    <m:t>𝑇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de-CH" i="1"/>
                                  </m:ctrlPr>
                                </m:sSubPr>
                                <m:e>
                                  <m:r>
                                    <a:rPr lang="de-CH" i="1"/>
                                    <m:t>𝑅</m:t>
                                  </m:r>
                                </m:e>
                                <m:sub>
                                  <m:r>
                                    <a:rPr lang="de-CH"/>
                                    <m:t>20</m:t>
                                  </m:r>
                                </m:sub>
                              </m:sSub>
                            </m:den>
                          </m:f>
                          <m:r>
                            <a:rPr lang="de-CH"/>
                            <m:t>−1</m:t>
                          </m:r>
                        </m:num>
                        <m:den>
                          <m:r>
                            <a:rPr lang="de-CH" i="1"/>
                            <m:t>𝛼</m:t>
                          </m:r>
                        </m:den>
                      </m:f>
                    </m:oMath>
                  </m:oMathPara>
                </a14:m>
                <a:endParaRPr lang="de-CH" dirty="0"/>
              </a:p>
              <a:p>
                <a:pPr lvl="0"/>
                <a:r>
                  <a:rPr lang="de-CH" b="1" dirty="0"/>
                  <a:t>Berechnung:</a:t>
                </a:r>
                <a:endParaRPr lang="de-CH" dirty="0"/>
              </a:p>
              <a:p>
                <a:pPr lvl="0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de-CH"/>
                        <m:t>Δ</m:t>
                      </m:r>
                      <m:r>
                        <a:rPr lang="de-CH" i="1"/>
                        <m:t>𝑇</m:t>
                      </m:r>
                      <m:r>
                        <a:rPr lang="de-CH"/>
                        <m:t>=</m:t>
                      </m:r>
                      <m:f>
                        <m:fPr>
                          <m:ctrlPr>
                            <a:rPr lang="de-CH" i="1"/>
                          </m:ctrlPr>
                        </m:fPr>
                        <m:num>
                          <m:f>
                            <m:fPr>
                              <m:ctrlPr>
                                <a:rPr lang="de-CH"/>
                              </m:ctrlPr>
                            </m:fPr>
                            <m:num>
                              <m:r>
                                <a:rPr lang="de-CH"/>
                                <m:t>18,5 </m:t>
                              </m:r>
                              <m:r>
                                <m:rPr>
                                  <m:sty m:val="p"/>
                                </m:rPr>
                                <a:rPr lang="de-CH"/>
                                <m:t>Ω</m:t>
                              </m:r>
                            </m:num>
                            <m:den>
                              <m:r>
                                <a:rPr lang="de-CH"/>
                                <m:t>15 </m:t>
                              </m:r>
                              <m:r>
                                <m:rPr>
                                  <m:sty m:val="p"/>
                                </m:rPr>
                                <a:rPr lang="de-CH"/>
                                <m:t>Ω</m:t>
                              </m:r>
                            </m:den>
                          </m:f>
                          <m:r>
                            <a:rPr lang="de-CH"/>
                            <m:t>−1</m:t>
                          </m:r>
                        </m:num>
                        <m:den>
                          <m:r>
                            <a:rPr lang="de-CH"/>
                            <m:t>3,9⋅</m:t>
                          </m:r>
                          <m:sSup>
                            <m:sSupPr>
                              <m:ctrlPr>
                                <a:rPr lang="de-CH"/>
                              </m:ctrlPr>
                            </m:sSupPr>
                            <m:e>
                              <m:r>
                                <a:rPr lang="de-CH"/>
                                <m:t>10</m:t>
                              </m:r>
                            </m:e>
                            <m:sup>
                              <m:r>
                                <a:rPr lang="de-CH"/>
                                <m:t>−3</m:t>
                              </m:r>
                            </m:sup>
                          </m:sSup>
                          <m:r>
                            <a:rPr lang="de-CH"/>
                            <m:t> </m:t>
                          </m:r>
                          <m:sSup>
                            <m:sSupPr>
                              <m:ctrlPr>
                                <a:rPr lang="de-CH"/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de-CH"/>
                                <m:t>K</m:t>
                              </m:r>
                            </m:e>
                            <m:sup>
                              <m:r>
                                <a:rPr lang="de-CH"/>
                                <m:t>−1</m:t>
                              </m:r>
                            </m:sup>
                          </m:sSup>
                        </m:den>
                      </m:f>
                      <m:r>
                        <a:rPr lang="de-CH"/>
                        <m:t>=</m:t>
                      </m:r>
                      <m:f>
                        <m:fPr>
                          <m:ctrlPr>
                            <a:rPr lang="de-CH"/>
                          </m:ctrlPr>
                        </m:fPr>
                        <m:num>
                          <m:r>
                            <a:rPr lang="de-CH"/>
                            <m:t>0,2333</m:t>
                          </m:r>
                        </m:num>
                        <m:den>
                          <m:r>
                            <a:rPr lang="de-CH"/>
                            <m:t>3,9⋅</m:t>
                          </m:r>
                          <m:sSup>
                            <m:sSupPr>
                              <m:ctrlPr>
                                <a:rPr lang="de-CH"/>
                              </m:ctrlPr>
                            </m:sSupPr>
                            <m:e>
                              <m:r>
                                <a:rPr lang="de-CH"/>
                                <m:t>10</m:t>
                              </m:r>
                            </m:e>
                            <m:sup>
                              <m:r>
                                <a:rPr lang="de-CH"/>
                                <m:t>−3</m:t>
                              </m:r>
                            </m:sup>
                          </m:sSup>
                          <m:r>
                            <a:rPr lang="de-CH"/>
                            <m:t> </m:t>
                          </m:r>
                          <m:sSup>
                            <m:sSupPr>
                              <m:ctrlPr>
                                <a:rPr lang="de-CH"/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de-CH"/>
                                <m:t>K</m:t>
                              </m:r>
                            </m:e>
                            <m:sup>
                              <m:r>
                                <a:rPr lang="de-CH"/>
                                <m:t>−1</m:t>
                              </m:r>
                            </m:sup>
                          </m:sSup>
                        </m:den>
                      </m:f>
                      <m:r>
                        <a:rPr lang="de-CH"/>
                        <m:t>≈59,8 </m:t>
                      </m:r>
                      <m:r>
                        <m:rPr>
                          <m:nor/>
                        </m:rPr>
                        <a:rPr lang="de-CH"/>
                        <m:t>K</m:t>
                      </m:r>
                    </m:oMath>
                  </m:oMathPara>
                </a14:m>
                <a:endParaRPr lang="de-CH" dirty="0"/>
              </a:p>
              <a:p>
                <a:pPr lvl="0"/>
                <a:r>
                  <a:rPr lang="de-CH" b="1" dirty="0"/>
                  <a:t>Endergebnis:</a:t>
                </a:r>
                <a:endParaRPr lang="de-CH" dirty="0"/>
              </a:p>
              <a:p>
                <a:pPr lvl="0"/>
                <a14:m>
                  <m:oMathPara xmlns:m="http://schemas.openxmlformats.org/officeDocument/2006/math">
                    <m:oMath>
                      <m:r>
                        <a:rPr lang="de-CH" i="1"/>
                        <m:t>𝑇</m:t>
                      </m:r>
                      <m:r>
                        <a:rPr lang="de-CH"/>
                        <m:t>=</m:t>
                      </m:r>
                      <m:sSub>
                        <m:sSubPr>
                          <m:ctrlPr>
                            <a:rPr lang="de-CH" i="1"/>
                          </m:ctrlPr>
                        </m:sSubPr>
                        <m:e>
                          <m:r>
                            <a:rPr lang="de-CH" i="1"/>
                            <m:t>𝑇</m:t>
                          </m:r>
                        </m:e>
                        <m:sub>
                          <m:r>
                            <a:rPr lang="de-CH"/>
                            <m:t>0</m:t>
                          </m:r>
                        </m:sub>
                      </m:sSub>
                      <m:r>
                        <a:rPr lang="de-CH"/>
                        <m:t>+</m:t>
                      </m:r>
                      <m:r>
                        <m:rPr>
                          <m:sty m:val="p"/>
                        </m:rPr>
                        <a:rPr lang="de-CH"/>
                        <m:t>Δ</m:t>
                      </m:r>
                      <m:r>
                        <a:rPr lang="de-CH" i="1"/>
                        <m:t>𝑇</m:t>
                      </m:r>
                      <m:r>
                        <a:rPr lang="de-CH"/>
                        <m:t>=20</m:t>
                      </m:r>
                      <m:sSup>
                        <m:sSupPr>
                          <m:ctrlPr>
                            <a:rPr lang="de-CH"/>
                          </m:ctrlPr>
                        </m:sSupPr>
                        <m:e>
                          <m:r>
                            <a:rPr lang="de-CH"/>
                            <m:t> </m:t>
                          </m:r>
                        </m:e>
                        <m:sup>
                          <m:r>
                            <a:rPr lang="de-CH"/>
                            <m:t>∘</m:t>
                          </m:r>
                        </m:sup>
                      </m:sSup>
                      <m:r>
                        <m:rPr>
                          <m:nor/>
                        </m:rPr>
                        <a:rPr lang="de-CH"/>
                        <m:t>C</m:t>
                      </m:r>
                      <m:r>
                        <a:rPr lang="de-CH"/>
                        <m:t>+59,8 </m:t>
                      </m:r>
                      <m:r>
                        <m:rPr>
                          <m:nor/>
                        </m:rPr>
                        <a:rPr lang="de-CH"/>
                        <m:t>K</m:t>
                      </m:r>
                      <m:r>
                        <a:rPr lang="de-CH"/>
                        <m:t>=</m:t>
                      </m:r>
                      <m:r>
                        <a:rPr lang="de-CH" b="1"/>
                        <m:t>𝟕𝟗</m:t>
                      </m:r>
                      <m:r>
                        <a:rPr lang="de-CH"/>
                        <m:t>,</m:t>
                      </m:r>
                      <m:r>
                        <a:rPr lang="de-CH" b="1"/>
                        <m:t>𝟖</m:t>
                      </m:r>
                      <m:sSup>
                        <m:sSupPr>
                          <m:ctrlPr>
                            <a:rPr lang="de-CH"/>
                          </m:ctrlPr>
                        </m:sSupPr>
                        <m:e>
                          <m:r>
                            <a:rPr lang="de-CH"/>
                            <m:t> </m:t>
                          </m:r>
                        </m:e>
                        <m:sup>
                          <m:r>
                            <a:rPr lang="de-CH"/>
                            <m:t>∘</m:t>
                          </m:r>
                        </m:sup>
                      </m:sSup>
                      <m:r>
                        <m:rPr>
                          <m:nor/>
                        </m:rPr>
                        <a:rPr lang="de-CH"/>
                        <m:t>C</m:t>
                      </m:r>
                    </m:oMath>
                  </m:oMathPara>
                </a14:m>
                <a:endParaRPr lang="de-CH" dirty="0"/>
              </a:p>
              <a:p>
                <a:endParaRPr lang="de-CH" dirty="0"/>
              </a:p>
            </p:txBody>
          </p:sp>
        </mc:Choice>
        <mc:Fallback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0BE644CB-82DC-24EB-C324-241EBB1F43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800" y="1749030"/>
                <a:ext cx="11671300" cy="3563668"/>
              </a:xfrm>
              <a:prstGeom prst="rect">
                <a:avLst/>
              </a:prstGeom>
              <a:blipFill>
                <a:blip r:embed="rId3"/>
                <a:stretch>
                  <a:fillRect l="-470" t="-1026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26622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3F733-EEFC-94A7-1655-97CD718CF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2F124FF-AF31-CDF6-A142-C073634BEC0B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F8CA4E-C488-BBD1-5433-30BD8D292920}"/>
              </a:ext>
            </a:extLst>
          </p:cNvPr>
          <p:cNvSpPr txBox="1"/>
          <p:nvPr/>
        </p:nvSpPr>
        <p:spPr>
          <a:xfrm>
            <a:off x="893849" y="542673"/>
            <a:ext cx="370294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Theorie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07400E-1209-FE22-5778-82F41F72A79A}"/>
              </a:ext>
            </a:extLst>
          </p:cNvPr>
          <p:cNvSpPr txBox="1"/>
          <p:nvPr/>
        </p:nvSpPr>
        <p:spPr>
          <a:xfrm>
            <a:off x="594360" y="932688"/>
            <a:ext cx="3968202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Das Ohm’sche Gesetz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127EA8-7A9C-DF76-DC25-8B5455ADBBFF}"/>
              </a:ext>
            </a:extLst>
          </p:cNvPr>
          <p:cNvSpPr txBox="1"/>
          <p:nvPr/>
        </p:nvSpPr>
        <p:spPr>
          <a:xfrm>
            <a:off x="792519" y="2223452"/>
            <a:ext cx="5181599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dirty="0">
                <a:solidFill>
                  <a:srgbClr val="171717"/>
                </a:solidFill>
                <a:latin typeface="Aptos"/>
                <a:sym typeface="Wingdings" panose="05000000000000000000" pitchFamily="2" charset="2"/>
              </a:rPr>
              <a:t>Elektrische Feld verschwindet im stromdurchflossenen Leiter </a:t>
            </a:r>
            <a:r>
              <a:rPr lang="de-CH" sz="2000" b="1" dirty="0">
                <a:solidFill>
                  <a:srgbClr val="171717"/>
                </a:solidFill>
                <a:latin typeface="Aptos"/>
                <a:sym typeface="Wingdings" panose="05000000000000000000" pitchFamily="2" charset="2"/>
              </a:rPr>
              <a:t>nicht</a:t>
            </a:r>
            <a:r>
              <a:rPr lang="de-CH" sz="2000" dirty="0">
                <a:solidFill>
                  <a:srgbClr val="171717"/>
                </a:solidFill>
                <a:latin typeface="Aptos"/>
                <a:sym typeface="Wingdings" panose="05000000000000000000" pitchFamily="2" charset="2"/>
              </a:rPr>
              <a:t>!</a:t>
            </a: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13AF1637-7552-64DC-2E61-10E235447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0068A-9DB3-40F5-AFB1-2461A91696D3}" type="datetime1">
              <a:rPr lang="de-CH" smtClean="0"/>
              <a:t>07.10.2026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163F319C-331E-B0BE-C27D-55AFA44DD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W04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891C7522-6560-753D-1B9D-E608E5046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BC86272E-7BEB-798C-EA39-4F95AFBFAD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9440" y="932688"/>
            <a:ext cx="2889828" cy="1993392"/>
          </a:xfrm>
          <a:prstGeom prst="rect">
            <a:avLst/>
          </a:prstGeom>
        </p:spPr>
      </p:pic>
      <p:pic>
        <p:nvPicPr>
          <p:cNvPr id="7" name="Grafik 6" descr="Ampere,Ohm,Volt &amp; Watt Grundinfos : Dampfen für Anfänger »">
            <a:extLst>
              <a:ext uri="{FF2B5EF4-FFF2-40B4-BE49-F238E27FC236}">
                <a16:creationId xmlns:a16="http://schemas.microsoft.com/office/drawing/2014/main" id="{69E8D8F4-3CFD-50DD-126D-5241D8EF9F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557" y="2761488"/>
            <a:ext cx="3355975" cy="3371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3937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5D8B6-51FE-97FA-8B72-E3E4DE30C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50812A0-8546-3BD4-D171-8C1185305333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7A141B-EDB7-0986-13FF-B4FA8409E345}"/>
              </a:ext>
            </a:extLst>
          </p:cNvPr>
          <p:cNvSpPr txBox="1"/>
          <p:nvPr/>
        </p:nvSpPr>
        <p:spPr>
          <a:xfrm>
            <a:off x="893849" y="542673"/>
            <a:ext cx="370294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Theorie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1F50C3-7409-E29D-0796-4450B374762B}"/>
              </a:ext>
            </a:extLst>
          </p:cNvPr>
          <p:cNvSpPr txBox="1"/>
          <p:nvPr/>
        </p:nvSpPr>
        <p:spPr>
          <a:xfrm>
            <a:off x="594360" y="932688"/>
            <a:ext cx="2831160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Der Widerstand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B5CF6A-E423-A169-8BCF-823A9462A5E0}"/>
              </a:ext>
            </a:extLst>
          </p:cNvPr>
          <p:cNvSpPr txBox="1"/>
          <p:nvPr/>
        </p:nvSpPr>
        <p:spPr>
          <a:xfrm>
            <a:off x="635002" y="4913319"/>
            <a:ext cx="5181599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de-CH" sz="2000" dirty="0">
                <a:solidFill>
                  <a:srgbClr val="171717"/>
                </a:solidFill>
                <a:latin typeface="Aptos"/>
                <a:sym typeface="Wingdings" panose="05000000000000000000" pitchFamily="2" charset="2"/>
              </a:rPr>
              <a:t>Leitwert:</a:t>
            </a:r>
            <a:br>
              <a:rPr lang="de-CH" sz="2000" dirty="0">
                <a:solidFill>
                  <a:srgbClr val="171717"/>
                </a:solidFill>
                <a:latin typeface="Aptos"/>
                <a:sym typeface="Wingdings" panose="05000000000000000000" pitchFamily="2" charset="2"/>
              </a:rPr>
            </a:br>
            <a:r>
              <a:rPr lang="de-CH" sz="2000" dirty="0">
                <a:solidFill>
                  <a:srgbClr val="171717"/>
                </a:solidFill>
                <a:latin typeface="Aptos"/>
                <a:sym typeface="Wingdings" panose="05000000000000000000" pitchFamily="2" charset="2"/>
              </a:rPr>
              <a:t> </a:t>
            </a: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DFCB7595-8CAD-7AFC-ABE6-C36953BC4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0068A-9DB3-40F5-AFB1-2461A91696D3}" type="datetime1">
              <a:rPr lang="de-CH" smtClean="0"/>
              <a:t>07.10.2026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4E69F49A-6E94-4B9D-37A9-8F9664B61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W04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16856535-ED6D-B701-8BC3-F74846AD8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9D45ABA4-B8AE-2009-38B3-2D75C2E077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634488"/>
            <a:ext cx="2889828" cy="1993392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C82F69F1-E82B-32D8-C479-EB561BC1C6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5400" y="3799089"/>
            <a:ext cx="4210638" cy="1657581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F685386E-45DF-71CC-86B3-0A4E264A1A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7473" y="768096"/>
            <a:ext cx="6030167" cy="2724530"/>
          </a:xfrm>
          <a:prstGeom prst="rect">
            <a:avLst/>
          </a:prstGeom>
        </p:spPr>
      </p:pic>
      <p:sp>
        <p:nvSpPr>
          <p:cNvPr id="13" name="TextBox 10">
            <a:extLst>
              <a:ext uri="{FF2B5EF4-FFF2-40B4-BE49-F238E27FC236}">
                <a16:creationId xmlns:a16="http://schemas.microsoft.com/office/drawing/2014/main" id="{5632DA3C-5D82-DE23-0DCF-463907E66F17}"/>
              </a:ext>
            </a:extLst>
          </p:cNvPr>
          <p:cNvSpPr txBox="1"/>
          <p:nvPr/>
        </p:nvSpPr>
        <p:spPr>
          <a:xfrm>
            <a:off x="944919" y="2375852"/>
            <a:ext cx="5181599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dirty="0">
                <a:solidFill>
                  <a:srgbClr val="171717"/>
                </a:solidFill>
                <a:latin typeface="Aptos"/>
                <a:sym typeface="Wingdings" panose="05000000000000000000" pitchFamily="2" charset="2"/>
              </a:rPr>
              <a:t>Einheit Ohm [Ω]</a:t>
            </a:r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32CA24D3-415F-60E9-E639-E10FAC482D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9274" y="4572174"/>
            <a:ext cx="2160941" cy="1676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1648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C480F-073B-1249-D5DD-B58BE41FC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DDB2F16-7FE1-109D-B0F8-AD6DBC66BB94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8BB6B8-69EC-379B-5F2D-C52D9278375E}"/>
              </a:ext>
            </a:extLst>
          </p:cNvPr>
          <p:cNvSpPr txBox="1"/>
          <p:nvPr/>
        </p:nvSpPr>
        <p:spPr>
          <a:xfrm>
            <a:off x="830529" y="542673"/>
            <a:ext cx="496931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Rechnung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EB52DC-6E7C-6579-22FA-0243C31B6E7A}"/>
              </a:ext>
            </a:extLst>
          </p:cNvPr>
          <p:cNvSpPr txBox="1"/>
          <p:nvPr/>
        </p:nvSpPr>
        <p:spPr>
          <a:xfrm>
            <a:off x="594360" y="932688"/>
            <a:ext cx="4488729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Widerstand eines Leiters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A5C2CA0C-61C7-8703-6CE9-D41DE126B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0068A-9DB3-40F5-AFB1-2461A91696D3}" type="datetime1">
              <a:rPr lang="de-CH" smtClean="0"/>
              <a:t>07.10.2026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12CEEA1C-7CE3-BC89-9342-3E52BF1B5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W04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E90C7407-7E2D-AF1B-F1A0-9398698CD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1CCC6CA-D943-F051-BEAD-0D37479AC442}"/>
              </a:ext>
            </a:extLst>
          </p:cNvPr>
          <p:cNvSpPr>
            <a:spLocks noGrp="1"/>
          </p:cNvSpPr>
          <p:nvPr/>
        </p:nvSpPr>
        <p:spPr>
          <a:xfrm>
            <a:off x="6204163" y="1755797"/>
            <a:ext cx="5256000" cy="4860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70000" indent="-27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3" indent="-27146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0000" indent="-270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000" indent="-27146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50000" indent="-270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CH" sz="1600" dirty="0"/>
              <a:t>Ein dünner Kupferleiter (</a:t>
            </a:r>
            <a:r>
              <a:rPr lang="de-CH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l</a:t>
            </a:r>
            <a:r>
              <a:rPr lang="de-CH" sz="1600" dirty="0"/>
              <a:t> = 0.10 m lang, </a:t>
            </a:r>
            <a:r>
              <a:rPr lang="de-CH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w</a:t>
            </a:r>
            <a:r>
              <a:rPr lang="de-CH" sz="1600" dirty="0"/>
              <a:t> = 10 mm breit und </a:t>
            </a:r>
            <a:r>
              <a:rPr lang="de-CH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t</a:t>
            </a:r>
            <a:r>
              <a:rPr lang="de-CH" sz="1600" dirty="0"/>
              <a:t> = 0.10 mm hoch) wird von 20°C auf 120°C erwärmt. </a:t>
            </a:r>
            <a:r>
              <a:rPr lang="de-CH" sz="1600" noProof="0" dirty="0"/>
              <a:t>Berechnet:</a:t>
            </a:r>
          </a:p>
          <a:p>
            <a:r>
              <a:rPr lang="de-CH" sz="1600" noProof="0" dirty="0"/>
              <a:t>Den Widerstand des Leiters bei 20°C</a:t>
            </a:r>
          </a:p>
          <a:p>
            <a:r>
              <a:rPr lang="de-CH" sz="1600" noProof="0" dirty="0"/>
              <a:t>Den Widerstand des Leiters bei 120°C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120C6FF9-9E6E-0AE8-7046-F6BF232A2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37" y="4598533"/>
            <a:ext cx="5040000" cy="1663199"/>
          </a:xfrm>
          <a:prstGeom prst="rect">
            <a:avLst/>
          </a:prstGeom>
          <a:noFill/>
        </p:spPr>
      </p:pic>
      <p:pic>
        <p:nvPicPr>
          <p:cNvPr id="7" name="Picture 10">
            <a:extLst>
              <a:ext uri="{FF2B5EF4-FFF2-40B4-BE49-F238E27FC236}">
                <a16:creationId xmlns:a16="http://schemas.microsoft.com/office/drawing/2014/main" id="{446689E8-13F1-2ADA-A20F-99700DBB43D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7046"/>
          <a:stretch>
            <a:fillRect/>
          </a:stretch>
        </p:blipFill>
        <p:spPr>
          <a:xfrm>
            <a:off x="731836" y="1432704"/>
            <a:ext cx="5040000" cy="3027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5833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469B159-4F05-917A-1D05-3D2F2C330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6525DF1-A592-D0CC-6078-BDB5FBCE5B75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6D0D3C-9E2A-0C8C-130D-89BAEC8A331F}"/>
              </a:ext>
            </a:extLst>
          </p:cNvPr>
          <p:cNvSpPr txBox="1"/>
          <p:nvPr/>
        </p:nvSpPr>
        <p:spPr>
          <a:xfrm>
            <a:off x="830529" y="542673"/>
            <a:ext cx="496931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Rechnung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DF47A0-0639-2883-AD88-FCC78CC84C16}"/>
              </a:ext>
            </a:extLst>
          </p:cNvPr>
          <p:cNvSpPr txBox="1"/>
          <p:nvPr/>
        </p:nvSpPr>
        <p:spPr>
          <a:xfrm>
            <a:off x="594360" y="932688"/>
            <a:ext cx="4488729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Widerstand eines Leiters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AF19ED6D-ACF9-A72B-C5C9-2BBF550DA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0068A-9DB3-40F5-AFB1-2461A91696D3}" type="datetime1">
              <a:rPr lang="de-CH" smtClean="0"/>
              <a:t>07.10.2026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0A76160D-FFF4-16FA-7674-973230EE4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W04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E419EF6-1A26-F0C2-4E55-81B1327C9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E2F60CFB-4EDC-C2FA-3678-A89BC122406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204163" y="1755797"/>
                <a:ext cx="5256000" cy="4860000"/>
              </a:xfrm>
              <a:prstGeom prst="rect">
                <a:avLst/>
              </a:prstGeom>
            </p:spPr>
            <p:txBody>
              <a:bodyPr vert="horz" lIns="0" tIns="0" rIns="0" bIns="0" rtlCol="0">
                <a:normAutofit/>
              </a:bodyPr>
              <a:lstStyle>
                <a:lvl1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8163" indent="-271463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Symbol" panose="05050102010706020507" pitchFamily="18" charset="2"/>
                  <a:buChar char="-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10000" indent="-2700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Symbol" panose="05050102010706020507" pitchFamily="18" charset="2"/>
                  <a:buChar char="-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80000" indent="-271463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Symbol" panose="05050102010706020507" pitchFamily="18" charset="2"/>
                  <a:buChar char="-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50000" indent="-2700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Symbol" panose="05050102010706020507" pitchFamily="18" charset="2"/>
                  <a:buChar char="-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de-CH" sz="1600" dirty="0"/>
                  <a:t>Ein dünner Kupferleiter (</a:t>
                </a:r>
                <a:r>
                  <a:rPr lang="de-CH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l</a:t>
                </a:r>
                <a:r>
                  <a:rPr lang="de-CH" sz="1600" dirty="0"/>
                  <a:t> = 0.10 m lang, </a:t>
                </a:r>
                <a:r>
                  <a:rPr lang="de-CH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w</a:t>
                </a:r>
                <a:r>
                  <a:rPr lang="de-CH" sz="1600" dirty="0"/>
                  <a:t> = 10 mm breit und </a:t>
                </a:r>
                <a:r>
                  <a:rPr lang="de-CH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</a:t>
                </a:r>
                <a:r>
                  <a:rPr lang="de-CH" sz="1600" dirty="0"/>
                  <a:t> = 0.10 mm hoch) wird von 20°C auf 120°C erwärmt. Berechnet:</a:t>
                </a:r>
              </a:p>
              <a:p>
                <a:r>
                  <a:rPr lang="de-CH" sz="1600" dirty="0"/>
                  <a:t>Den Widerstand des Leiters bei 20°C</a:t>
                </a:r>
              </a:p>
              <a:p>
                <a:pPr marL="2667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de-CH" sz="1600" i="1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de-CH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i="1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l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wt</m:t>
                          </m:r>
                        </m:den>
                      </m:f>
                      <m:r>
                        <a:rPr lang="de-CH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≈1.8 </m:t>
                      </m:r>
                      <m:r>
                        <m:rPr>
                          <m:sty m:val="p"/>
                        </m:rPr>
                        <a:rPr lang="de-CH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mΩ</m:t>
                      </m:r>
                    </m:oMath>
                  </m:oMathPara>
                </a14:m>
                <a:endParaRPr lang="de-CH" sz="1600" dirty="0"/>
              </a:p>
              <a:p>
                <a:r>
                  <a:rPr lang="de-CH" sz="1600" dirty="0"/>
                  <a:t>Den Widerstand des Leiters bei 120°C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de-CH" sz="1600" i="1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de-CH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l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wt</m:t>
                          </m:r>
                        </m:den>
                      </m:f>
                      <m:sSub>
                        <m:sSubPr>
                          <m:ctrlPr>
                            <a:rPr lang="de-CH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R</m:t>
                          </m:r>
                        </m:sub>
                      </m:sSub>
                      <m:r>
                        <a:rPr lang="de-CH" sz="1600" i="1">
                          <a:latin typeface="Cambria Math" panose="02040503050406030204" pitchFamily="18" charset="0"/>
                        </a:rPr>
                        <m:t>(1+</m:t>
                      </m:r>
                      <m:r>
                        <a:rPr lang="de-CH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m:rPr>
                          <m:sty m:val="p"/>
                        </m:rPr>
                        <a:rPr lang="de-CH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ΔT</m:t>
                      </m:r>
                      <m:r>
                        <a:rPr lang="de-CH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)≈2.5 </m:t>
                      </m:r>
                      <m:r>
                        <m:rPr>
                          <m:sty m:val="p"/>
                        </m:rPr>
                        <a:rPr lang="de-CH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mΩ</m:t>
                      </m:r>
                    </m:oMath>
                  </m:oMathPara>
                </a14:m>
                <a:endParaRPr lang="de-CH" sz="1600" dirty="0"/>
              </a:p>
              <a:p>
                <a:pPr marL="0" indent="0">
                  <a:buNone/>
                </a:pPr>
                <a:r>
                  <a:rPr lang="de-CH" sz="1600" dirty="0"/>
                  <a:t>Auf zwei signifikante Stellen runden (siehe moodle -&gt; Informationen -&gt; Infoblatt Signifikante Stellen)</a:t>
                </a:r>
              </a:p>
              <a:p>
                <a:pPr marL="0" indent="0">
                  <a:buNone/>
                </a:pPr>
                <a:endParaRPr lang="de-CH" sz="1600" noProof="0" dirty="0"/>
              </a:p>
            </p:txBody>
          </p:sp>
        </mc:Choice>
        <mc:Fallback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E2F60CFB-4EDC-C2FA-3678-A89BC12240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163" y="1755797"/>
                <a:ext cx="5256000" cy="4860000"/>
              </a:xfrm>
              <a:prstGeom prst="rect">
                <a:avLst/>
              </a:prstGeom>
              <a:blipFill>
                <a:blip r:embed="rId3"/>
                <a:stretch>
                  <a:fillRect l="-2436" t="-1506" r="-812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6">
            <a:extLst>
              <a:ext uri="{FF2B5EF4-FFF2-40B4-BE49-F238E27FC236}">
                <a16:creationId xmlns:a16="http://schemas.microsoft.com/office/drawing/2014/main" id="{79FF2AA1-F720-B14D-B841-75732DAE79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837" y="4598533"/>
            <a:ext cx="5040000" cy="1663199"/>
          </a:xfrm>
          <a:prstGeom prst="rect">
            <a:avLst/>
          </a:prstGeom>
          <a:noFill/>
        </p:spPr>
      </p:pic>
      <p:pic>
        <p:nvPicPr>
          <p:cNvPr id="7" name="Picture 10">
            <a:extLst>
              <a:ext uri="{FF2B5EF4-FFF2-40B4-BE49-F238E27FC236}">
                <a16:creationId xmlns:a16="http://schemas.microsoft.com/office/drawing/2014/main" id="{6434D5B8-9BAF-6D76-EC27-801C5ACD7A6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7046"/>
          <a:stretch>
            <a:fillRect/>
          </a:stretch>
        </p:blipFill>
        <p:spPr>
          <a:xfrm>
            <a:off x="731836" y="1432704"/>
            <a:ext cx="5040000" cy="3027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8798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B11AD-50C5-5C75-D2C4-B2DB9ACEC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C9AB523-3D44-63E5-A6F6-D594B7353A42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E388EE-EE99-E613-F106-7A07B43F2674}"/>
              </a:ext>
            </a:extLst>
          </p:cNvPr>
          <p:cNvSpPr txBox="1"/>
          <p:nvPr/>
        </p:nvSpPr>
        <p:spPr>
          <a:xfrm>
            <a:off x="893849" y="542673"/>
            <a:ext cx="370294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Theorie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96F128-7017-1B4E-609F-FC4A19AA1CB2}"/>
              </a:ext>
            </a:extLst>
          </p:cNvPr>
          <p:cNvSpPr txBox="1"/>
          <p:nvPr/>
        </p:nvSpPr>
        <p:spPr>
          <a:xfrm>
            <a:off x="594360" y="932688"/>
            <a:ext cx="3950120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Grenzflächen (Erneut)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41E8E42B-D2BC-E43E-7BF6-1DCC0C6B7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0068A-9DB3-40F5-AFB1-2461A91696D3}" type="datetime1">
              <a:rPr lang="de-CH" smtClean="0"/>
              <a:t>07.10.2026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572CF2BE-495E-B8DD-4E86-E346362E5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W04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5703D27F-994B-07C1-D9F1-47FAA3DC4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C4250564-93C0-6E04-4375-1A7FFF098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39" y="1682517"/>
            <a:ext cx="3851399" cy="3492966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9C6E451B-2917-0138-F89D-748849AB73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289" y="5127652"/>
            <a:ext cx="989112" cy="444768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BA3BE448-78F4-5C3A-6078-93F9CFB2B2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289" y="5572420"/>
            <a:ext cx="1916211" cy="504266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13EE19B4-9EB0-B68E-EF49-E5C6B60696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1262" y="1717425"/>
            <a:ext cx="4431138" cy="3075532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2500DAE9-74DC-EC20-274B-2FDE907D99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7565" y="4854667"/>
            <a:ext cx="5534797" cy="495369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2DB6F264-0305-9341-2562-3F6D7E9FBB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7859" y="5313428"/>
            <a:ext cx="6639852" cy="97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0175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53179-910F-E4D0-DFC5-733917EC9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2C67AC2-C338-267F-C665-471B7ABD5127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C1F6D8-1689-86A9-0D80-E2FA76E3AD4E}"/>
              </a:ext>
            </a:extLst>
          </p:cNvPr>
          <p:cNvSpPr txBox="1"/>
          <p:nvPr/>
        </p:nvSpPr>
        <p:spPr>
          <a:xfrm>
            <a:off x="893849" y="542673"/>
            <a:ext cx="370294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Theorie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B1F181-C6AA-1388-D0F7-0D9232C5F7FD}"/>
              </a:ext>
            </a:extLst>
          </p:cNvPr>
          <p:cNvSpPr txBox="1"/>
          <p:nvPr/>
        </p:nvSpPr>
        <p:spPr>
          <a:xfrm>
            <a:off x="594360" y="932688"/>
            <a:ext cx="4006674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Was wieder wichtig ist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7C34E196-B2C7-D474-6FB7-A76639E9B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0068A-9DB3-40F5-AFB1-2461A91696D3}" type="datetime1">
              <a:rPr lang="de-CH" smtClean="0"/>
              <a:t>07.10.2026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DFB00658-E652-F9FF-F345-AABED1CA7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W04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B9709A3-DF47-F0AA-2696-6B4D09C48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0BAB632-3EF9-B705-DEA3-7C7788F6A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019" y="1427279"/>
            <a:ext cx="9935962" cy="3439005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C805C0BE-F93D-77A0-34DA-342D9D129A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2644" y="5090548"/>
            <a:ext cx="3658111" cy="99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1201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B8A0F-2A6B-CE08-2BEB-EDB3BE283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30D1452-C85C-CAB1-AA57-AB6E06C1EFA6}"/>
              </a:ext>
            </a:extLst>
          </p:cNvPr>
          <p:cNvSpPr/>
          <p:nvPr/>
        </p:nvSpPr>
        <p:spPr>
          <a:xfrm>
            <a:off x="594360" y="475488"/>
            <a:ext cx="1042416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44C585-53D6-E3C7-0535-D8DD0777D201}"/>
              </a:ext>
            </a:extLst>
          </p:cNvPr>
          <p:cNvSpPr txBox="1"/>
          <p:nvPr/>
        </p:nvSpPr>
        <p:spPr>
          <a:xfrm>
            <a:off x="594360" y="484632"/>
            <a:ext cx="1042416" cy="246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737373"/>
                </a:solidFill>
                <a:latin typeface="Aptos"/>
              </a:rPr>
              <a:t>RECHNUNG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2A6E75-5DBB-FA8F-CF1D-FB7D35F7EFD9}"/>
              </a:ext>
            </a:extLst>
          </p:cNvPr>
          <p:cNvSpPr txBox="1"/>
          <p:nvPr/>
        </p:nvSpPr>
        <p:spPr>
          <a:xfrm>
            <a:off x="594360" y="932688"/>
            <a:ext cx="2705292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Kleine Aufgabe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8F9D1037-01D0-2E07-7A68-AE5E0BCEA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509C2-9580-4AC6-A45D-3FC4C13CF777}" type="datetime1">
              <a:rPr lang="de-CH" smtClean="0"/>
              <a:t>07.10.2026</a:t>
            </a:fld>
            <a:endParaRPr lang="en-US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FA12CF55-D0D6-19E2-F854-9F97DEC82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W04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F9BEB2AB-ED20-8568-E685-77E23A0CA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7717D9A-BCB1-828B-6361-F24FCE880E91}"/>
                  </a:ext>
                </a:extLst>
              </p:cNvPr>
              <p:cNvSpPr txBox="1"/>
              <p:nvPr/>
            </p:nvSpPr>
            <p:spPr>
              <a:xfrm>
                <a:off x="594360" y="1409742"/>
                <a:ext cx="6072447" cy="14198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de-CH" sz="1600" dirty="0"/>
                  <a:t>Gegeben sei die Leitfähigkeit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de-CH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600" dirty="0"/>
                  <a:t>, der Betrag der Stromdichte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de-CH" sz="1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CH" sz="16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de-CH" sz="1600" i="1">
                                <a:latin typeface="Cambria Math" panose="02040503050406030204" pitchFamily="18" charset="0"/>
                              </a:rPr>
                              <m:t>J</m:t>
                            </m:r>
                          </m:e>
                        </m:acc>
                      </m:e>
                      <m:sub>
                        <m:r>
                          <a:rPr lang="de-CH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CH" sz="1600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de-CH" sz="1600" dirty="0"/>
                  <a:t>, sowie die Winkel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de-CH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dirty="0"/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de-CH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600" dirty="0"/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CH" sz="1600" dirty="0"/>
                  <a:t>Berechne die Normal und Tangentialkomponente von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de-CH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de-CH" sz="1600" i="1">
                                <a:latin typeface="Cambria Math" panose="02040503050406030204" pitchFamily="18" charset="0"/>
                              </a:rPr>
                              <m:t>J</m:t>
                            </m:r>
                          </m:e>
                        </m:acc>
                      </m:e>
                      <m:sub>
                        <m:r>
                          <a:rPr lang="de-CH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de-CH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CH" sz="1600" dirty="0"/>
                  <a:t>Berechne die Leitfähigkeit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de-CH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de-CH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CH" sz="1600" dirty="0"/>
                  <a:t>Berechne Normal und Tangentialkomponente von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de-CH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de-CH" sz="1600" i="1">
                                <a:latin typeface="Cambria Math" panose="02040503050406030204" pitchFamily="18" charset="0"/>
                              </a:rPr>
                              <m:t>J</m:t>
                            </m:r>
                          </m:e>
                        </m:acc>
                      </m:e>
                      <m:sub>
                        <m:r>
                          <a:rPr lang="de-CH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dirty="0"/>
                  <a:t> 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7717D9A-BCB1-828B-6361-F24FCE880E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" y="1409742"/>
                <a:ext cx="6072447" cy="1419876"/>
              </a:xfrm>
              <a:prstGeom prst="rect">
                <a:avLst/>
              </a:prstGeom>
              <a:blipFill>
                <a:blip r:embed="rId3"/>
                <a:stretch>
                  <a:fillRect l="-602" r="-904" b="-4721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8">
            <a:extLst>
              <a:ext uri="{FF2B5EF4-FFF2-40B4-BE49-F238E27FC236}">
                <a16:creationId xmlns:a16="http://schemas.microsoft.com/office/drawing/2014/main" id="{A8C4CCDB-1512-11BD-7C61-D9A939806E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" y="3082142"/>
            <a:ext cx="2700533" cy="2700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7592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E9C5AAD-98B6-F583-1DC8-2A5DB8A58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3E06FF7-B635-8859-FD71-2F047BB5BC8C}"/>
              </a:ext>
            </a:extLst>
          </p:cNvPr>
          <p:cNvSpPr/>
          <p:nvPr/>
        </p:nvSpPr>
        <p:spPr>
          <a:xfrm>
            <a:off x="594360" y="475488"/>
            <a:ext cx="1042416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6661A4-1570-A7FA-29B3-61FABAE05246}"/>
              </a:ext>
            </a:extLst>
          </p:cNvPr>
          <p:cNvSpPr txBox="1"/>
          <p:nvPr/>
        </p:nvSpPr>
        <p:spPr>
          <a:xfrm>
            <a:off x="594360" y="484632"/>
            <a:ext cx="1042416" cy="246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737373"/>
                </a:solidFill>
                <a:latin typeface="Aptos"/>
              </a:rPr>
              <a:t>RECHNUNG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4F2689-B9F2-7141-8C1F-3A62932AA354}"/>
              </a:ext>
            </a:extLst>
          </p:cNvPr>
          <p:cNvSpPr txBox="1"/>
          <p:nvPr/>
        </p:nvSpPr>
        <p:spPr>
          <a:xfrm>
            <a:off x="594360" y="932688"/>
            <a:ext cx="2705292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Kleine Aufgabe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44CCA267-64E0-5CD0-DF81-93211BD14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509C2-9580-4AC6-A45D-3FC4C13CF777}" type="datetime1">
              <a:rPr lang="de-CH" smtClean="0"/>
              <a:t>07.10.2026</a:t>
            </a:fld>
            <a:endParaRPr lang="en-US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D593604A-B14C-F763-F281-7E9A26CEF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W04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01325C71-37AF-DB3E-07A0-DA3281B5F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83173D9-B0EC-0F28-901D-CF9B32B00D44}"/>
                  </a:ext>
                </a:extLst>
              </p:cNvPr>
              <p:cNvSpPr txBox="1"/>
              <p:nvPr/>
            </p:nvSpPr>
            <p:spPr>
              <a:xfrm>
                <a:off x="594360" y="1409742"/>
                <a:ext cx="6072447" cy="14198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de-CH" sz="1600" dirty="0"/>
                  <a:t>Gegeben sei die Leitfähigkeit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de-CH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600" dirty="0"/>
                  <a:t>, der Betrag der Stromdichte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de-CH" sz="1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CH" sz="16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de-CH" sz="1600" i="1">
                                <a:latin typeface="Cambria Math" panose="02040503050406030204" pitchFamily="18" charset="0"/>
                              </a:rPr>
                              <m:t>J</m:t>
                            </m:r>
                          </m:e>
                        </m:acc>
                      </m:e>
                      <m:sub>
                        <m:r>
                          <a:rPr lang="de-CH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CH" sz="1600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de-CH" sz="1600" dirty="0"/>
                  <a:t>, sowie die Winkel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de-CH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dirty="0"/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de-CH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600" dirty="0"/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CH" sz="1600" dirty="0"/>
                  <a:t>Berechne die Normal und Tangentialkomponente von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de-CH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de-CH" sz="1600" i="1">
                                <a:latin typeface="Cambria Math" panose="02040503050406030204" pitchFamily="18" charset="0"/>
                              </a:rPr>
                              <m:t>J</m:t>
                            </m:r>
                          </m:e>
                        </m:acc>
                      </m:e>
                      <m:sub>
                        <m:r>
                          <a:rPr lang="de-CH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de-CH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CH" sz="1600" dirty="0"/>
                  <a:t>Berechne die Leitfähigkeit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de-CH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de-CH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CH" sz="1600" dirty="0"/>
                  <a:t>Berechne Normal und Tangentialkomponente von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de-CH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de-CH" sz="1600" i="1">
                                <a:latin typeface="Cambria Math" panose="02040503050406030204" pitchFamily="18" charset="0"/>
                              </a:rPr>
                              <m:t>J</m:t>
                            </m:r>
                          </m:e>
                        </m:acc>
                      </m:e>
                      <m:sub>
                        <m:r>
                          <a:rPr lang="de-CH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dirty="0"/>
                  <a:t> 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83173D9-B0EC-0F28-901D-CF9B32B00D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" y="1409742"/>
                <a:ext cx="6072447" cy="1419876"/>
              </a:xfrm>
              <a:prstGeom prst="rect">
                <a:avLst/>
              </a:prstGeom>
              <a:blipFill>
                <a:blip r:embed="rId3"/>
                <a:stretch>
                  <a:fillRect l="-602" r="-904" b="-4721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8">
            <a:extLst>
              <a:ext uri="{FF2B5EF4-FFF2-40B4-BE49-F238E27FC236}">
                <a16:creationId xmlns:a16="http://schemas.microsoft.com/office/drawing/2014/main" id="{7D336D10-CEDD-A8BD-3CDC-A5ABB3AAF4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" y="3082142"/>
            <a:ext cx="2700533" cy="270053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6">
                <a:extLst>
                  <a:ext uri="{FF2B5EF4-FFF2-40B4-BE49-F238E27FC236}">
                    <a16:creationId xmlns:a16="http://schemas.microsoft.com/office/drawing/2014/main" id="{01F96910-E92C-8FD9-0D3A-35B72C4E24FB}"/>
                  </a:ext>
                </a:extLst>
              </p:cNvPr>
              <p:cNvSpPr txBox="1"/>
              <p:nvPr/>
            </p:nvSpPr>
            <p:spPr>
              <a:xfrm>
                <a:off x="3482311" y="3306672"/>
                <a:ext cx="7381221" cy="23448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smtClean="0">
                            <a:latin typeface="Cambria Math" panose="02040503050406030204" pitchFamily="18" charset="0"/>
                          </a:rPr>
                          <m:t>J</m:t>
                        </m:r>
                      </m:e>
                      <m:sub>
                        <m:r>
                          <a:rPr lang="de-CH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de-CH" sz="1600" b="0" i="1" smtClean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de-CH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J</m:t>
                        </m:r>
                      </m:e>
                      <m:sub>
                        <m:r>
                          <a:rPr lang="de-CH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func>
                      <m:funcPr>
                        <m:ctrlPr>
                          <a:rPr lang="de-CH" sz="160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CH" sz="160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sSub>
                          <m:sSubPr>
                            <m:ctrlPr>
                              <a:rPr lang="de-CH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CH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de-CH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func>
                  </m:oMath>
                </a14:m>
                <a:r>
                  <a:rPr lang="de-CH" sz="1600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J</m:t>
                        </m:r>
                      </m:e>
                      <m:sub>
                        <m:r>
                          <a:rPr lang="de-CH" sz="16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de-CH" sz="1600" b="0" i="1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de-CH" sz="1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J</m:t>
                        </m:r>
                      </m:e>
                      <m:sub>
                        <m:r>
                          <a:rPr lang="de-CH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func>
                      <m:funcPr>
                        <m:ctrlPr>
                          <a:rPr lang="de-CH" sz="16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CH" sz="16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sSub>
                          <m:sSubPr>
                            <m:ctrlPr>
                              <a:rPr lang="de-CH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CH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de-CH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func>
                  </m:oMath>
                </a14:m>
                <a:endParaRPr lang="de-CH" sz="16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e-CH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𝜅</m:t>
                              </m:r>
                            </m:e>
                            <m:sub>
                              <m:r>
                                <a:rPr lang="de-CH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𝜅</m:t>
                              </m:r>
                            </m:e>
                            <m:sub>
                              <m:r>
                                <a:rPr lang="de-CH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de-CH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de-CH" sz="1600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CH" sz="1600" b="0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de-CH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CH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de-CH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de-CH" sz="160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CH" sz="160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de-CH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CH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de-CH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func>
                        </m:den>
                      </m:f>
                      <m:r>
                        <a:rPr lang="de-CH" sz="16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de-CH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  </m:t>
                      </m:r>
                      <m:sSub>
                        <m:sSubPr>
                          <m:ctrlPr>
                            <a:rPr lang="de-CH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𝜅</m:t>
                          </m:r>
                        </m:e>
                        <m:sub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de-CH" sz="160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CH" sz="160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de-CH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CH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de-CH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de-CH" sz="160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CH" sz="160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de-CH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CH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de-CH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func>
                        </m:den>
                      </m:f>
                      <m:sSub>
                        <m:sSubPr>
                          <m:ctrlPr>
                            <a:rPr lang="de-CH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𝜅</m:t>
                          </m:r>
                        </m:e>
                        <m:sub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CH" sz="16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a:rPr lang="de-CH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r>
                        <a:rPr lang="de-CH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r>
                        <a:rPr lang="de-CH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func>
                        <m:funcPr>
                          <m:ctrlPr>
                            <a:rPr lang="de-CH" sz="160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CH" sz="16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de-CH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de-CH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de-CH" sz="16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e>
                            <m:sub>
                              <m:r>
                                <a:rPr lang="de-CH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de-CH" sz="1600" b="0" i="1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e>
                            <m:sub>
                              <m:r>
                                <a:rPr lang="de-CH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de-CH" sz="1600" i="1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den>
                      </m:f>
                      <m:r>
                        <a:rPr lang="de-CH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de-CH" sz="160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CH" sz="160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de-CH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CH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de-CH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de-CH" sz="160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CH" sz="160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de-CH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CH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de-CH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func>
                        </m:den>
                      </m:f>
                      <m:r>
                        <a:rPr lang="de-CH" sz="16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de-CH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de-CH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de-CH" sz="160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CH" sz="160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de-CH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CH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de-CH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de-CH" sz="160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CH" sz="160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de-CH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CH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de-CH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func>
                        </m:den>
                      </m:f>
                      <m:sSub>
                        <m:sSub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de-CH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de-CH" sz="160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CH" sz="160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de-CH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CH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de-CH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de-CH" sz="160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CH" sz="160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de-CH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CH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de-CH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func>
                        </m:den>
                      </m:f>
                      <m:sSub>
                        <m:sSub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func>
                        <m:funcPr>
                          <m:ctrlPr>
                            <a:rPr lang="de-CH" sz="160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CH" sz="16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sSub>
                            <m:sSubPr>
                              <m:ctrlPr>
                                <a:rPr lang="de-CH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de-CH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de-CH" sz="1600" dirty="0"/>
              </a:p>
            </p:txBody>
          </p:sp>
        </mc:Choice>
        <mc:Fallback>
          <p:sp>
            <p:nvSpPr>
              <p:cNvPr id="5" name="TextBox 6">
                <a:extLst>
                  <a:ext uri="{FF2B5EF4-FFF2-40B4-BE49-F238E27FC236}">
                    <a16:creationId xmlns:a16="http://schemas.microsoft.com/office/drawing/2014/main" id="{01F96910-E92C-8FD9-0D3A-35B72C4E24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2311" y="3306672"/>
                <a:ext cx="7381221" cy="234480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93073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5D572-EB11-8AEA-BA7D-CB93C904B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8DE48DF-C3E6-67BA-1B9D-B447BB2F50D0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2A9ADC-68F0-DE28-FBA6-9F65D23F1267}"/>
              </a:ext>
            </a:extLst>
          </p:cNvPr>
          <p:cNvSpPr txBox="1"/>
          <p:nvPr/>
        </p:nvSpPr>
        <p:spPr>
          <a:xfrm>
            <a:off x="893849" y="542673"/>
            <a:ext cx="370294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Theorie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1B77BE-AB1D-BE3D-AE18-A847F03E9DB4}"/>
              </a:ext>
            </a:extLst>
          </p:cNvPr>
          <p:cNvSpPr txBox="1"/>
          <p:nvPr/>
        </p:nvSpPr>
        <p:spPr>
          <a:xfrm>
            <a:off x="594360" y="932688"/>
            <a:ext cx="3332131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Was passiert hier?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C9182419-C3CF-536B-CC19-176F1EFFB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0068A-9DB3-40F5-AFB1-2461A91696D3}" type="datetime1">
              <a:rPr lang="de-CH" smtClean="0"/>
              <a:t>07.10.2026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FD7B2649-CD38-0EA1-493D-D60FF52A0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W04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35CF35E-D41C-16CB-8BCE-6CC677FF6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B1EA5505-ACAD-F776-4060-E03E0E4BBFB2}"/>
                  </a:ext>
                </a:extLst>
              </p:cNvPr>
              <p:cNvSpPr txBox="1"/>
              <p:nvPr/>
            </p:nvSpPr>
            <p:spPr>
              <a:xfrm>
                <a:off x="457200" y="1917700"/>
                <a:ext cx="7181838" cy="42835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CH" dirty="0"/>
                  <a:t>Wenn Material 2 nicht leitet, dann kann auch kein Strom fliessen</a:t>
                </a:r>
                <a:br>
                  <a:rPr lang="de-CH" dirty="0"/>
                </a:br>
                <a:br>
                  <a:rPr lang="de-CH" dirty="0"/>
                </a:br>
                <a:br>
                  <a:rPr lang="de-CH" dirty="0"/>
                </a:br>
                <a:br>
                  <a:rPr lang="de-CH" dirty="0"/>
                </a:br>
                <a:br>
                  <a:rPr lang="de-CH" dirty="0"/>
                </a:br>
                <a:br>
                  <a:rPr lang="de-CH" dirty="0"/>
                </a:br>
                <a:br>
                  <a:rPr lang="de-CH" dirty="0"/>
                </a:br>
                <a:br>
                  <a:rPr lang="de-CH" dirty="0"/>
                </a:br>
                <a:br>
                  <a:rPr lang="de-CH" dirty="0"/>
                </a:br>
                <a:br>
                  <a:rPr lang="de-CH" dirty="0"/>
                </a:br>
                <a:endParaRPr lang="de-CH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CH" dirty="0"/>
                  <a:t>Wenn Material 2 unendlich gut leitet, verschwindet das elektrische Feld</a:t>
                </a:r>
                <a:br>
                  <a:rPr lang="de-CH" dirty="0"/>
                </a:br>
                <a:br>
                  <a:rPr lang="de-CH" dirty="0"/>
                </a:b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de-CH" i="1"/>
                        </m:ctrlPr>
                      </m:accPr>
                      <m:e>
                        <m:r>
                          <a:rPr lang="de-CH" i="1"/>
                          <m:t>𝐸</m:t>
                        </m:r>
                      </m:e>
                    </m:acc>
                    <m:r>
                      <a:rPr lang="de-CH"/>
                      <m:t>=</m:t>
                    </m:r>
                    <m:f>
                      <m:fPr>
                        <m:ctrlPr>
                          <a:rPr lang="de-CH" i="1"/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de-CH" i="1"/>
                            </m:ctrlPr>
                          </m:accPr>
                          <m:e>
                            <m:r>
                              <a:rPr lang="de-CH" i="1"/>
                              <m:t>𝐽</m:t>
                            </m:r>
                          </m:e>
                        </m:acc>
                      </m:num>
                      <m:den>
                        <m:r>
                          <a:rPr lang="de-CH" i="1"/>
                          <m:t>𝜅</m:t>
                        </m:r>
                      </m:den>
                    </m:f>
                  </m:oMath>
                </a14:m>
                <a:endParaRPr lang="de-CH" dirty="0"/>
              </a:p>
            </p:txBody>
          </p:sp>
        </mc:Choice>
        <mc:Fallback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B1EA5505-ACAD-F776-4060-E03E0E4BBF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917700"/>
                <a:ext cx="7181838" cy="4283545"/>
              </a:xfrm>
              <a:prstGeom prst="rect">
                <a:avLst/>
              </a:prstGeom>
              <a:blipFill>
                <a:blip r:embed="rId3"/>
                <a:stretch>
                  <a:fillRect l="-509" t="-855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Grafik 11">
            <a:extLst>
              <a:ext uri="{FF2B5EF4-FFF2-40B4-BE49-F238E27FC236}">
                <a16:creationId xmlns:a16="http://schemas.microsoft.com/office/drawing/2014/main" id="{86F6E141-8BE8-8D94-51B7-51220BD7E6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1878" y="688585"/>
            <a:ext cx="2330660" cy="2765815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A1210442-CBB6-3ED3-708C-2576092EA6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1911" y="3625860"/>
            <a:ext cx="2210593" cy="2651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7931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A3449-E1E6-5744-6C4C-6DE8FED3D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7E0DD5D-520A-DD9B-466B-A680CAF6DE5B}"/>
              </a:ext>
            </a:extLst>
          </p:cNvPr>
          <p:cNvSpPr/>
          <p:nvPr/>
        </p:nvSpPr>
        <p:spPr>
          <a:xfrm>
            <a:off x="594360" y="475488"/>
            <a:ext cx="1042416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B76B2F-E4AD-887E-18C0-FBD7B3C970D7}"/>
              </a:ext>
            </a:extLst>
          </p:cNvPr>
          <p:cNvSpPr txBox="1"/>
          <p:nvPr/>
        </p:nvSpPr>
        <p:spPr>
          <a:xfrm>
            <a:off x="594360" y="484632"/>
            <a:ext cx="1042416" cy="246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737373"/>
                </a:solidFill>
                <a:latin typeface="Aptos"/>
              </a:rPr>
              <a:t>RECHNUNG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296BA0-C38D-C4DD-50ED-5A77A3BF31DC}"/>
              </a:ext>
            </a:extLst>
          </p:cNvPr>
          <p:cNvSpPr txBox="1"/>
          <p:nvPr/>
        </p:nvSpPr>
        <p:spPr>
          <a:xfrm>
            <a:off x="594360" y="932688"/>
            <a:ext cx="3306290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Was passiert nun?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DA37984B-1C59-ED97-7E88-793714CF4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509C2-9580-4AC6-A45D-3FC4C13CF777}" type="datetime1">
              <a:rPr lang="de-CH" smtClean="0"/>
              <a:t>07.10.2026</a:t>
            </a:fld>
            <a:endParaRPr lang="en-US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441351E2-816C-A4D5-95C0-59DD1C7C4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W04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E426719B-64D5-C8DC-9A20-27FCF19F9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5">
                <a:extLst>
                  <a:ext uri="{FF2B5EF4-FFF2-40B4-BE49-F238E27FC236}">
                    <a16:creationId xmlns:a16="http://schemas.microsoft.com/office/drawing/2014/main" id="{7658F0A5-BDE7-4F04-61AB-C3D7F0F582B3}"/>
                  </a:ext>
                </a:extLst>
              </p:cNvPr>
              <p:cNvSpPr txBox="1"/>
              <p:nvPr/>
            </p:nvSpPr>
            <p:spPr>
              <a:xfrm>
                <a:off x="594360" y="1391511"/>
                <a:ext cx="6072447" cy="614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de-CH" sz="1600" dirty="0"/>
                  <a:t>Sei nun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de-CH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CH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de-CH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de-CH" sz="1600" dirty="0"/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de-CH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CH" sz="16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de-CH" sz="1600" dirty="0"/>
                  <a:t>. </a:t>
                </a:r>
              </a:p>
              <a:p>
                <a:r>
                  <a:rPr lang="de-CH" sz="1600" dirty="0"/>
                  <a:t>Was kann man über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de-CH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de-CH" sz="1600" i="1">
                                <a:latin typeface="Cambria Math" panose="02040503050406030204" pitchFamily="18" charset="0"/>
                              </a:rPr>
                              <m:t>J</m:t>
                            </m:r>
                          </m:e>
                        </m:acc>
                      </m:e>
                      <m:sub>
                        <m:r>
                          <a:rPr lang="de-CH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dirty="0"/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de-CH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de-CH" sz="1600" i="1">
                                <a:latin typeface="Cambria Math" panose="02040503050406030204" pitchFamily="18" charset="0"/>
                              </a:rPr>
                              <m:t>J</m:t>
                            </m:r>
                          </m:e>
                        </m:acc>
                      </m:e>
                      <m:sub>
                        <m:r>
                          <a:rPr lang="de-CH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600" dirty="0"/>
                  <a:t> aussagen?</a:t>
                </a:r>
              </a:p>
            </p:txBody>
          </p:sp>
        </mc:Choice>
        <mc:Fallback>
          <p:sp>
            <p:nvSpPr>
              <p:cNvPr id="5" name="TextBox 5">
                <a:extLst>
                  <a:ext uri="{FF2B5EF4-FFF2-40B4-BE49-F238E27FC236}">
                    <a16:creationId xmlns:a16="http://schemas.microsoft.com/office/drawing/2014/main" id="{7658F0A5-BDE7-4F04-61AB-C3D7F0F582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" y="1391511"/>
                <a:ext cx="6072447" cy="614720"/>
              </a:xfrm>
              <a:prstGeom prst="rect">
                <a:avLst/>
              </a:prstGeom>
              <a:blipFill>
                <a:blip r:embed="rId3"/>
                <a:stretch>
                  <a:fillRect l="-602" t="-2970" b="-11881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8">
            <a:extLst>
              <a:ext uri="{FF2B5EF4-FFF2-40B4-BE49-F238E27FC236}">
                <a16:creationId xmlns:a16="http://schemas.microsoft.com/office/drawing/2014/main" id="{A9A5244E-613A-3ED4-802C-D4E0B52029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" y="3063911"/>
            <a:ext cx="2700533" cy="2700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4833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D273C30-31FF-136E-7521-80B0EA3FA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6BD37FE-0EC6-3CD1-2439-68A2D40AF93F}"/>
              </a:ext>
            </a:extLst>
          </p:cNvPr>
          <p:cNvSpPr/>
          <p:nvPr/>
        </p:nvSpPr>
        <p:spPr>
          <a:xfrm>
            <a:off x="594360" y="475488"/>
            <a:ext cx="1042416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755ACE-9622-DD00-3EFF-89DCA9F18D57}"/>
              </a:ext>
            </a:extLst>
          </p:cNvPr>
          <p:cNvSpPr txBox="1"/>
          <p:nvPr/>
        </p:nvSpPr>
        <p:spPr>
          <a:xfrm>
            <a:off x="594360" y="484632"/>
            <a:ext cx="1042416" cy="246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737373"/>
                </a:solidFill>
                <a:latin typeface="Aptos"/>
              </a:rPr>
              <a:t>RECHNUNG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F1B19F-8B7F-DF86-4072-37773E854C3B}"/>
              </a:ext>
            </a:extLst>
          </p:cNvPr>
          <p:cNvSpPr txBox="1"/>
          <p:nvPr/>
        </p:nvSpPr>
        <p:spPr>
          <a:xfrm>
            <a:off x="594360" y="932688"/>
            <a:ext cx="3306290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Was passiert nun?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AFBFC75E-D586-009F-CBFE-598739C98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509C2-9580-4AC6-A45D-3FC4C13CF777}" type="datetime1">
              <a:rPr lang="de-CH" smtClean="0"/>
              <a:t>07.10.2026</a:t>
            </a:fld>
            <a:endParaRPr lang="en-US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77087FAB-182A-EFB3-D5E8-B9098E4A4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W04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5FA67ADD-A5F6-8720-481D-E341B0250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5">
                <a:extLst>
                  <a:ext uri="{FF2B5EF4-FFF2-40B4-BE49-F238E27FC236}">
                    <a16:creationId xmlns:a16="http://schemas.microsoft.com/office/drawing/2014/main" id="{D3E674EE-27F6-A958-9265-465B24A88E15}"/>
                  </a:ext>
                </a:extLst>
              </p:cNvPr>
              <p:cNvSpPr txBox="1"/>
              <p:nvPr/>
            </p:nvSpPr>
            <p:spPr>
              <a:xfrm>
                <a:off x="594360" y="1391511"/>
                <a:ext cx="6072447" cy="614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de-CH" sz="1600" dirty="0"/>
                  <a:t>Sei nun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de-CH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CH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de-CH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de-CH" sz="1600" dirty="0"/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de-CH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CH" sz="16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de-CH" sz="1600" dirty="0"/>
                  <a:t>. </a:t>
                </a:r>
              </a:p>
              <a:p>
                <a:r>
                  <a:rPr lang="de-CH" sz="1600" dirty="0"/>
                  <a:t>Was kann man über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de-CH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de-CH" sz="1600" i="1">
                                <a:latin typeface="Cambria Math" panose="02040503050406030204" pitchFamily="18" charset="0"/>
                              </a:rPr>
                              <m:t>J</m:t>
                            </m:r>
                          </m:e>
                        </m:acc>
                      </m:e>
                      <m:sub>
                        <m:r>
                          <a:rPr lang="de-CH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dirty="0"/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de-CH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de-CH" sz="1600" i="1">
                                <a:latin typeface="Cambria Math" panose="02040503050406030204" pitchFamily="18" charset="0"/>
                              </a:rPr>
                              <m:t>J</m:t>
                            </m:r>
                          </m:e>
                        </m:acc>
                      </m:e>
                      <m:sub>
                        <m:r>
                          <a:rPr lang="de-CH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600" dirty="0"/>
                  <a:t> aussagen?</a:t>
                </a:r>
              </a:p>
            </p:txBody>
          </p:sp>
        </mc:Choice>
        <mc:Fallback>
          <p:sp>
            <p:nvSpPr>
              <p:cNvPr id="5" name="TextBox 5">
                <a:extLst>
                  <a:ext uri="{FF2B5EF4-FFF2-40B4-BE49-F238E27FC236}">
                    <a16:creationId xmlns:a16="http://schemas.microsoft.com/office/drawing/2014/main" id="{D3E674EE-27F6-A958-9265-465B24A88E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" y="1391511"/>
                <a:ext cx="6072447" cy="614720"/>
              </a:xfrm>
              <a:prstGeom prst="rect">
                <a:avLst/>
              </a:prstGeom>
              <a:blipFill>
                <a:blip r:embed="rId3"/>
                <a:stretch>
                  <a:fillRect l="-602" t="-2970" b="-11881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8">
            <a:extLst>
              <a:ext uri="{FF2B5EF4-FFF2-40B4-BE49-F238E27FC236}">
                <a16:creationId xmlns:a16="http://schemas.microsoft.com/office/drawing/2014/main" id="{F10399A5-8E5A-3B7B-4CEC-94CC6589AF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" y="3063911"/>
            <a:ext cx="2700533" cy="270053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4D0B0D30-BA1C-7444-5FCB-52E583209E5B}"/>
                  </a:ext>
                </a:extLst>
              </p:cNvPr>
              <p:cNvSpPr txBox="1"/>
              <p:nvPr/>
            </p:nvSpPr>
            <p:spPr>
              <a:xfrm>
                <a:off x="3776990" y="3697095"/>
                <a:ext cx="7381221" cy="11546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J</m:t>
                        </m:r>
                      </m:e>
                      <m:sub>
                        <m:r>
                          <a:rPr lang="de-CH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de-CH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J</m:t>
                        </m:r>
                      </m:e>
                      <m:sub>
                        <m:r>
                          <a:rPr lang="de-CH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de-CH" sz="1600" b="0" i="1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de-CH" sz="16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de-CH" sz="1600" dirty="0"/>
                  <a:t>, da in einem nicht leitfähigen Material kein Strom fliessen kann.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J</m:t>
                        </m:r>
                      </m:e>
                      <m:sub>
                        <m:r>
                          <a:rPr lang="de-CH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de-CH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J</m:t>
                        </m:r>
                      </m:e>
                      <m:sub>
                        <m:r>
                          <a:rPr lang="de-CH" sz="16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de-CH" sz="1600" b="0" i="1" smtClean="0">
                        <a:latin typeface="Cambria Math" panose="02040503050406030204" pitchFamily="18" charset="0"/>
                      </a:rPr>
                      <m:t>=0,</m:t>
                    </m:r>
                  </m:oMath>
                </a14:m>
                <a:r>
                  <a:rPr lang="de-CH" sz="1600" dirty="0"/>
                  <a:t> da die Normalkomponente stetig ist.</a:t>
                </a:r>
              </a:p>
              <a:p>
                <a:pPr>
                  <a:lnSpc>
                    <a:spcPct val="150000"/>
                  </a:lnSpc>
                </a:pPr>
                <a:r>
                  <a:rPr lang="de-CH" sz="1600" dirty="0"/>
                  <a:t>D.h. fliesst in Material 2 ein Strom, so fliesst er tangential zur Oberfläche.</a:t>
                </a:r>
              </a:p>
            </p:txBody>
          </p:sp>
        </mc:Choice>
        <mc:Fallback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4D0B0D30-BA1C-7444-5FCB-52E583209E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6990" y="3697095"/>
                <a:ext cx="7381221" cy="1154675"/>
              </a:xfrm>
              <a:prstGeom prst="rect">
                <a:avLst/>
              </a:prstGeom>
              <a:blipFill>
                <a:blip r:embed="rId5"/>
                <a:stretch>
                  <a:fillRect l="-496" b="-6316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77020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C8961-1A15-8F06-C290-DB2B20B5A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D620CB2-B08B-BE09-14E6-C146059408E6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0587F1-E24F-752E-8B13-2A7C42E26029}"/>
              </a:ext>
            </a:extLst>
          </p:cNvPr>
          <p:cNvSpPr txBox="1"/>
          <p:nvPr/>
        </p:nvSpPr>
        <p:spPr>
          <a:xfrm>
            <a:off x="893849" y="542673"/>
            <a:ext cx="370294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Theorie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EED610-1467-C2CE-07F8-5854023352CF}"/>
              </a:ext>
            </a:extLst>
          </p:cNvPr>
          <p:cNvSpPr txBox="1"/>
          <p:nvPr/>
        </p:nvSpPr>
        <p:spPr>
          <a:xfrm>
            <a:off x="594360" y="932688"/>
            <a:ext cx="3748590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Leistung und Energie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B56D30-01E8-0306-53E2-880DC6D19C35}"/>
              </a:ext>
            </a:extLst>
          </p:cNvPr>
          <p:cNvSpPr txBox="1"/>
          <p:nvPr/>
        </p:nvSpPr>
        <p:spPr>
          <a:xfrm>
            <a:off x="792519" y="2730745"/>
            <a:ext cx="5181599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dirty="0">
                <a:solidFill>
                  <a:srgbClr val="171717"/>
                </a:solidFill>
                <a:latin typeface="Aptos"/>
                <a:sym typeface="Wingdings" panose="05000000000000000000" pitchFamily="2" charset="2"/>
              </a:rPr>
              <a:t>Energie = Leistung * Zeit, in der man die Leistung erbringt</a:t>
            </a: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56BE7685-0EDC-967E-F343-3FCB7F396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0068A-9DB3-40F5-AFB1-2461A91696D3}" type="datetime1">
              <a:rPr lang="de-CH" smtClean="0"/>
              <a:t>07.10.2026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AE5362B1-826A-7236-9B4A-B13CC14F9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W04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59847F53-F2B0-FD5E-DA81-19FD63921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A765A176-E8AE-3CC6-A596-BAC6908631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1298" y="768096"/>
            <a:ext cx="5930300" cy="1061212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C0CC1171-C957-3B76-43C6-23A30ADE03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4588" y="2660402"/>
            <a:ext cx="1419423" cy="68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7532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A3F85-EEBF-8D68-5B59-AAD487D0A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204966E-8813-DA52-275C-079E18A90D97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52D377-2BE3-DDBE-913E-FE57915DB13C}"/>
              </a:ext>
            </a:extLst>
          </p:cNvPr>
          <p:cNvSpPr txBox="1"/>
          <p:nvPr/>
        </p:nvSpPr>
        <p:spPr>
          <a:xfrm>
            <a:off x="893849" y="542673"/>
            <a:ext cx="370294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Theorie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70F1B8-6C70-69A7-DB65-557D3198C3BD}"/>
              </a:ext>
            </a:extLst>
          </p:cNvPr>
          <p:cNvSpPr txBox="1"/>
          <p:nvPr/>
        </p:nvSpPr>
        <p:spPr>
          <a:xfrm>
            <a:off x="594360" y="932688"/>
            <a:ext cx="4174797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Widerstandsnetzwerke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A34F80-3F6A-90BC-D78A-AEAE0EEE0792}"/>
              </a:ext>
            </a:extLst>
          </p:cNvPr>
          <p:cNvSpPr txBox="1"/>
          <p:nvPr/>
        </p:nvSpPr>
        <p:spPr>
          <a:xfrm>
            <a:off x="594360" y="1574579"/>
            <a:ext cx="5181599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dirty="0">
                <a:solidFill>
                  <a:srgbClr val="171717"/>
                </a:solidFill>
                <a:latin typeface="Aptos"/>
                <a:sym typeface="Wingdings" panose="05000000000000000000" pitchFamily="2" charset="2"/>
              </a:rPr>
              <a:t>Wie Kondensatoren einfach umgekehrt</a:t>
            </a: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7FE1A292-C594-8C4F-A1AB-A4C236419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0068A-9DB3-40F5-AFB1-2461A91696D3}" type="datetime1">
              <a:rPr lang="de-CH" smtClean="0"/>
              <a:t>07.10.2026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308FD4D2-36A1-52F1-D18B-23A73D33F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W04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F9C85684-1C68-9DDF-3DFF-55782D894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EC9BDE81-FFC8-41A7-5F87-92919C2B4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882093"/>
            <a:ext cx="5815156" cy="2372407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FB6B48A2-17E9-D480-2D9C-2595C872C8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155" y="4163963"/>
            <a:ext cx="5758361" cy="213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7282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991A0-8196-1506-9E58-E2A632C35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0D6E9A1-AF5A-CD3D-6A80-2351A349DA2B}"/>
              </a:ext>
            </a:extLst>
          </p:cNvPr>
          <p:cNvSpPr/>
          <p:nvPr/>
        </p:nvSpPr>
        <p:spPr>
          <a:xfrm>
            <a:off x="594360" y="475488"/>
            <a:ext cx="1042416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BB4BF8-63F8-3269-1210-36763C56C1A7}"/>
              </a:ext>
            </a:extLst>
          </p:cNvPr>
          <p:cNvSpPr txBox="1"/>
          <p:nvPr/>
        </p:nvSpPr>
        <p:spPr>
          <a:xfrm>
            <a:off x="594360" y="484632"/>
            <a:ext cx="1042416" cy="246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737373"/>
                </a:solidFill>
                <a:latin typeface="Aptos"/>
              </a:rPr>
              <a:t>RECHNUNG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C09151-1E6D-B73B-DCC9-EDCB70D6FE7E}"/>
              </a:ext>
            </a:extLst>
          </p:cNvPr>
          <p:cNvSpPr txBox="1"/>
          <p:nvPr/>
        </p:nvSpPr>
        <p:spPr>
          <a:xfrm>
            <a:off x="594360" y="932688"/>
            <a:ext cx="2913683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Aufgabe </a:t>
            </a:r>
            <a:r>
              <a:rPr lang="de-CH" sz="3100" b="1" dirty="0" err="1">
                <a:solidFill>
                  <a:srgbClr val="171717"/>
                </a:solidFill>
                <a:latin typeface="Aptos"/>
              </a:rPr>
              <a:t>Moodle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78987BC8-F5C4-4354-F5E0-707668EFD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509C2-9580-4AC6-A45D-3FC4C13CF777}" type="datetime1">
              <a:rPr lang="de-CH" smtClean="0"/>
              <a:t>07.10.2026</a:t>
            </a:fld>
            <a:endParaRPr lang="en-US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51703749-33F5-16F9-61A1-A68F52D9A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W04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04E96880-7542-0552-5BE0-1482D6BB1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24</a:t>
            </a:fld>
            <a:endParaRPr lang="en-US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BEAD7D2E-7FDF-71AD-70DA-55A71DD6A5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423273"/>
            <a:ext cx="9754961" cy="511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9192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84632"/>
            <a:ext cx="969264" cy="246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737373"/>
                </a:solidFill>
                <a:latin typeface="Aptos"/>
              </a:rPr>
              <a:t>AM ENDE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51560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00" b="1">
                <a:solidFill>
                  <a:srgbClr val="171717"/>
                </a:solidFill>
                <a:latin typeface="Aptos"/>
              </a:rPr>
              <a:t>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609344"/>
            <a:ext cx="969264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737373"/>
                </a:solidFill>
                <a:latin typeface="Aptos"/>
              </a:rPr>
              <a:t>Drei Dinge, die heute sitzen sollten.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423160"/>
            <a:ext cx="340156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8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2697480"/>
            <a:ext cx="4572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737373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246120"/>
            <a:ext cx="2441502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1800" b="1" dirty="0">
                <a:solidFill>
                  <a:srgbClr val="171717"/>
                </a:solidFill>
                <a:latin typeface="Aptos"/>
              </a:rPr>
              <a:t>Strom und Stromdichte</a:t>
            </a:r>
            <a:endParaRPr sz="18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297680" y="2423160"/>
            <a:ext cx="340156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8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2697480"/>
            <a:ext cx="4572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737373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3246120"/>
            <a:ext cx="123591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1800" b="1" dirty="0">
                <a:solidFill>
                  <a:srgbClr val="171717"/>
                </a:solidFill>
                <a:latin typeface="Aptos"/>
              </a:rPr>
              <a:t>URI und PUI</a:t>
            </a:r>
            <a:endParaRPr sz="18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01000" y="2423160"/>
            <a:ext cx="340156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8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8247888" y="2697480"/>
            <a:ext cx="4572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737373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3246120"/>
            <a:ext cx="1409681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1800" b="1" dirty="0">
                <a:solidFill>
                  <a:srgbClr val="171717"/>
                </a:solidFill>
                <a:latin typeface="Aptos"/>
              </a:rPr>
              <a:t>Grenzflächen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5074920"/>
            <a:ext cx="18288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171717"/>
                </a:solidFill>
                <a:latin typeface="Aptos"/>
              </a:rPr>
              <a:t>Fragen?</a:t>
            </a:r>
          </a:p>
        </p:txBody>
      </p:sp>
      <p:sp>
        <p:nvSpPr>
          <p:cNvPr id="24" name="Datumsplatzhalter 23">
            <a:extLst>
              <a:ext uri="{FF2B5EF4-FFF2-40B4-BE49-F238E27FC236}">
                <a16:creationId xmlns:a16="http://schemas.microsoft.com/office/drawing/2014/main" id="{2EA94921-0C4B-A8A0-74D0-1080596E2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8D0E4-4C09-4C46-AD41-C615A019C079}" type="datetime1">
              <a:rPr lang="de-CH" smtClean="0"/>
              <a:t>07.10.2026</a:t>
            </a:fld>
            <a:endParaRPr lang="en-US" dirty="0"/>
          </a:p>
        </p:txBody>
      </p:sp>
      <p:sp>
        <p:nvSpPr>
          <p:cNvPr id="25" name="Fußzeilenplatzhalter 24">
            <a:extLst>
              <a:ext uri="{FF2B5EF4-FFF2-40B4-BE49-F238E27FC236}">
                <a16:creationId xmlns:a16="http://schemas.microsoft.com/office/drawing/2014/main" id="{9438F619-6A04-AD9B-6C65-51AEB489A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W04</a:t>
            </a:r>
          </a:p>
        </p:txBody>
      </p:sp>
      <p:sp>
        <p:nvSpPr>
          <p:cNvPr id="26" name="Foliennummernplatzhalter 25">
            <a:extLst>
              <a:ext uri="{FF2B5EF4-FFF2-40B4-BE49-F238E27FC236}">
                <a16:creationId xmlns:a16="http://schemas.microsoft.com/office/drawing/2014/main" id="{6A495C1E-4949-515F-CE44-BD0B40A25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1620</Words>
  <Application>Microsoft Office PowerPoint</Application>
  <PresentationFormat>Breitbild</PresentationFormat>
  <Paragraphs>225</Paragraphs>
  <Slides>25</Slides>
  <Notes>25</Notes>
  <HiddenSlides>4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25</vt:i4>
      </vt:variant>
    </vt:vector>
  </HeadingPairs>
  <TitlesOfParts>
    <vt:vector size="30" baseType="lpstr">
      <vt:lpstr>Aptos</vt:lpstr>
      <vt:lpstr>Arial</vt:lpstr>
      <vt:lpstr>Calibri</vt:lpstr>
      <vt:lpstr>Cambria Math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W04</dc:title>
  <dc:subject/>
  <dc:creator>Enrico Putzi</dc:creator>
  <cp:keywords/>
  <dc:description>generated using python-pptx</dc:description>
  <cp:lastModifiedBy>Putzi  Enrico</cp:lastModifiedBy>
  <cp:revision>18</cp:revision>
  <dcterms:created xsi:type="dcterms:W3CDTF">2013-01-27T09:14:16Z</dcterms:created>
  <dcterms:modified xsi:type="dcterms:W3CDTF">2026-10-07T16:46:39Z</dcterms:modified>
  <cp:category/>
</cp:coreProperties>
</file>