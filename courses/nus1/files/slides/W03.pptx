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5" r:id="rId4"/>
    <p:sldId id="264" r:id="rId5"/>
    <p:sldId id="266" r:id="rId6"/>
    <p:sldId id="268" r:id="rId7"/>
    <p:sldId id="267" r:id="rId8"/>
    <p:sldId id="269" r:id="rId9"/>
    <p:sldId id="270" r:id="rId10"/>
    <p:sldId id="281" r:id="rId11"/>
    <p:sldId id="271" r:id="rId12"/>
    <p:sldId id="276" r:id="rId13"/>
    <p:sldId id="277" r:id="rId14"/>
    <p:sldId id="279" r:id="rId15"/>
    <p:sldId id="280" r:id="rId16"/>
    <p:sldId id="272" r:id="rId17"/>
    <p:sldId id="278" r:id="rId18"/>
    <p:sldId id="273" r:id="rId19"/>
    <p:sldId id="26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91" autoAdjust="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78" y="10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9192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Cover. Pro Woche nur Übungsnummer, Thema und ggf. Website-Link ändern.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5BA37-326F-6A2B-0D59-5D07752C7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0CFC9A-73B9-1E19-9D87-B9A0062377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E6FCE0-C576-F1F9-7220-47971273F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42F4C-8E1D-4213-9AC7-ED24CA16D4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46818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7030C-7247-D3A1-3994-05F8E1905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DA2C4-2944-CFB1-38A6-55A69D1E9A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56212D-C5BE-1FD2-8FD6-F1FEBE3EB6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522A8-78E1-2483-15E8-86115395A3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62067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0306B-36B7-0CF1-DEC2-B2A4599D1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51AD74-FD11-6CF1-A4A4-775E4BD93D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B815BE-AEBC-05C2-458F-EA280632F5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81DDF-9F43-DA92-8707-1855590606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68445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BE844-290F-6B5F-5230-3900D7694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28FF77-D66E-16C7-469C-26054A6D2B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083376-05BC-FB42-C708-52A036287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1D9D5-A8EB-3888-0BF8-D73DB3D44E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21970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96E70-6338-448A-6D23-9FF3E4F35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19B8BF-D7A9-452A-2534-2F6EB5C119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B64CFB-C8EE-887C-1EC1-8CEA0C6394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634FC-3446-0B41-166B-CC82A8F7F6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233036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980E4-9A62-97BE-4E05-C0F8B880F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A08859-C719-BC28-8471-68F5E04F13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5D7A3-DAEC-B4F8-AFC5-DCC7DBB948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280EB-AB29-D5EA-0A15-18A338A6CE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644768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6AC66-CD0F-6F79-04BC-AE316D2CA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CD90E0-7807-2934-BBAB-973C77F64B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A1A647-26FE-F3CE-D089-6A52637FD1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D64FA-F4DF-B6D0-A62D-0FBF08ED9A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474740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D87DB-DA74-DD08-7658-D82D679E7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782A54-8DB2-264A-649A-6393F1848E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664E78-B6A4-ECA6-454D-59DC44672D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BCA07-0775-41D3-F308-29BF31F07B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250980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13A38-3BA9-3A85-0BB0-450D4B831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7666BC-0A11-0256-E33F-92ADE80B70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A66110-6511-08AE-C1E2-1E6A241EFB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8EE2E-0FDB-E972-77A4-5F5A8BDD29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967880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5A54D-A036-AF90-2EC3-F0D2079DF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90A56-6D58-AB50-4527-5D9535B6EB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49113B-2013-2CA4-04EE-8EAE147F4E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F0C12-2776-C60A-4A7E-C322231664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638196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4FF37-EE2F-D7C1-9FC1-636AE83A8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C2BC4A-C0C9-2FAC-A687-E30735F1F1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11C85B-47CF-CCDB-3DCB-034A5B59ED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36C40-BE16-A12D-F4DF-6F7C76379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37323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5F125-8228-3371-CC89-8A23A70D2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EBCD7D-B05E-045D-47EA-6FB3083545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EE4478-91C7-1F57-23A0-D9D22126D3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BB2F6-8104-0062-830E-15BFEB6F8D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228539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41AA6-2F5D-BC77-A521-CC046444B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AE99C7-98AC-3508-FCBA-BB33714970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12D514-0B5D-0561-0C2C-E96E006927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F0C16-B9E9-5B24-3C87-21608A5189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789297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7E4B0-0B01-389A-E7F8-CCCC9694E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7885F0-FEDB-0809-9DFC-8378E1ACF4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A0C011-C9F1-DAD0-9BD8-46E145E6F6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B4194-344E-0227-A243-828608CD23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06929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34531-831B-CF6E-5E0B-DB51F043B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3E0D01-1802-CD74-65CB-6AB4B709B2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D45DAF-FA1C-12F9-F6AF-724EA5DF77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D3850-7D2B-E4CB-9C27-B8413C0006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748141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1B81F-76EF-2DEB-0AC1-6AB1D55EE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1C591B-620B-568D-52C9-888510B8A3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CB419E-266D-18AB-59C8-81C53FBA3C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85010-A1FB-708A-0098-94394861A9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003814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Optional: QR-Code oder kurzer Link zum Fragen-Tool.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C4320-F5BD-4868-B4DA-82F49A327F03}" type="datetime1">
              <a:rPr lang="de-CH" smtClean="0"/>
              <a:t>30.09.2026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77E2-A55A-42AF-B703-2A3E1111DBB5}" type="datetime1">
              <a:rPr lang="de-CH" smtClean="0"/>
              <a:t>30.09.2026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FD178-F984-4CB2-9243-060BC3D9345A}" type="datetime1">
              <a:rPr lang="de-CH" smtClean="0"/>
              <a:t>30.09.2026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B2C3E-1A0F-4319-ABB7-417A22B3D48F}" type="datetime1">
              <a:rPr lang="de-CH" smtClean="0"/>
              <a:t>30.09.2026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E2BD3-6C2C-4F90-8877-A60EB0BBBFC8}" type="datetime1">
              <a:rPr lang="de-CH" smtClean="0"/>
              <a:t>30.09.2026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53197-5092-4541-A879-F0554B7D4254}" type="datetime1">
              <a:rPr lang="de-CH" smtClean="0"/>
              <a:t>30.09.2026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8E6A-B1F1-4F5D-90DF-1F05C576295B}" type="datetime1">
              <a:rPr lang="de-CH" smtClean="0"/>
              <a:t>30.09.2026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28F5C-FFA1-405F-8DB3-65D884858D1C}" type="datetime1">
              <a:rPr lang="de-CH" smtClean="0"/>
              <a:t>30.09.2026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B912C-BA74-47A2-9DD1-73FC493FA4F6}" type="datetime1">
              <a:rPr lang="de-CH" smtClean="0"/>
              <a:t>30.09.2026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80275-945C-47E2-A46A-D9703BD89626}" type="datetime1">
              <a:rPr lang="de-CH" smtClean="0"/>
              <a:t>30.09.2026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249FC-6844-4897-BBBC-CAA3D1CDB251}" type="datetime1">
              <a:rPr lang="de-CH" smtClean="0"/>
              <a:t>30.09.2026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947A1-C1B8-414E-83E8-A5CE05E0EE3C}" type="datetime1">
              <a:rPr lang="de-CH" smtClean="0"/>
              <a:t>30.09.2026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90426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Enrico Putzi W03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9673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530352"/>
            <a:ext cx="2514600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86171" y="597537"/>
            <a:ext cx="7309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 dirty="0">
                <a:solidFill>
                  <a:srgbClr val="737373"/>
                </a:solidFill>
                <a:latin typeface="Aptos"/>
              </a:rPr>
              <a:t>ENRICO PUTZI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7955279" cy="1508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300" b="1" dirty="0" err="1">
                <a:solidFill>
                  <a:srgbClr val="171717"/>
                </a:solidFill>
                <a:latin typeface="Aptos"/>
              </a:rPr>
              <a:t>Netzwerke</a:t>
            </a:r>
            <a:r>
              <a:rPr sz="4300" b="1" dirty="0">
                <a:solidFill>
                  <a:srgbClr val="171717"/>
                </a:solidFill>
                <a:latin typeface="Aptos"/>
              </a:rPr>
              <a:t>
und </a:t>
            </a:r>
            <a:r>
              <a:rPr sz="4300" b="1" dirty="0" err="1">
                <a:solidFill>
                  <a:srgbClr val="171717"/>
                </a:solidFill>
                <a:latin typeface="Aptos"/>
              </a:rPr>
              <a:t>Schaltungen</a:t>
            </a:r>
            <a:r>
              <a:rPr sz="4300" b="1" dirty="0">
                <a:solidFill>
                  <a:srgbClr val="171717"/>
                </a:solidFill>
                <a:latin typeface="Aptos"/>
              </a:rPr>
              <a:t>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3255264"/>
            <a:ext cx="1139736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dirty="0" err="1">
                <a:solidFill>
                  <a:srgbClr val="737373"/>
                </a:solidFill>
                <a:latin typeface="Aptos"/>
              </a:rPr>
              <a:t>Übung</a:t>
            </a:r>
            <a:r>
              <a:rPr sz="2100" b="1" dirty="0">
                <a:solidFill>
                  <a:srgbClr val="737373"/>
                </a:solidFill>
                <a:latin typeface="Aptos"/>
              </a:rPr>
              <a:t> </a:t>
            </a:r>
            <a:r>
              <a:rPr lang="de-CH" sz="2100" b="1" dirty="0">
                <a:solidFill>
                  <a:srgbClr val="737373"/>
                </a:solidFill>
                <a:latin typeface="Aptos"/>
              </a:rPr>
              <a:t>03</a:t>
            </a:r>
            <a:endParaRPr sz="210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2648" y="3712463"/>
            <a:ext cx="3827010" cy="2616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1700" b="0" dirty="0">
                <a:solidFill>
                  <a:srgbClr val="737373"/>
                </a:solidFill>
                <a:latin typeface="Aptos"/>
              </a:rPr>
              <a:t>Dielektrische Polarisation &amp; Kondensator</a:t>
            </a:r>
            <a:endParaRPr sz="1700" b="0" dirty="0">
              <a:solidFill>
                <a:srgbClr val="737373"/>
              </a:solidFill>
              <a:latin typeface="Aptos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21792" y="4498848"/>
            <a:ext cx="2121408" cy="0"/>
          </a:xfrm>
          <a:prstGeom prst="line">
            <a:avLst/>
          </a:prstGeom>
          <a:ln w="254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4736592"/>
            <a:ext cx="2981585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1100" dirty="0">
                <a:solidFill>
                  <a:srgbClr val="737373"/>
                </a:solidFill>
                <a:latin typeface="Aptos"/>
              </a:rPr>
              <a:t>https://eputzi.github.io/courses/nus1/index.html</a:t>
            </a:r>
            <a:endParaRPr sz="1100" b="0" dirty="0">
              <a:solidFill>
                <a:srgbClr val="737373"/>
              </a:solidFill>
              <a:latin typeface="Aptos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C2376DB-FD73-E522-DD12-8C3D47FFD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3435" y="236574"/>
            <a:ext cx="2689505" cy="2689505"/>
          </a:xfrm>
          <a:prstGeom prst="rect">
            <a:avLst/>
          </a:prstGeom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568BB238-676F-2AD1-5311-843CEFE0748F}"/>
              </a:ext>
            </a:extLst>
          </p:cNvPr>
          <p:cNvSpPr txBox="1"/>
          <p:nvPr/>
        </p:nvSpPr>
        <p:spPr>
          <a:xfrm>
            <a:off x="10171249" y="2926079"/>
            <a:ext cx="573875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1100" dirty="0">
                <a:solidFill>
                  <a:srgbClr val="737373"/>
                </a:solidFill>
                <a:latin typeface="Aptos"/>
              </a:rPr>
              <a:t>Webseite</a:t>
            </a:r>
            <a:endParaRPr sz="1100" b="0" dirty="0">
              <a:solidFill>
                <a:srgbClr val="737373"/>
              </a:solidFill>
              <a:latin typeface="Aptos"/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A10E91CE-7B15-F9A8-AE20-F447081B8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435" y="3246120"/>
            <a:ext cx="2689505" cy="2689505"/>
          </a:xfrm>
          <a:prstGeom prst="rect">
            <a:avLst/>
          </a:prstGeom>
        </p:spPr>
      </p:pic>
      <p:sp>
        <p:nvSpPr>
          <p:cNvPr id="19" name="TextBox 7">
            <a:extLst>
              <a:ext uri="{FF2B5EF4-FFF2-40B4-BE49-F238E27FC236}">
                <a16:creationId xmlns:a16="http://schemas.microsoft.com/office/drawing/2014/main" id="{D71EEF3B-ED6D-524B-767C-8CC0B281E789}"/>
              </a:ext>
            </a:extLst>
          </p:cNvPr>
          <p:cNvSpPr txBox="1"/>
          <p:nvPr/>
        </p:nvSpPr>
        <p:spPr>
          <a:xfrm>
            <a:off x="10249795" y="5850986"/>
            <a:ext cx="416781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1100" dirty="0">
                <a:solidFill>
                  <a:srgbClr val="737373"/>
                </a:solidFill>
                <a:latin typeface="Aptos"/>
              </a:rPr>
              <a:t>Fragen</a:t>
            </a:r>
            <a:endParaRPr sz="1100" b="0" dirty="0">
              <a:solidFill>
                <a:srgbClr val="73737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7713" y="542673"/>
            <a:ext cx="942567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Organisatorisches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3179845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Was machen wir?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2761488"/>
            <a:ext cx="3570849" cy="18466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Prüfungsanmeldung!!!!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Fragen?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Die dielektrische Polarisation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Inhomogenes Feld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Sprungstellen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Kondensator</a:t>
            </a:r>
            <a:endParaRPr sz="2000" b="0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A1345AC-CE9B-7FE2-5382-D92AEFB1F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DDD7-9A47-4A5D-AB1A-C25057A250DD}" type="datetime1">
              <a:rPr lang="de-CH" smtClean="0"/>
              <a:t>30.09.2026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5890F6DA-FF1C-B12F-C9A4-D27FAC23D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W03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0071AF8-AC7C-5E34-152B-776853FD6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3B2F5-711E-1B5A-81DE-60E09C4DD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B9DDA81-77A5-34B2-7A20-50EC3B8FA916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55D3B5-38A4-2850-FB73-4F98D4B58EB8}"/>
              </a:ext>
            </a:extLst>
          </p:cNvPr>
          <p:cNvSpPr txBox="1"/>
          <p:nvPr/>
        </p:nvSpPr>
        <p:spPr>
          <a:xfrm>
            <a:off x="893850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99E8DE-4DEF-60F1-E25C-EB6352F42AF2}"/>
              </a:ext>
            </a:extLst>
          </p:cNvPr>
          <p:cNvSpPr txBox="1"/>
          <p:nvPr/>
        </p:nvSpPr>
        <p:spPr>
          <a:xfrm>
            <a:off x="594360" y="932688"/>
            <a:ext cx="963405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Dipol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310EE4-B613-636F-3785-DF106989255F}"/>
              </a:ext>
            </a:extLst>
          </p:cNvPr>
          <p:cNvSpPr txBox="1"/>
          <p:nvPr/>
        </p:nvSpPr>
        <p:spPr>
          <a:xfrm>
            <a:off x="749300" y="1630722"/>
            <a:ext cx="3316934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Ein Teilchen mit + und – Pol</a:t>
            </a:r>
            <a:br>
              <a:rPr lang="de-CH" sz="2000" b="0" dirty="0">
                <a:solidFill>
                  <a:srgbClr val="171717"/>
                </a:solidFill>
                <a:latin typeface="Aptos"/>
              </a:rPr>
            </a:br>
            <a:r>
              <a:rPr lang="de-CH" sz="2000" b="0" dirty="0">
                <a:solidFill>
                  <a:srgbClr val="171717"/>
                </a:solidFill>
                <a:latin typeface="Aptos"/>
              </a:rPr>
              <a:t>z.B. Wasser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7D8E5D31-B2D9-3C8B-28BE-9D888B6A9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DDD7-9A47-4A5D-AB1A-C25057A250DD}" type="datetime1">
              <a:rPr lang="de-CH" smtClean="0"/>
              <a:t>30.09.2026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96D6399E-22FB-EEC8-99A1-AC9856D13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W03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7A2AE21B-6DF5-6E6B-364F-66FDD5BF8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08E8798-FF66-8DF8-A9CD-620FD9C01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231" y="2032000"/>
            <a:ext cx="5972501" cy="172492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938C6A30-6E5A-1584-60D7-A97C4B2215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850" y="2879493"/>
            <a:ext cx="2915057" cy="319132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ED502E18-E59C-0449-7CA8-A5690C9E90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7460" y="308750"/>
            <a:ext cx="1910690" cy="172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35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63099-9D7D-875B-F25B-430DC39CE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C55D28A-CD57-29C5-3A33-365AE91E9893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CEAB63-2914-6301-4E2B-F39D67922653}"/>
              </a:ext>
            </a:extLst>
          </p:cNvPr>
          <p:cNvSpPr txBox="1"/>
          <p:nvPr/>
        </p:nvSpPr>
        <p:spPr>
          <a:xfrm>
            <a:off x="893850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45CDF9-C8DE-537D-144F-775CCA1477E3}"/>
              </a:ext>
            </a:extLst>
          </p:cNvPr>
          <p:cNvSpPr txBox="1"/>
          <p:nvPr/>
        </p:nvSpPr>
        <p:spPr>
          <a:xfrm>
            <a:off x="594360" y="932688"/>
            <a:ext cx="4680064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Dielektrische Polarisation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ABF661-13A0-3149-09E3-20C2E6E56E35}"/>
              </a:ext>
            </a:extLst>
          </p:cNvPr>
          <p:cNvSpPr txBox="1"/>
          <p:nvPr/>
        </p:nvSpPr>
        <p:spPr>
          <a:xfrm>
            <a:off x="914400" y="2761488"/>
            <a:ext cx="4018023" cy="1538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Dielektrikum schwächt Feld ab</a:t>
            </a:r>
            <a:br>
              <a:rPr lang="de-CH" sz="2000" b="0" dirty="0">
                <a:solidFill>
                  <a:srgbClr val="171717"/>
                </a:solidFill>
                <a:latin typeface="Aptos"/>
              </a:rPr>
            </a:br>
            <a:r>
              <a:rPr lang="de-CH" sz="2000" b="0" dirty="0">
                <a:solidFill>
                  <a:srgbClr val="171717"/>
                </a:solidFill>
                <a:latin typeface="Aptos"/>
              </a:rPr>
              <a:t>(Dipole)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Abhängig vom Material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Ladung Q und D bleiben </a:t>
            </a:r>
            <a:r>
              <a:rPr lang="de-CH" sz="2000" dirty="0">
                <a:solidFill>
                  <a:srgbClr val="171717"/>
                </a:solidFill>
                <a:latin typeface="Aptos"/>
              </a:rPr>
              <a:t>konstant</a:t>
            </a:r>
          </a:p>
          <a:p>
            <a:pPr algn="l"/>
            <a:endParaRPr lang="de-CH" sz="2000" b="0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933A7192-BA1F-77FB-1C38-7BDDE2958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DDD7-9A47-4A5D-AB1A-C25057A250DD}" type="datetime1">
              <a:rPr lang="de-CH" smtClean="0"/>
              <a:t>30.09.2026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D6A800F3-E156-1FD6-A205-175795DCE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W03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B041DFD2-F8FE-2805-EC74-856FECDD5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7484AD7-F277-BD02-5160-D9F13040F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424" y="136525"/>
            <a:ext cx="6339098" cy="3952939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E98F6630-63AD-1A5C-9D9F-55A57F9FA7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9395" y="4089464"/>
            <a:ext cx="5989155" cy="47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209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9A6F9-59A7-3C5E-AFF5-3EE9A0020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D0C08F9-1BDD-901C-9832-5EC2389520AA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5579BA-A475-7A68-5751-6B3154B4E679}"/>
              </a:ext>
            </a:extLst>
          </p:cNvPr>
          <p:cNvSpPr txBox="1"/>
          <p:nvPr/>
        </p:nvSpPr>
        <p:spPr>
          <a:xfrm>
            <a:off x="893850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7AF3D3-AC33-6102-244D-6C1F03FFB864}"/>
              </a:ext>
            </a:extLst>
          </p:cNvPr>
          <p:cNvSpPr txBox="1"/>
          <p:nvPr/>
        </p:nvSpPr>
        <p:spPr>
          <a:xfrm>
            <a:off x="594360" y="932688"/>
            <a:ext cx="3745192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Dielektrizitätszahlen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3A4E9C-ACCC-F91B-52F6-D20013F7954C}"/>
              </a:ext>
            </a:extLst>
          </p:cNvPr>
          <p:cNvSpPr txBox="1"/>
          <p:nvPr/>
        </p:nvSpPr>
        <p:spPr>
          <a:xfrm>
            <a:off x="709448" y="5771423"/>
            <a:ext cx="184217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b="0" dirty="0">
                <a:solidFill>
                  <a:srgbClr val="171717"/>
                </a:solidFill>
                <a:latin typeface="Aptos"/>
              </a:rPr>
              <a:t>Seite 64 im Buch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47DA2B94-D8C1-8061-DF83-0A0550BA6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DDD7-9A47-4A5D-AB1A-C25057A250DD}" type="datetime1">
              <a:rPr lang="de-CH" smtClean="0"/>
              <a:t>30.09.2026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3344C3CF-AAD7-D680-2ACC-377FED724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W03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849A1CCE-602F-E9E9-28B5-4F9B304D4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476E793-80BA-EE27-8805-2B8D49323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3033" y="1409742"/>
            <a:ext cx="6965934" cy="410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62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9B52F-68EA-CC49-277C-E3476E46D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C638A7-CFF6-A25D-D96B-7719934DB035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C80458-1FDF-545B-FC5C-A077F644DE30}"/>
              </a:ext>
            </a:extLst>
          </p:cNvPr>
          <p:cNvSpPr txBox="1"/>
          <p:nvPr/>
        </p:nvSpPr>
        <p:spPr>
          <a:xfrm>
            <a:off x="873812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E64796-FC11-E956-546E-B92769FD3E7B}"/>
              </a:ext>
            </a:extLst>
          </p:cNvPr>
          <p:cNvSpPr txBox="1"/>
          <p:nvPr/>
        </p:nvSpPr>
        <p:spPr>
          <a:xfrm>
            <a:off x="594360" y="932688"/>
            <a:ext cx="3326295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Inhomogenes Feld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DFFFBA-BEB1-7D10-BF21-E99CBC2A1FD1}"/>
              </a:ext>
            </a:extLst>
          </p:cNvPr>
          <p:cNvSpPr txBox="1"/>
          <p:nvPr/>
        </p:nvSpPr>
        <p:spPr>
          <a:xfrm>
            <a:off x="594360" y="1704446"/>
            <a:ext cx="4853957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dirty="0">
                <a:solidFill>
                  <a:srgbClr val="171717"/>
                </a:solidFill>
                <a:latin typeface="Aptos"/>
              </a:rPr>
              <a:t>Auf welche Dipole wirkt eine Kraft  </a:t>
            </a:r>
            <a:br>
              <a:rPr lang="de-CH" sz="2000" dirty="0">
                <a:solidFill>
                  <a:srgbClr val="171717"/>
                </a:solidFill>
                <a:latin typeface="Aptos"/>
              </a:rPr>
            </a:br>
            <a:r>
              <a:rPr lang="de-CH" sz="2000" dirty="0">
                <a:solidFill>
                  <a:srgbClr val="171717"/>
                </a:solidFill>
                <a:latin typeface="Aptos"/>
              </a:rPr>
              <a:t>und/oder Drehmoment? (Richtung angeben)</a:t>
            </a:r>
            <a:endParaRPr lang="de-CH" sz="2000" b="0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7837F4B0-DF7C-3B55-68FC-984265979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DDD7-9A47-4A5D-AB1A-C25057A250DD}" type="datetime1">
              <a:rPr lang="de-CH" smtClean="0"/>
              <a:t>30.09.2026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BA55F544-3926-C55B-E463-DC467F60A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W03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C391845D-410E-0967-2FCA-337EC128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63B67AC-35FE-4B0B-83D8-013FAA8B4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340" y="1352260"/>
            <a:ext cx="4934639" cy="4153480"/>
          </a:xfrm>
          <a:prstGeom prst="rect">
            <a:avLst/>
          </a:prstGeom>
        </p:spPr>
      </p:pic>
      <p:pic>
        <p:nvPicPr>
          <p:cNvPr id="9" name="Grafik 8" descr="Elektrisches Feld - Studimup Physik">
            <a:extLst>
              <a:ext uri="{FF2B5EF4-FFF2-40B4-BE49-F238E27FC236}">
                <a16:creationId xmlns:a16="http://schemas.microsoft.com/office/drawing/2014/main" id="{93186747-6450-37E0-DDF0-36BB77428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176" y="2614703"/>
            <a:ext cx="3352693" cy="326672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E73ADA63-BAC8-56DB-DA5C-58CCAB5CC5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4704" y="4128595"/>
            <a:ext cx="724001" cy="209579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6819B1B4-47BA-2083-3F34-60FCFFB8D7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2402760" y="3324210"/>
            <a:ext cx="724001" cy="209579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B20C7D95-ECAC-46F3-8EC4-86519226DA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1140" y="4572439"/>
            <a:ext cx="724001" cy="20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2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D89FF-2226-4822-A599-D0566EB9C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BA7D1DF-6205-C0D8-DED9-5255305464CD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6B0B02-9782-F98C-8596-864C1C7548E0}"/>
              </a:ext>
            </a:extLst>
          </p:cNvPr>
          <p:cNvSpPr txBox="1"/>
          <p:nvPr/>
        </p:nvSpPr>
        <p:spPr>
          <a:xfrm>
            <a:off x="893850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7ED537-DF2C-8003-7E5B-741AFFD6735A}"/>
              </a:ext>
            </a:extLst>
          </p:cNvPr>
          <p:cNvSpPr txBox="1"/>
          <p:nvPr/>
        </p:nvSpPr>
        <p:spPr>
          <a:xfrm>
            <a:off x="594360" y="932688"/>
            <a:ext cx="2610908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Sprungstellen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24B246-7B68-876C-810B-DFB9F98DCAB1}"/>
              </a:ext>
            </a:extLst>
          </p:cNvPr>
          <p:cNvSpPr txBox="1"/>
          <p:nvPr/>
        </p:nvSpPr>
        <p:spPr>
          <a:xfrm>
            <a:off x="591190" y="1660179"/>
            <a:ext cx="127599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dirty="0">
                <a:solidFill>
                  <a:srgbClr val="171717"/>
                </a:solidFill>
                <a:latin typeface="Aptos"/>
              </a:rPr>
              <a:t>Erinnerung:</a:t>
            </a:r>
            <a:endParaRPr lang="de-CH" sz="2000" b="0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A3D8DEBC-21FD-1E2C-B026-B9B6EEFF2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DDD7-9A47-4A5D-AB1A-C25057A250DD}" type="datetime1">
              <a:rPr lang="de-CH" smtClean="0"/>
              <a:t>30.09.2026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6200213-573F-A1F8-5BF6-61F2D54FF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W03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1CCCE403-4CC3-23AE-8EEB-573CFC2EC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E1CAEB8-41EF-FD07-8A13-866B85D8E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308" y="358059"/>
            <a:ext cx="4503436" cy="433329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80A9ECCE-BF11-9EA2-5075-6AB5647DA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1133" y="4691353"/>
            <a:ext cx="2810267" cy="981212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8C5B0542-BB2F-BD13-3222-E4C73F7109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156313"/>
            <a:ext cx="4829849" cy="3429479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0F5B6ABF-DFB1-85A6-8C41-E380C2DA2B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6466" y="5672565"/>
            <a:ext cx="6625534" cy="583326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E23D79E3-4F58-21DE-99EF-2645AC8780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9793" y="5585792"/>
            <a:ext cx="1504416" cy="1081606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753139FD-E015-9A1A-249B-7ED6A5D54E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190" y="5574068"/>
            <a:ext cx="2253609" cy="859930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CCFC505C-4A68-6EA9-7385-0F87A660FC1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4691" y="1430851"/>
            <a:ext cx="1360809" cy="70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424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36864-8130-86E1-2C4C-00A9F3259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AB30BC9-DC70-989B-891B-3852835B0ED8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83040D-1977-7C89-E95A-523E3F801182}"/>
              </a:ext>
            </a:extLst>
          </p:cNvPr>
          <p:cNvSpPr txBox="1"/>
          <p:nvPr/>
        </p:nvSpPr>
        <p:spPr>
          <a:xfrm>
            <a:off x="893850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DC50B2-CA55-DEDB-1CB2-6BFCA96F1670}"/>
              </a:ext>
            </a:extLst>
          </p:cNvPr>
          <p:cNvSpPr txBox="1"/>
          <p:nvPr/>
        </p:nvSpPr>
        <p:spPr>
          <a:xfrm>
            <a:off x="594360" y="932688"/>
            <a:ext cx="4333687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Was wirklich wichtig ist: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92F4D8-4F86-130B-CB3E-193459EA4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DDD7-9A47-4A5D-AB1A-C25057A250DD}" type="datetime1">
              <a:rPr lang="de-CH" smtClean="0"/>
              <a:t>30.09.2026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CE48B18-7088-3353-567A-446DA4645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W03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BD9F84BB-F0D3-EB9C-8B60-D63ADB011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27E40E1-1E57-8212-6B05-84DF722C1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019" y="1516537"/>
            <a:ext cx="8886838" cy="433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183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F5AF0-21EC-61BB-7E3D-A9A1DC0B3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440A8F-0F56-DF9E-E546-11B4C5F931DE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1D7E2B-37F6-24CC-A3CE-E13A211F5065}"/>
              </a:ext>
            </a:extLst>
          </p:cNvPr>
          <p:cNvSpPr txBox="1"/>
          <p:nvPr/>
        </p:nvSpPr>
        <p:spPr>
          <a:xfrm>
            <a:off x="893850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6B50AF-5D74-B856-2C4C-A919371C6A85}"/>
              </a:ext>
            </a:extLst>
          </p:cNvPr>
          <p:cNvSpPr txBox="1"/>
          <p:nvPr/>
        </p:nvSpPr>
        <p:spPr>
          <a:xfrm>
            <a:off x="594360" y="932688"/>
            <a:ext cx="2317686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Kondensator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FC8C28-3D90-C2C3-D4A1-C93EDE722A57}"/>
              </a:ext>
            </a:extLst>
          </p:cNvPr>
          <p:cNvSpPr txBox="1"/>
          <p:nvPr/>
        </p:nvSpPr>
        <p:spPr>
          <a:xfrm>
            <a:off x="591190" y="1660179"/>
            <a:ext cx="584422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b="0" dirty="0">
                <a:solidFill>
                  <a:srgbClr val="171717"/>
                </a:solidFill>
                <a:latin typeface="Aptos"/>
              </a:rPr>
              <a:t>An sich zwei Platten, die unterschiedlich geladen sind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388F5A78-F568-18D8-B5E1-CAD7B420A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DDD7-9A47-4A5D-AB1A-C25057A250DD}" type="datetime1">
              <a:rPr lang="de-CH" smtClean="0"/>
              <a:t>30.09.2026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F78D0DBE-9BD9-09CA-2FFC-5E8D23E5B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W03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712C268-26DD-C031-D049-5F7CFD187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30C5E4FF-0E35-FA42-487A-0DF8355E967B}"/>
              </a:ext>
            </a:extLst>
          </p:cNvPr>
          <p:cNvSpPr txBox="1"/>
          <p:nvPr/>
        </p:nvSpPr>
        <p:spPr>
          <a:xfrm>
            <a:off x="7360835" y="471486"/>
            <a:ext cx="110773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dirty="0">
                <a:solidFill>
                  <a:srgbClr val="171717"/>
                </a:solidFill>
                <a:latin typeface="Aptos"/>
              </a:rPr>
              <a:t>Kapazität:</a:t>
            </a:r>
            <a:endParaRPr lang="de-CH" sz="2000" b="0" dirty="0">
              <a:solidFill>
                <a:srgbClr val="171717"/>
              </a:solidFill>
              <a:latin typeface="Aptos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7937EE1-9A9E-1E04-3F24-22DCB6BCD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5714" y="334821"/>
            <a:ext cx="1409897" cy="581106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6CDC4BAF-0F8F-FBC0-EDE2-9BEE86009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2751" y="440343"/>
            <a:ext cx="1657581" cy="323895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C991838E-8793-1CA2-F3E8-3F144CF48E7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6342"/>
          <a:stretch>
            <a:fillRect/>
          </a:stretch>
        </p:blipFill>
        <p:spPr>
          <a:xfrm>
            <a:off x="333829" y="2080747"/>
            <a:ext cx="2133600" cy="3952939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9BA5A995-567C-945F-B157-BA3E6D77C1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581" r="35998" b="8920"/>
          <a:stretch>
            <a:fillRect/>
          </a:stretch>
        </p:blipFill>
        <p:spPr>
          <a:xfrm>
            <a:off x="8420239" y="1620265"/>
            <a:ext cx="1928445" cy="3600313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A7DFFB04-C52F-DD72-6A73-DA27A98DD9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8838" y="2080747"/>
            <a:ext cx="3620005" cy="1028844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D5815366-7391-A258-F560-0A3491D33E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8838" y="3264916"/>
            <a:ext cx="3620005" cy="660686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4C334243-7D57-B1E2-9317-712D9ABBD8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5712" y="5334278"/>
            <a:ext cx="6125028" cy="73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504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B3FB1-806C-2F5C-4064-9C60B13EC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79D548B-A494-955B-3329-FA9C3A2317DB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B3BD27-62B4-71A1-7F0A-BBCF118C636A}"/>
              </a:ext>
            </a:extLst>
          </p:cNvPr>
          <p:cNvSpPr txBox="1"/>
          <p:nvPr/>
        </p:nvSpPr>
        <p:spPr>
          <a:xfrm>
            <a:off x="941139" y="542673"/>
            <a:ext cx="275717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Frage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4723A1-0F67-F0B0-B7A6-34DE8C8E3365}"/>
              </a:ext>
            </a:extLst>
          </p:cNvPr>
          <p:cNvSpPr txBox="1"/>
          <p:nvPr/>
        </p:nvSpPr>
        <p:spPr>
          <a:xfrm>
            <a:off x="594360" y="932688"/>
            <a:ext cx="2317686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Kondensator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DF4EEE2B-239E-A425-D2CF-E3D7143D2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DDD7-9A47-4A5D-AB1A-C25057A250DD}" type="datetime1">
              <a:rPr lang="de-CH" smtClean="0"/>
              <a:t>30.09.2026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17CD7C5-C9CC-9E4A-66F1-FA2FF85F5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W03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1965997A-7C15-7E07-7118-05E470702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3D0D160-96CA-A30E-F6B4-0BBCCD4F3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124" y="1574334"/>
            <a:ext cx="9859751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666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C382D-0747-77EB-E11C-11E2D04E5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032A3BF-8A30-8B11-9434-D7CCDD4A5DC8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A7DC3-41AB-3A60-7D49-9231746C3DEE}"/>
              </a:ext>
            </a:extLst>
          </p:cNvPr>
          <p:cNvSpPr txBox="1"/>
          <p:nvPr/>
        </p:nvSpPr>
        <p:spPr>
          <a:xfrm>
            <a:off x="941139" y="542673"/>
            <a:ext cx="275717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Frage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8AB6C8-D269-8A7D-44A6-D76A1637F681}"/>
              </a:ext>
            </a:extLst>
          </p:cNvPr>
          <p:cNvSpPr txBox="1"/>
          <p:nvPr/>
        </p:nvSpPr>
        <p:spPr>
          <a:xfrm>
            <a:off x="594360" y="932688"/>
            <a:ext cx="3332131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Was passiert hier?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B0B8B62E-57C9-EB28-C193-C47EC1F4E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DDD7-9A47-4A5D-AB1A-C25057A250DD}" type="datetime1">
              <a:rPr lang="de-CH" smtClean="0"/>
              <a:t>30.09.2026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F827A0D4-1CB2-7E34-9697-978215815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W03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9E75EDD4-59C9-667F-98A9-E794536A2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Placeholder 9">
            <a:extLst>
              <a:ext uri="{FF2B5EF4-FFF2-40B4-BE49-F238E27FC236}">
                <a16:creationId xmlns:a16="http://schemas.microsoft.com/office/drawing/2014/main" id="{CF364F77-557F-235A-9878-0B78D46EE7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99" b="5724"/>
          <a:stretch>
            <a:fillRect/>
          </a:stretch>
        </p:blipFill>
        <p:spPr>
          <a:xfrm>
            <a:off x="731837" y="1546617"/>
            <a:ext cx="4669738" cy="487158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24C4B75-ADF2-2334-82C4-F19751D292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23533" y="1226687"/>
                <a:ext cx="5039999" cy="4860000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:r>
                  <a:rPr lang="de-CH" sz="1600" dirty="0"/>
                  <a:t>Gegeben sind zwei parallele Platten mit Abstand </a:t>
                </a:r>
                <a:r>
                  <a:rPr lang="de-CH" sz="1600" i="1" dirty="0"/>
                  <a:t>d</a:t>
                </a:r>
                <a:r>
                  <a:rPr lang="de-CH" sz="1600" dirty="0"/>
                  <a:t> und Fläche </a:t>
                </a:r>
                <a:r>
                  <a:rPr lang="de-CH" sz="1600" i="1" dirty="0"/>
                  <a:t>A. </a:t>
                </a:r>
                <a:r>
                  <a:rPr lang="de-CH" sz="1600" dirty="0"/>
                  <a:t>Dazwischen befindet sich ein Vakuum. Es wird eine Spannung </a:t>
                </a:r>
                <a:r>
                  <a:rPr lang="de-CH" sz="1600" i="1" dirty="0"/>
                  <a:t>U</a:t>
                </a:r>
                <a:r>
                  <a:rPr lang="de-CH" sz="1600" dirty="0"/>
                  <a:t> zwischen den Platten angelegt.</a:t>
                </a:r>
                <a:r>
                  <a:rPr lang="de-CH" sz="1600" i="1" dirty="0"/>
                  <a:t> </a:t>
                </a:r>
                <a:r>
                  <a:rPr lang="de-CH" sz="1600" dirty="0"/>
                  <a:t>Dadurch bilden sich ein D-Feld und ein E-Feld aus.</a:t>
                </a:r>
              </a:p>
              <a:p>
                <a:pPr marL="0" indent="0">
                  <a:buFont typeface="Arial"/>
                  <a:buNone/>
                </a:pPr>
                <a:r>
                  <a:rPr lang="de-CH" sz="1600" dirty="0"/>
                  <a:t>Die Spannungsquelle bleibt angeschlossen. Wie verändert sich das E-Feld, wenn ein Dielektrikum mit Dielektrizitätszahl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de-CH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≫1</m:t>
                    </m:r>
                  </m:oMath>
                </a14:m>
                <a:r>
                  <a:rPr lang="de-CH" sz="1600" dirty="0"/>
                  <a:t> zwischen die Platten geschoben wird?</a:t>
                </a:r>
              </a:p>
              <a:p>
                <a:r>
                  <a:rPr lang="de-CH" sz="1600" dirty="0"/>
                  <a:t>E-Feld wird grösser</a:t>
                </a:r>
              </a:p>
              <a:p>
                <a:r>
                  <a:rPr lang="de-CH" sz="1600" dirty="0"/>
                  <a:t>E-Feld wird kleiner</a:t>
                </a:r>
              </a:p>
              <a:p>
                <a:r>
                  <a:rPr lang="de-CH" sz="1600" dirty="0"/>
                  <a:t>E-Feld bleibt gleich</a:t>
                </a: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24C4B75-ADF2-2334-82C4-F19751D292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533" y="1226687"/>
                <a:ext cx="5039999" cy="4860000"/>
              </a:xfrm>
              <a:prstGeom prst="rect">
                <a:avLst/>
              </a:prstGeom>
              <a:blipFill>
                <a:blip r:embed="rId4"/>
                <a:stretch>
                  <a:fillRect l="-605" t="-376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4789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FBF0A1E-802F-7D28-248C-05571DAF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275E841-C25B-3266-566D-2370816EFE1C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DDF341-8CA7-9691-4617-68ADA30C00C2}"/>
              </a:ext>
            </a:extLst>
          </p:cNvPr>
          <p:cNvSpPr txBox="1"/>
          <p:nvPr/>
        </p:nvSpPr>
        <p:spPr>
          <a:xfrm>
            <a:off x="941139" y="542673"/>
            <a:ext cx="275717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Frage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CA4EF3-1E2E-9526-B24B-55B532DC6057}"/>
              </a:ext>
            </a:extLst>
          </p:cNvPr>
          <p:cNvSpPr txBox="1"/>
          <p:nvPr/>
        </p:nvSpPr>
        <p:spPr>
          <a:xfrm>
            <a:off x="594360" y="932688"/>
            <a:ext cx="1502912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Warum?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73D30660-A571-FA84-56FE-E86CDF933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DDD7-9A47-4A5D-AB1A-C25057A250DD}" type="datetime1">
              <a:rPr lang="de-CH" smtClean="0"/>
              <a:t>30.09.2026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DF14901F-1E2E-CA79-09B1-678AAE768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W03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77BF1A9B-F3EA-1B5C-63C5-E1BF2A6C6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Placeholder 9">
            <a:extLst>
              <a:ext uri="{FF2B5EF4-FFF2-40B4-BE49-F238E27FC236}">
                <a16:creationId xmlns:a16="http://schemas.microsoft.com/office/drawing/2014/main" id="{9E329F3A-4CF1-E5E9-EDB5-23D3CFBCBD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99" b="5724"/>
          <a:stretch>
            <a:fillRect/>
          </a:stretch>
        </p:blipFill>
        <p:spPr>
          <a:xfrm>
            <a:off x="731837" y="1546617"/>
            <a:ext cx="4669738" cy="4871582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CF6983-FC21-0770-D0C8-528D78CDD115}"/>
              </a:ext>
            </a:extLst>
          </p:cNvPr>
          <p:cNvSpPr txBox="1">
            <a:spLocks/>
          </p:cNvSpPr>
          <p:nvPr/>
        </p:nvSpPr>
        <p:spPr>
          <a:xfrm>
            <a:off x="5823533" y="1226687"/>
            <a:ext cx="5039999" cy="48600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de-CH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EFF5964-67D6-9E21-218E-96D2D1538DEA}"/>
                  </a:ext>
                </a:extLst>
              </p:cNvPr>
              <p:cNvSpPr txBox="1"/>
              <p:nvPr/>
            </p:nvSpPr>
            <p:spPr>
              <a:xfrm>
                <a:off x="5401575" y="1429412"/>
                <a:ext cx="6096000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de-CH" sz="1600" b="1" i="1" dirty="0"/>
                  <a:t>E-Feld bleibt gleich</a:t>
                </a:r>
              </a:p>
              <a:p>
                <a:pPr marL="0" indent="0">
                  <a:buNone/>
                </a:pPr>
                <a:r>
                  <a:rPr lang="de-CH" sz="1600" i="1" noProof="0" dirty="0"/>
                  <a:t>Das E-Feld ist durch die </a:t>
                </a:r>
                <a:r>
                  <a:rPr lang="de-CH" sz="1600" i="1" dirty="0"/>
                  <a:t>Spannungsquelle vorgegeben: </a:t>
                </a:r>
                <a14:m>
                  <m:oMath xmlns:m="http://schemas.openxmlformats.org/officeDocument/2006/math"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de-CH" sz="1600" i="1" noProof="0" dirty="0"/>
                  <a:t>.</a:t>
                </a:r>
              </a:p>
              <a:p>
                <a:pPr marL="0" indent="0">
                  <a:buNone/>
                </a:pPr>
                <a:endParaRPr lang="de-CH" sz="1600" i="1" dirty="0"/>
              </a:p>
              <a:p>
                <a:pPr marL="0" indent="0">
                  <a:buNone/>
                </a:pPr>
                <a:r>
                  <a:rPr lang="de-CH" sz="1600" noProof="0" dirty="0"/>
                  <a:t>Was verändert sich aber?</a:t>
                </a:r>
              </a:p>
              <a:p>
                <a:pPr marL="0" indent="0">
                  <a:buNone/>
                </a:pPr>
                <a:endParaRPr lang="de-CH" sz="1600" i="1" dirty="0"/>
              </a:p>
              <a:p>
                <a:pPr marL="0" indent="0">
                  <a:buNone/>
                </a:pPr>
                <a:endParaRPr lang="de-CH" sz="1600" i="1" noProof="0" dirty="0"/>
              </a:p>
              <a:p>
                <a:pPr marL="0" indent="0">
                  <a:buNone/>
                </a:pPr>
                <a:r>
                  <a:rPr lang="de-CH" sz="1600" i="1" noProof="0" dirty="0"/>
                  <a:t> </a:t>
                </a:r>
                <a:endParaRPr lang="de-CH" sz="1600" noProof="0" dirty="0"/>
              </a:p>
            </p:txBody>
          </p:sp>
        </mc:Choice>
        <mc:Fallback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EFF5964-67D6-9E21-218E-96D2D1538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575" y="1429412"/>
                <a:ext cx="6096000" cy="1815882"/>
              </a:xfrm>
              <a:prstGeom prst="rect">
                <a:avLst/>
              </a:prstGeom>
              <a:blipFill>
                <a:blip r:embed="rId4"/>
                <a:stretch>
                  <a:fillRect l="-500" t="-1007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9966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BB598D3-AE73-FEF1-A8ED-A6B5FDDE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4B18F39-E4FF-3C3B-7E5D-FADB91D431D3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9D26F-8709-05C8-E616-7CDA4E79B42E}"/>
              </a:ext>
            </a:extLst>
          </p:cNvPr>
          <p:cNvSpPr txBox="1"/>
          <p:nvPr/>
        </p:nvSpPr>
        <p:spPr>
          <a:xfrm>
            <a:off x="941139" y="542673"/>
            <a:ext cx="275717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Frage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DFBF3A-6FE6-8457-F53B-DFBBD70D862B}"/>
              </a:ext>
            </a:extLst>
          </p:cNvPr>
          <p:cNvSpPr txBox="1"/>
          <p:nvPr/>
        </p:nvSpPr>
        <p:spPr>
          <a:xfrm>
            <a:off x="594360" y="932688"/>
            <a:ext cx="1119987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Merke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4E281E5B-9880-AC15-E14D-BBC4E39F4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DDD7-9A47-4A5D-AB1A-C25057A250DD}" type="datetime1">
              <a:rPr lang="de-CH" smtClean="0"/>
              <a:t>30.09.2026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C27F502-43AB-EE62-9A26-993D3E6E7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W03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BBA2F108-6025-BB86-2DAC-08DC99E41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4B92CE8-0C77-F3D4-7EB2-34C8595D30FB}"/>
              </a:ext>
            </a:extLst>
          </p:cNvPr>
          <p:cNvSpPr txBox="1">
            <a:spLocks/>
          </p:cNvSpPr>
          <p:nvPr/>
        </p:nvSpPr>
        <p:spPr>
          <a:xfrm>
            <a:off x="5823533" y="1226687"/>
            <a:ext cx="5039999" cy="48600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de-CH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9685595A-3634-6C21-D555-C23579F02AEF}"/>
                  </a:ext>
                </a:extLst>
              </p:cNvPr>
              <p:cNvSpPr txBox="1"/>
              <p:nvPr/>
            </p:nvSpPr>
            <p:spPr>
              <a:xfrm>
                <a:off x="5401575" y="1587966"/>
                <a:ext cx="6096000" cy="1354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de-CH" sz="1600" b="1" dirty="0"/>
                  <a:t>Das D-Feld und die Ladungsdichte auf den Platten nehmen zu.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CH" sz="16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CH" sz="1600" b="0" i="1" noProof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de-CH" sz="1600" b="0" i="1" noProof="0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de-CH" sz="16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de-CH" sz="1600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de-CH" sz="1600" b="0" i="1" smtClean="0">
                          <a:latin typeface="Cambria Math" panose="02040503050406030204" pitchFamily="18" charset="0"/>
                        </a:rPr>
                        <m:t>E</m:t>
                      </m:r>
                    </m:oMath>
                  </m:oMathPara>
                </a14:m>
                <a:endParaRPr lang="de-CH" sz="1600" noProof="0" dirty="0"/>
              </a:p>
              <a:p>
                <a:pPr marL="0" indent="0">
                  <a:buNone/>
                </a:pPr>
                <a:r>
                  <a:rPr lang="de-CH" sz="1600" b="1" dirty="0"/>
                  <a:t>Merke:</a:t>
                </a:r>
              </a:p>
              <a:p>
                <a:r>
                  <a:rPr lang="de-CH" sz="1600" dirty="0"/>
                  <a:t>Spannung gegeben </a:t>
                </a:r>
                <a:r>
                  <a:rPr lang="de-CH" sz="1800" dirty="0"/>
                  <a:t>→</a:t>
                </a:r>
                <a:r>
                  <a:rPr lang="de-CH" sz="1600" dirty="0"/>
                  <a:t> E-Feld gegeben</a:t>
                </a:r>
              </a:p>
              <a:p>
                <a:r>
                  <a:rPr lang="de-CH" sz="1600" noProof="0" dirty="0"/>
                  <a:t>Ladung gegeben </a:t>
                </a:r>
                <a:r>
                  <a:rPr lang="de-CH" sz="1600" dirty="0"/>
                  <a:t>→</a:t>
                </a:r>
                <a:r>
                  <a:rPr lang="de-CH" sz="1600" noProof="0" dirty="0"/>
                  <a:t> D-Feld gegeben</a:t>
                </a:r>
              </a:p>
            </p:txBody>
          </p:sp>
        </mc:Choice>
        <mc:Fallback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9685595A-3634-6C21-D555-C23579F02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1575" y="1587966"/>
                <a:ext cx="6096000" cy="1354217"/>
              </a:xfrm>
              <a:prstGeom prst="rect">
                <a:avLst/>
              </a:prstGeom>
              <a:blipFill>
                <a:blip r:embed="rId3"/>
                <a:stretch>
                  <a:fillRect l="-500" t="-1345" b="-4484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3723E158-4FCE-DC65-26A7-24E43C060F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52" b="6552"/>
          <a:stretch/>
        </p:blipFill>
        <p:spPr>
          <a:xfrm>
            <a:off x="457200" y="1468107"/>
            <a:ext cx="4595011" cy="479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436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70CFD-873E-C967-86EC-7D040F2AF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A77A623-20EF-B6A1-24E0-E723862780E4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E92763-310A-B1C3-702D-E08EBCA6AC4E}"/>
              </a:ext>
            </a:extLst>
          </p:cNvPr>
          <p:cNvSpPr txBox="1"/>
          <p:nvPr/>
        </p:nvSpPr>
        <p:spPr>
          <a:xfrm>
            <a:off x="941139" y="542673"/>
            <a:ext cx="275717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Frage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52827F-130F-A882-5EE6-994975A33594}"/>
              </a:ext>
            </a:extLst>
          </p:cNvPr>
          <p:cNvSpPr txBox="1"/>
          <p:nvPr/>
        </p:nvSpPr>
        <p:spPr>
          <a:xfrm>
            <a:off x="594360" y="932688"/>
            <a:ext cx="7555786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Wie verhalten sich das D-Feld und E-Feld?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0E7BDA33-9902-0477-99B9-08DA6ACD1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DDD7-9A47-4A5D-AB1A-C25057A250DD}" type="datetime1">
              <a:rPr lang="de-CH" smtClean="0"/>
              <a:t>30.09.2026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A0E6853-CDBE-ECC9-987B-DB8047231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W03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5DD82FE5-45F8-B325-0A90-F8D9BFDC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6AE3BC3-189C-5611-884E-2D312E9D45ED}"/>
              </a:ext>
            </a:extLst>
          </p:cNvPr>
          <p:cNvSpPr txBox="1">
            <a:spLocks/>
          </p:cNvSpPr>
          <p:nvPr/>
        </p:nvSpPr>
        <p:spPr>
          <a:xfrm>
            <a:off x="5823533" y="1226687"/>
            <a:ext cx="5039999" cy="48600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de-CH" sz="1600" dirty="0"/>
          </a:p>
        </p:txBody>
      </p:sp>
      <p:pic>
        <p:nvPicPr>
          <p:cNvPr id="5" name="Picture Placeholder 7">
            <a:extLst>
              <a:ext uri="{FF2B5EF4-FFF2-40B4-BE49-F238E27FC236}">
                <a16:creationId xmlns:a16="http://schemas.microsoft.com/office/drawing/2014/main" id="{C10AF406-B1A5-DA48-E2E2-0C49BA5E60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3247"/>
          <a:stretch>
            <a:fillRect/>
          </a:stretch>
        </p:blipFill>
        <p:spPr>
          <a:xfrm>
            <a:off x="0" y="1703741"/>
            <a:ext cx="5823533" cy="2258105"/>
          </a:xfrm>
          <a:prstGeom prst="rect">
            <a:avLst/>
          </a:prstGeom>
        </p:spPr>
      </p:pic>
      <p:pic>
        <p:nvPicPr>
          <p:cNvPr id="12" name="Picture Placeholder 7">
            <a:extLst>
              <a:ext uri="{FF2B5EF4-FFF2-40B4-BE49-F238E27FC236}">
                <a16:creationId xmlns:a16="http://schemas.microsoft.com/office/drawing/2014/main" id="{4CC1837A-F05F-2466-ACFD-00F2646DE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3247"/>
          <a:stretch>
            <a:fillRect/>
          </a:stretch>
        </p:blipFill>
        <p:spPr>
          <a:xfrm>
            <a:off x="5431766" y="1683034"/>
            <a:ext cx="5823533" cy="2258105"/>
          </a:xfrm>
          <a:prstGeom prst="rect">
            <a:avLst/>
          </a:prstGeom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6C1687B1-CBAE-772B-0FE9-20B7989995E2}"/>
              </a:ext>
            </a:extLst>
          </p:cNvPr>
          <p:cNvSpPr txBox="1"/>
          <p:nvPr/>
        </p:nvSpPr>
        <p:spPr>
          <a:xfrm>
            <a:off x="594360" y="3787250"/>
            <a:ext cx="74052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b="0" dirty="0">
                <a:solidFill>
                  <a:srgbClr val="171717"/>
                </a:solidFill>
                <a:latin typeface="Aptos"/>
              </a:rPr>
              <a:t>D-Feld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31A1F80-7D09-A48E-4A2A-78273B0D81A0}"/>
              </a:ext>
            </a:extLst>
          </p:cNvPr>
          <p:cNvSpPr txBox="1"/>
          <p:nvPr/>
        </p:nvSpPr>
        <p:spPr>
          <a:xfrm>
            <a:off x="6096000" y="369400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2000" dirty="0">
                <a:solidFill>
                  <a:srgbClr val="171717"/>
                </a:solidFill>
                <a:latin typeface="Aptos"/>
              </a:rPr>
              <a:t>E</a:t>
            </a:r>
            <a:r>
              <a:rPr lang="de-CH" sz="2000" b="0" dirty="0">
                <a:solidFill>
                  <a:srgbClr val="171717"/>
                </a:solidFill>
                <a:latin typeface="Aptos"/>
              </a:rPr>
              <a:t>-Feld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639138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C34E65F-BCA4-FD16-F6F9-C6EEAA8DE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5921E4F-F2FC-11F1-D710-8145CD610B42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D0061C-F619-8208-92C4-8DF17CCB60DA}"/>
              </a:ext>
            </a:extLst>
          </p:cNvPr>
          <p:cNvSpPr txBox="1"/>
          <p:nvPr/>
        </p:nvSpPr>
        <p:spPr>
          <a:xfrm>
            <a:off x="941139" y="542673"/>
            <a:ext cx="275717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Frage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2B5394-968E-8351-6FBA-4C8A010645A1}"/>
              </a:ext>
            </a:extLst>
          </p:cNvPr>
          <p:cNvSpPr txBox="1"/>
          <p:nvPr/>
        </p:nvSpPr>
        <p:spPr>
          <a:xfrm>
            <a:off x="594360" y="932688"/>
            <a:ext cx="7466018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Wie verhaltet sich das D-Feld und E-Feld?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5C790A9F-DCC8-F235-3B51-A5D5D43C4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DDD7-9A47-4A5D-AB1A-C25057A250DD}" type="datetime1">
              <a:rPr lang="de-CH" smtClean="0"/>
              <a:t>30.09.2026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1A7495A4-25C5-30C6-A8B8-9B3C7BACD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W03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70E01B4D-D38F-B5C4-B484-6DF25AA5E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870946-08DC-0290-942E-9081CBBDAC87}"/>
              </a:ext>
            </a:extLst>
          </p:cNvPr>
          <p:cNvSpPr txBox="1">
            <a:spLocks/>
          </p:cNvSpPr>
          <p:nvPr/>
        </p:nvSpPr>
        <p:spPr>
          <a:xfrm>
            <a:off x="5823533" y="1226687"/>
            <a:ext cx="5039999" cy="486000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de-CH" sz="1600" dirty="0"/>
          </a:p>
        </p:txBody>
      </p:sp>
      <p:pic>
        <p:nvPicPr>
          <p:cNvPr id="6" name="Picture Placeholder 8">
            <a:extLst>
              <a:ext uri="{FF2B5EF4-FFF2-40B4-BE49-F238E27FC236}">
                <a16:creationId xmlns:a16="http://schemas.microsoft.com/office/drawing/2014/main" id="{34B13A86-67A8-8833-804A-E3FD953B2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476" b="13219"/>
          <a:stretch>
            <a:fillRect/>
          </a:stretch>
        </p:blipFill>
        <p:spPr>
          <a:xfrm>
            <a:off x="594360" y="3955584"/>
            <a:ext cx="4492674" cy="2407116"/>
          </a:xfrm>
          <a:prstGeom prst="rect">
            <a:avLst/>
          </a:prstGeom>
        </p:spPr>
      </p:pic>
      <p:pic>
        <p:nvPicPr>
          <p:cNvPr id="8" name="Picture 11">
            <a:extLst>
              <a:ext uri="{FF2B5EF4-FFF2-40B4-BE49-F238E27FC236}">
                <a16:creationId xmlns:a16="http://schemas.microsoft.com/office/drawing/2014/main" id="{D4989564-9FB6-BBFC-8C3D-CDB17D2CAD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782" y="3984455"/>
            <a:ext cx="4095750" cy="2458560"/>
          </a:xfrm>
          <a:prstGeom prst="rect">
            <a:avLst/>
          </a:prstGeom>
        </p:spPr>
      </p:pic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E5F5FED7-CD6B-ADDF-DF59-224B4FF1D2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64" b="12406"/>
          <a:stretch>
            <a:fillRect/>
          </a:stretch>
        </p:blipFill>
        <p:spPr>
          <a:xfrm>
            <a:off x="625186" y="1453859"/>
            <a:ext cx="4461848" cy="2390600"/>
          </a:xfrm>
          <a:prstGeom prst="rect">
            <a:avLst/>
          </a:prstGeom>
        </p:spPr>
      </p:pic>
      <p:pic>
        <p:nvPicPr>
          <p:cNvPr id="10" name="Picture 11">
            <a:extLst>
              <a:ext uri="{FF2B5EF4-FFF2-40B4-BE49-F238E27FC236}">
                <a16:creationId xmlns:a16="http://schemas.microsoft.com/office/drawing/2014/main" id="{BD731AA6-42C2-DEB1-6D78-D357F8F6A6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90426" y="1593856"/>
            <a:ext cx="3982534" cy="23905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615DB2E4-0B3F-C149-645B-57BD00A64B51}"/>
                  </a:ext>
                </a:extLst>
              </p:cNvPr>
              <p:cNvSpPr txBox="1"/>
              <p:nvPr/>
            </p:nvSpPr>
            <p:spPr>
              <a:xfrm>
                <a:off x="-405653" y="3469272"/>
                <a:ext cx="206167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de-CH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b="0" i="1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b="0" i="1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de-CH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CH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CH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de-CH" sz="1600" dirty="0"/>
                  <a:t>)</a:t>
                </a:r>
              </a:p>
            </p:txBody>
          </p:sp>
        </mc:Choice>
        <mc:Fallback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615DB2E4-0B3F-C149-645B-57BD00A64B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5653" y="3469272"/>
                <a:ext cx="2061678" cy="338554"/>
              </a:xfrm>
              <a:prstGeom prst="rect">
                <a:avLst/>
              </a:prstGeom>
              <a:blipFill>
                <a:blip r:embed="rId7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6561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35AEE-9685-20F7-7F5B-D1D2E9526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744D4DC-DBCF-001B-EBA4-2BDF808166C7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05463D-0C4E-4930-64E1-D2CF094A12B1}"/>
              </a:ext>
            </a:extLst>
          </p:cNvPr>
          <p:cNvSpPr txBox="1"/>
          <p:nvPr/>
        </p:nvSpPr>
        <p:spPr>
          <a:xfrm>
            <a:off x="893850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795911-C250-43E9-70F6-11897FF88E61}"/>
              </a:ext>
            </a:extLst>
          </p:cNvPr>
          <p:cNvSpPr txBox="1"/>
          <p:nvPr/>
        </p:nvSpPr>
        <p:spPr>
          <a:xfrm>
            <a:off x="594360" y="932688"/>
            <a:ext cx="4304127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Kondensatornetzwerke: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FB907A-3E7B-93B6-A73F-4DD7CB19843F}"/>
              </a:ext>
            </a:extLst>
          </p:cNvPr>
          <p:cNvSpPr txBox="1"/>
          <p:nvPr/>
        </p:nvSpPr>
        <p:spPr>
          <a:xfrm>
            <a:off x="591190" y="1660179"/>
            <a:ext cx="90063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dirty="0">
                <a:solidFill>
                  <a:srgbClr val="171717"/>
                </a:solidFill>
                <a:latin typeface="Aptos"/>
              </a:rPr>
              <a:t>Parallel:</a:t>
            </a:r>
            <a:endParaRPr lang="de-CH" sz="2000" b="0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E78A3547-4DCF-D72C-CFCC-B6C75926D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DDD7-9A47-4A5D-AB1A-C25057A250DD}" type="datetime1">
              <a:rPr lang="de-CH" smtClean="0"/>
              <a:t>30.09.2026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A593480-D2E0-AB68-A680-D166255BF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W03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F60D80D-5033-7909-724F-0B92602FB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CDBE7A3-FC80-54BE-B1FD-E47F70343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03" y="2090550"/>
            <a:ext cx="9164329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634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4D7D3-62FA-421E-44A9-E66A5B4D3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912F319-5C34-6E30-193F-B8204ACBE770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F09DCF-FE2F-94A0-B7A6-9A997DDC281F}"/>
              </a:ext>
            </a:extLst>
          </p:cNvPr>
          <p:cNvSpPr txBox="1"/>
          <p:nvPr/>
        </p:nvSpPr>
        <p:spPr>
          <a:xfrm>
            <a:off x="893850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E4E039-A684-DBAA-75D9-5255F6B3B686}"/>
              </a:ext>
            </a:extLst>
          </p:cNvPr>
          <p:cNvSpPr txBox="1"/>
          <p:nvPr/>
        </p:nvSpPr>
        <p:spPr>
          <a:xfrm>
            <a:off x="594360" y="932688"/>
            <a:ext cx="4304127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Kondensatornetzwerke: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04D97E-77E1-3674-4327-686CFA7C56A2}"/>
              </a:ext>
            </a:extLst>
          </p:cNvPr>
          <p:cNvSpPr txBox="1"/>
          <p:nvPr/>
        </p:nvSpPr>
        <p:spPr>
          <a:xfrm>
            <a:off x="591190" y="1660179"/>
            <a:ext cx="2706767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dirty="0">
                <a:solidFill>
                  <a:srgbClr val="171717"/>
                </a:solidFill>
                <a:latin typeface="Aptos"/>
              </a:rPr>
              <a:t>Serie (Reihenschaltung):</a:t>
            </a:r>
            <a:endParaRPr lang="de-CH" sz="2000" b="0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AC91FB26-6DEB-DFDA-5DB4-DDBAB22F9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DDD7-9A47-4A5D-AB1A-C25057A250DD}" type="datetime1">
              <a:rPr lang="de-CH" smtClean="0"/>
              <a:t>30.09.2026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F446A95-4894-90F9-854B-52645B00C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W03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E4D23A8-25A3-82DA-460B-DAEFCE0FC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1871402-F1B0-25C2-F418-51435C002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72" y="1979700"/>
            <a:ext cx="9716856" cy="324847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7E9B41D-6D97-B082-E1C5-A0B0870D82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850" y="5158674"/>
            <a:ext cx="2267266" cy="924054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789CD779-11B5-685F-50E8-170CC4ED8908}"/>
              </a:ext>
            </a:extLst>
          </p:cNvPr>
          <p:cNvSpPr txBox="1"/>
          <p:nvPr/>
        </p:nvSpPr>
        <p:spPr>
          <a:xfrm>
            <a:off x="3161116" y="5484486"/>
            <a:ext cx="2640723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2000" b="0" dirty="0">
                <a:solidFill>
                  <a:srgbClr val="171717"/>
                </a:solidFill>
                <a:latin typeface="Aptos"/>
              </a:rPr>
              <a:t>Für zwei Kondensa</a:t>
            </a:r>
            <a:r>
              <a:rPr lang="de-CH" sz="2000" dirty="0">
                <a:solidFill>
                  <a:srgbClr val="171717"/>
                </a:solidFill>
                <a:latin typeface="Aptos"/>
              </a:rPr>
              <a:t>toren</a:t>
            </a:r>
            <a:endParaRPr lang="de-CH" sz="2000" b="0" dirty="0">
              <a:solidFill>
                <a:srgbClr val="171717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75073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76DC6-1C3C-34E4-BF6D-62A72EB00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C9DA4D8-FC78-CDB4-8E75-6A515C355B0F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4B31F4-74D1-0ECE-A266-92FD39931DDB}"/>
              </a:ext>
            </a:extLst>
          </p:cNvPr>
          <p:cNvSpPr txBox="1"/>
          <p:nvPr/>
        </p:nvSpPr>
        <p:spPr>
          <a:xfrm>
            <a:off x="873814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ED08A4-3510-0B7F-738D-EE53A48374F7}"/>
              </a:ext>
            </a:extLst>
          </p:cNvPr>
          <p:cNvSpPr txBox="1"/>
          <p:nvPr/>
        </p:nvSpPr>
        <p:spPr>
          <a:xfrm>
            <a:off x="594360" y="932688"/>
            <a:ext cx="2317686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Kondensator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A19BDE93-57A0-D791-1ACC-2C049720C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3DDD7-9A47-4A5D-AB1A-C25057A250DD}" type="datetime1">
              <a:rPr lang="de-CH" smtClean="0"/>
              <a:t>30.09.2026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FA19BA0C-1193-FAB7-0EDD-0ECC7D3D0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Enrico Putzi W03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FD9B5C44-A2A8-C457-C66A-90C35E1B5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766F760-2BF0-D1F8-1D36-5B451434F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1904" y="1409742"/>
            <a:ext cx="8771628" cy="448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2835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3956" y="542673"/>
            <a:ext cx="250068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Ende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5156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00" b="1" dirty="0">
                <a:solidFill>
                  <a:srgbClr val="171717"/>
                </a:solidFill>
                <a:latin typeface="Aptos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09344"/>
            <a:ext cx="969264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dirty="0">
                <a:solidFill>
                  <a:srgbClr val="737373"/>
                </a:solidFill>
                <a:latin typeface="Aptos"/>
              </a:rPr>
              <a:t>Drei Dinge, die </a:t>
            </a:r>
            <a:r>
              <a:rPr sz="1350" b="0" dirty="0" err="1">
                <a:solidFill>
                  <a:srgbClr val="737373"/>
                </a:solidFill>
                <a:latin typeface="Aptos"/>
              </a:rPr>
              <a:t>heute</a:t>
            </a:r>
            <a:r>
              <a:rPr sz="1350" b="0" dirty="0">
                <a:solidFill>
                  <a:srgbClr val="737373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737373"/>
                </a:solidFill>
                <a:latin typeface="Aptos"/>
              </a:rPr>
              <a:t>sitzen</a:t>
            </a:r>
            <a:r>
              <a:rPr sz="1350" b="0" dirty="0">
                <a:solidFill>
                  <a:srgbClr val="737373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737373"/>
                </a:solidFill>
                <a:latin typeface="Aptos"/>
              </a:rPr>
              <a:t>sollten</a:t>
            </a:r>
            <a:r>
              <a:rPr sz="1350" b="0" dirty="0">
                <a:solidFill>
                  <a:srgbClr val="737373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23160"/>
            <a:ext cx="34015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41248" y="269748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37373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246120"/>
            <a:ext cx="3032433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1800" b="1" dirty="0">
                <a:solidFill>
                  <a:srgbClr val="171717"/>
                </a:solidFill>
                <a:latin typeface="Aptos"/>
              </a:rPr>
              <a:t>Was </a:t>
            </a:r>
            <a:r>
              <a:rPr lang="de-CH" b="1" dirty="0">
                <a:solidFill>
                  <a:srgbClr val="171717"/>
                </a:solidFill>
                <a:latin typeface="Aptos"/>
              </a:rPr>
              <a:t>Dipole im Feld anstellen</a:t>
            </a:r>
            <a:endParaRPr sz="18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97680" y="2423160"/>
            <a:ext cx="34015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69748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37373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246120"/>
            <a:ext cx="1708609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1800" b="1" dirty="0">
                <a:solidFill>
                  <a:srgbClr val="171717"/>
                </a:solidFill>
                <a:latin typeface="Aptos"/>
              </a:rPr>
              <a:t>E- und D-Feld an</a:t>
            </a:r>
            <a:br>
              <a:rPr lang="de-CH" sz="1800" b="1" dirty="0">
                <a:solidFill>
                  <a:srgbClr val="171717"/>
                </a:solidFill>
                <a:latin typeface="Aptos"/>
              </a:rPr>
            </a:br>
            <a:r>
              <a:rPr lang="de-CH" sz="1800" b="1" dirty="0">
                <a:solidFill>
                  <a:srgbClr val="171717"/>
                </a:solidFill>
                <a:latin typeface="Aptos"/>
              </a:rPr>
              <a:t>Sprungstellen</a:t>
            </a:r>
            <a:endParaRPr sz="18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01000" y="2423160"/>
            <a:ext cx="34015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269748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37373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246120"/>
            <a:ext cx="160146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b="1" dirty="0">
                <a:solidFill>
                  <a:srgbClr val="171717"/>
                </a:solidFill>
                <a:latin typeface="Aptos"/>
              </a:rPr>
              <a:t>Kondensatoren</a:t>
            </a:r>
            <a:endParaRPr sz="18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1792" y="5074920"/>
            <a:ext cx="18288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71717"/>
                </a:solidFill>
                <a:latin typeface="Aptos"/>
              </a:rPr>
              <a:t>Fragen?</a:t>
            </a:r>
          </a:p>
        </p:txBody>
      </p:sp>
      <p:sp>
        <p:nvSpPr>
          <p:cNvPr id="24" name="Datumsplatzhalter 23">
            <a:extLst>
              <a:ext uri="{FF2B5EF4-FFF2-40B4-BE49-F238E27FC236}">
                <a16:creationId xmlns:a16="http://schemas.microsoft.com/office/drawing/2014/main" id="{2EA94921-0C4B-A8A0-74D0-1080596E2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340D5-AAAC-47DF-8822-9AA2FDC0D351}" type="datetime1">
              <a:rPr lang="de-CH" smtClean="0"/>
              <a:t>30.09.2026</a:t>
            </a:fld>
            <a:endParaRPr lang="en-US" dirty="0"/>
          </a:p>
        </p:txBody>
      </p:sp>
      <p:sp>
        <p:nvSpPr>
          <p:cNvPr id="25" name="Fußzeilenplatzhalter 24">
            <a:extLst>
              <a:ext uri="{FF2B5EF4-FFF2-40B4-BE49-F238E27FC236}">
                <a16:creationId xmlns:a16="http://schemas.microsoft.com/office/drawing/2014/main" id="{9438F619-6A04-AD9B-6C65-51AEB489A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W03</a:t>
            </a:r>
          </a:p>
        </p:txBody>
      </p:sp>
      <p:sp>
        <p:nvSpPr>
          <p:cNvPr id="26" name="Foliennummernplatzhalter 25">
            <a:extLst>
              <a:ext uri="{FF2B5EF4-FFF2-40B4-BE49-F238E27FC236}">
                <a16:creationId xmlns:a16="http://schemas.microsoft.com/office/drawing/2014/main" id="{6A495C1E-4949-515F-CE44-BD0B40A25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1078</Words>
  <Application>Microsoft Office PowerPoint</Application>
  <PresentationFormat>Breitbild</PresentationFormat>
  <Paragraphs>162</Paragraphs>
  <Slides>19</Slides>
  <Notes>19</Notes>
  <HiddenSlides>3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Cambria Math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W03</dc:title>
  <dc:subject/>
  <dc:creator>Enrico Putzi</dc:creator>
  <cp:keywords/>
  <dc:description>generated using python-pptx</dc:description>
  <cp:lastModifiedBy>Putzi  Enrico</cp:lastModifiedBy>
  <cp:revision>22</cp:revision>
  <dcterms:created xsi:type="dcterms:W3CDTF">2013-01-27T09:14:16Z</dcterms:created>
  <dcterms:modified xsi:type="dcterms:W3CDTF">2026-09-30T20:36:12Z</dcterms:modified>
  <cp:category/>
</cp:coreProperties>
</file>