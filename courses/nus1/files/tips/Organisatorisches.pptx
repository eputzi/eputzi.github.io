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2134-6DF5-A370-39DE-F5C28BAB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1BBBE-FBAC-70BB-DF97-7186AA9FE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2DFA6-5D72-8AF9-F045-59511EB5A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263AF-3EC0-ECE3-C621-C162F9CEB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4520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4CA39-B4C3-492A-F48F-25D06AF5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47F9B-BA4E-289E-2381-C5FCB7C7F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BA398-399B-D6E1-8069-9766611F2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E9EB8-7A03-C3E6-78C0-E98E6EC25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31498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3B42-0D53-C570-09A3-48A2E809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2DC3D-9941-3BDD-CCAB-3A73A52D3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658D6-B4EF-4A19-5673-D8E917859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D934-36CC-B8C5-D621-0DC8AACB8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85502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10CA-B6FF-E852-1B0A-F0E2BEE8F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93CEF-5981-0BBB-EB5A-476B845F8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7C6EC-84C7-8E94-4482-346830D93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0E672-2B09-A9F6-0568-D567AEAA8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61127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C239A-7C4D-C181-9B2B-CF4BBFEC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F75A8-D12A-5212-A204-BDBBD7717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2E942-055F-0CE5-4E2E-9244CE0CF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09379-06A2-4A13-41DD-F672D04D0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11282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putzi@ethz.c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ntifex.ethz.ch/site1/" TargetMode="External"/><Relationship Id="rId7" Type="http://schemas.openxmlformats.org/officeDocument/2006/relationships/hyperlink" Target="https://www.youtube.com/watch?v=NlGysPeUli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A76JpF7ktCI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iml.pearson.com/LMS/login2.ph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46120"/>
            <a:ext cx="224407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100" b="1" dirty="0">
                <a:solidFill>
                  <a:srgbClr val="737373"/>
                </a:solidFill>
                <a:latin typeface="Aptos"/>
              </a:rPr>
              <a:t>Organisatorisches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189154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dirty="0">
                <a:solidFill>
                  <a:srgbClr val="737373"/>
                </a:solidFill>
                <a:latin typeface="Aptos"/>
              </a:rPr>
              <a:t>Allgemein und Tipps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D1A7063-BF8F-D128-C379-07FCFED4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F78FDD6A-A394-1FCD-8583-FB60743A0344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BF6474E-4BD2-B092-9694-D1C358832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313F6584-2A96-A1C7-262C-4C3917D060BF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2253" y="542673"/>
            <a:ext cx="79348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Organisatorisch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242162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Willkommen!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59382"/>
            <a:ext cx="9303829" cy="18466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Fragen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über Padlet: https://padlet.com/eputzi/fragen-nus1-s023kc9ers4rnija2ohk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Individuelle Fragen an: </a:t>
            </a:r>
            <a:r>
              <a:rPr lang="de-CH" sz="2000" b="0" dirty="0">
                <a:solidFill>
                  <a:srgbClr val="171717"/>
                </a:solidFill>
                <a:latin typeface="Aptos"/>
                <a:hlinkClick r:id="rId3"/>
              </a:rPr>
              <a:t>eputzi@ethz.ch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algn="l"/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48A0-C60E-31AF-3510-A3D95A8D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C01E05C-9583-7AAC-72F5-0E975AEA6D6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26155-C532-BD83-DDD6-49A4585E81ED}"/>
              </a:ext>
            </a:extLst>
          </p:cNvPr>
          <p:cNvSpPr txBox="1"/>
          <p:nvPr/>
        </p:nvSpPr>
        <p:spPr>
          <a:xfrm>
            <a:off x="953959" y="542673"/>
            <a:ext cx="2500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Infos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9C2F7-76B7-0ACE-8EBD-ED3F2E49E67B}"/>
              </a:ext>
            </a:extLst>
          </p:cNvPr>
          <p:cNvSpPr txBox="1"/>
          <p:nvPr/>
        </p:nvSpPr>
        <p:spPr>
          <a:xfrm>
            <a:off x="594360" y="932688"/>
            <a:ext cx="231281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Notenbonus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861B230D-FDC0-05F0-3737-D12845E2DB9C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ABE367-0201-CD62-5068-03F230CB22C1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B1AA3-9656-8ABF-F5EE-A5911D6056F5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5E76A-384D-2204-1B8C-863D4EA72221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FB02A2C-778D-107A-8482-3EF761F707BC}"/>
              </a:ext>
            </a:extLst>
          </p:cNvPr>
          <p:cNvSpPr txBox="1">
            <a:spLocks/>
          </p:cNvSpPr>
          <p:nvPr/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de-CH" sz="2000" dirty="0"/>
              <a:t>Es ist möglich einen </a:t>
            </a:r>
            <a:r>
              <a:rPr lang="de-CH" sz="2000" b="1" dirty="0"/>
              <a:t>Notenbonus von bis zu 0.25 </a:t>
            </a:r>
            <a:r>
              <a:rPr lang="de-CH" sz="2000" dirty="0"/>
              <a:t>auf die Endnote der Prüfung zu bekommen:</a:t>
            </a:r>
          </a:p>
          <a:p>
            <a:r>
              <a:rPr lang="de-CH" sz="2000" dirty="0"/>
              <a:t>Lesekontrollfragen bis Sonntag 18:00 vor der Vorlesung beantworten</a:t>
            </a:r>
          </a:p>
          <a:p>
            <a:pPr lvl="1"/>
            <a:r>
              <a:rPr lang="de-CH" sz="1800" dirty="0"/>
              <a:t>So viele Versuche wie gewollt, bester Versuch wird bewertet</a:t>
            </a:r>
          </a:p>
          <a:p>
            <a:r>
              <a:rPr lang="de-CH" sz="2000" dirty="0"/>
              <a:t>Bonusaufgaben bis Sonntag 18:00 vor der Vorlesung lösen</a:t>
            </a:r>
          </a:p>
          <a:p>
            <a:pPr lvl="1"/>
            <a:r>
              <a:rPr lang="de-CH" sz="1800" dirty="0"/>
              <a:t>So viele Versuche wie gewollt, bester Versuch wird bewertet</a:t>
            </a:r>
          </a:p>
          <a:p>
            <a:r>
              <a:rPr lang="de-CH" sz="2000" dirty="0"/>
              <a:t>300 Pkt. während des Semesters erreichbar.</a:t>
            </a:r>
          </a:p>
          <a:p>
            <a:r>
              <a:rPr lang="de-CH" sz="2000" dirty="0"/>
              <a:t>Ende des Semesters gibt es ein paar Extraaufgaben, falls mal eine Woche die Aufgaben nicht beantwortet werden können</a:t>
            </a:r>
          </a:p>
          <a:p>
            <a:endParaRPr lang="en-US" sz="2000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679BC7FD-DD31-DCB8-8DE2-AFBF8543C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81202"/>
              </p:ext>
            </p:extLst>
          </p:nvPr>
        </p:nvGraphicFramePr>
        <p:xfrm>
          <a:off x="7322466" y="4332887"/>
          <a:ext cx="3658394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2451">
                  <a:extLst>
                    <a:ext uri="{9D8B030D-6E8A-4147-A177-3AD203B41FA5}">
                      <a16:colId xmlns:a16="http://schemas.microsoft.com/office/drawing/2014/main" val="2400141419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104252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erreichte Punkte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Notenbonus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75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dirty="0"/>
                        <a:t>&lt;</a:t>
                      </a:r>
                      <a:r>
                        <a:rPr lang="de-CH" baseline="0" dirty="0"/>
                        <a:t> </a:t>
                      </a:r>
                      <a:r>
                        <a:rPr lang="de-CH" dirty="0"/>
                        <a:t>140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972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140 - 280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linear interpoliert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526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≥ 280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0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992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0338E-13ED-938D-6B4B-D8FFEDC5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C70DEA4-9FC7-0644-1D8B-64538032122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0FC5F-42E9-0979-6C03-2950F3399913}"/>
              </a:ext>
            </a:extLst>
          </p:cNvPr>
          <p:cNvSpPr txBox="1"/>
          <p:nvPr/>
        </p:nvSpPr>
        <p:spPr>
          <a:xfrm>
            <a:off x="953959" y="542673"/>
            <a:ext cx="2500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Infos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D049A-E7C8-92F2-6A1C-A810527BA4F6}"/>
              </a:ext>
            </a:extLst>
          </p:cNvPr>
          <p:cNvSpPr txBox="1"/>
          <p:nvPr/>
        </p:nvSpPr>
        <p:spPr>
          <a:xfrm>
            <a:off x="594360" y="932688"/>
            <a:ext cx="235769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Study Center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476A430-6004-EB4B-1E15-58575F808250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B5EE13-0F06-FDEC-EDCE-6B65B4DD98FD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F1818-3A0A-2BAB-59DC-4744D90D85DA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28CFC-EE1B-5E99-0895-CFCAB3471ED6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F0A127-56B8-B5FC-51FD-8D2EC188119C}"/>
              </a:ext>
            </a:extLst>
          </p:cNvPr>
          <p:cNvSpPr txBox="1">
            <a:spLocks/>
          </p:cNvSpPr>
          <p:nvPr/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400" dirty="0"/>
              <a:t>Alle Study Center </a:t>
            </a:r>
            <a:r>
              <a:rPr lang="de-CH" sz="2400" b="1" dirty="0"/>
              <a:t>mittwochs von 12:00 bis 14:00 </a:t>
            </a:r>
            <a:r>
              <a:rPr lang="de-CH" sz="2400" dirty="0"/>
              <a:t>ab der zweiten Woche</a:t>
            </a:r>
          </a:p>
          <a:p>
            <a:pPr lvl="1"/>
            <a:r>
              <a:rPr lang="de-CH" sz="2000" b="1" dirty="0"/>
              <a:t>Netzwerke und Schaltungen: GLC E 29.2</a:t>
            </a:r>
          </a:p>
          <a:p>
            <a:pPr lvl="1"/>
            <a:r>
              <a:rPr lang="de-CH" sz="2000" dirty="0"/>
              <a:t>Technische Mechanik: GLC E 24</a:t>
            </a:r>
          </a:p>
          <a:p>
            <a:pPr lvl="1"/>
            <a:r>
              <a:rPr lang="de-CH" sz="2000" dirty="0"/>
              <a:t>Digitaltechnik: GLC E 29.1</a:t>
            </a:r>
          </a:p>
          <a:p>
            <a:pPr lvl="1"/>
            <a:r>
              <a:rPr lang="de-CH" sz="2000" dirty="0"/>
              <a:t>Lineare Algebra: GLC E 34.1</a:t>
            </a:r>
          </a:p>
          <a:p>
            <a:pPr lvl="1"/>
            <a:r>
              <a:rPr lang="de-CH" sz="2000" dirty="0"/>
              <a:t>Analysis I: GLC E 34.2</a:t>
            </a:r>
          </a:p>
          <a:p>
            <a:pPr lvl="1"/>
            <a:endParaRPr lang="de-CH" sz="2000" dirty="0"/>
          </a:p>
          <a:p>
            <a:r>
              <a:rPr lang="de-CH" sz="2400" dirty="0"/>
              <a:t>Zusammen lernen</a:t>
            </a:r>
          </a:p>
          <a:p>
            <a:r>
              <a:rPr lang="de-CH" sz="2400" dirty="0"/>
              <a:t>TAs sind vor Ort und beantworten Fragen</a:t>
            </a:r>
            <a:endParaRPr lang="en-US" sz="2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5338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AB53-43B5-CD8C-4022-C97A4CAB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0BC5DE3-C5BD-23DF-C557-CB8F0A26BBC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B70D2-7C9C-14D1-A9A5-C215EF374D65}"/>
              </a:ext>
            </a:extLst>
          </p:cNvPr>
          <p:cNvSpPr txBox="1"/>
          <p:nvPr/>
        </p:nvSpPr>
        <p:spPr>
          <a:xfrm>
            <a:off x="953959" y="542673"/>
            <a:ext cx="2500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Infos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15DA6-6BCB-5075-71E0-7BB6013D4559}"/>
              </a:ext>
            </a:extLst>
          </p:cNvPr>
          <p:cNvSpPr txBox="1"/>
          <p:nvPr/>
        </p:nvSpPr>
        <p:spPr>
          <a:xfrm>
            <a:off x="594360" y="932688"/>
            <a:ext cx="349480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Weitere Unterlagen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597F331-79C9-BAFA-0D54-C83F8458DA7D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4865CF2-9A73-4EF1-C67D-E7862592D224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D07A2-E645-8133-665F-1687A737064E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A3A287-907E-D35E-E0E9-263C85F9C496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D67915-AE26-41E6-0830-3E6D6C5068F8}"/>
              </a:ext>
            </a:extLst>
          </p:cNvPr>
          <p:cNvSpPr txBox="1">
            <a:spLocks/>
          </p:cNvSpPr>
          <p:nvPr/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400" dirty="0"/>
              <a:t>Brückenkurs Mathematik (ihr habt einen persönlichen link zu </a:t>
            </a:r>
            <a:r>
              <a:rPr lang="de-CH" sz="2400" dirty="0">
                <a:hlinkClick r:id="rId3"/>
              </a:rPr>
              <a:t>https://pontifex.ethz.ch/site1/</a:t>
            </a:r>
            <a:r>
              <a:rPr lang="de-CH" sz="2400" dirty="0"/>
              <a:t> per email gekriegt)</a:t>
            </a:r>
          </a:p>
          <a:p>
            <a:pPr lvl="1"/>
            <a:r>
              <a:rPr lang="de-CH" sz="2000" dirty="0"/>
              <a:t>Integralrechnung</a:t>
            </a:r>
          </a:p>
          <a:p>
            <a:pPr lvl="1"/>
            <a:r>
              <a:rPr lang="de-CH" sz="2000" dirty="0"/>
              <a:t>Vektorgeometrie</a:t>
            </a:r>
          </a:p>
          <a:p>
            <a:r>
              <a:rPr lang="de-CH" sz="2400" dirty="0" err="1"/>
              <a:t>Moodle</a:t>
            </a:r>
            <a:endParaRPr lang="de-CH" sz="2400" dirty="0"/>
          </a:p>
          <a:p>
            <a:r>
              <a:rPr lang="de-CH" sz="2400" dirty="0"/>
              <a:t>Albach Buch und Übungsbuch</a:t>
            </a:r>
          </a:p>
          <a:p>
            <a:pPr lvl="1"/>
            <a:r>
              <a:rPr lang="de-CH" sz="2000" dirty="0"/>
              <a:t>Online-Übungsplattform Zugang bei Kauf des Buches (</a:t>
            </a:r>
            <a:r>
              <a:rPr lang="de-CH" sz="2000" dirty="0">
                <a:hlinkClick r:id="rId4"/>
              </a:rPr>
              <a:t>https://iml.pearson.com/LMS/login2.php</a:t>
            </a:r>
            <a:r>
              <a:rPr lang="de-CH" sz="2000" dirty="0"/>
              <a:t> oder über </a:t>
            </a:r>
            <a:r>
              <a:rPr lang="de-CH" sz="2000" dirty="0" err="1"/>
              <a:t>AppStore</a:t>
            </a:r>
            <a:r>
              <a:rPr lang="de-CH" sz="2000" dirty="0"/>
              <a:t> (</a:t>
            </a:r>
            <a:r>
              <a:rPr lang="de-CH" sz="2000" dirty="0" err="1"/>
              <a:t>LearningPlace</a:t>
            </a:r>
            <a:r>
              <a:rPr lang="de-CH" sz="2000" dirty="0"/>
              <a:t>))</a:t>
            </a:r>
          </a:p>
          <a:p>
            <a:endParaRPr lang="en-US" sz="1100" dirty="0"/>
          </a:p>
        </p:txBody>
      </p:sp>
      <p:grpSp>
        <p:nvGrpSpPr>
          <p:cNvPr id="10" name="Group 5">
            <a:extLst>
              <a:ext uri="{FF2B5EF4-FFF2-40B4-BE49-F238E27FC236}">
                <a16:creationId xmlns:a16="http://schemas.microsoft.com/office/drawing/2014/main" id="{F57ACBB0-05AC-DC2B-7E48-7543F4C0BB5B}"/>
              </a:ext>
            </a:extLst>
          </p:cNvPr>
          <p:cNvGrpSpPr/>
          <p:nvPr/>
        </p:nvGrpSpPr>
        <p:grpSpPr>
          <a:xfrm>
            <a:off x="3270142" y="4810781"/>
            <a:ext cx="8744293" cy="1589093"/>
            <a:chOff x="3270142" y="4810781"/>
            <a:chExt cx="8744293" cy="1589093"/>
          </a:xfrm>
        </p:grpSpPr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2D8103C1-5128-D651-BFBB-77C48C3DE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70142" y="4810781"/>
              <a:ext cx="2494482" cy="890022"/>
            </a:xfrm>
            <a:prstGeom prst="rect">
              <a:avLst/>
            </a:prstGeom>
          </p:spPr>
        </p:pic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9FE9FCA1-2143-AF41-6C6C-1993926FE2E7}"/>
                </a:ext>
              </a:extLst>
            </p:cNvPr>
            <p:cNvSpPr txBox="1"/>
            <p:nvPr/>
          </p:nvSpPr>
          <p:spPr>
            <a:xfrm>
              <a:off x="3270142" y="5753543"/>
              <a:ext cx="8744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dirty="0"/>
                <a:t>#04 – Vereinfachung Wegintegral </a:t>
              </a:r>
              <a:r>
                <a:rPr lang="de-CH" sz="1400" dirty="0"/>
                <a:t>(</a:t>
              </a:r>
              <a:r>
                <a:rPr lang="de-CH" sz="1400" dirty="0">
                  <a:hlinkClick r:id="rId6"/>
                </a:rPr>
                <a:t>https://www.youtube.com/watch?v=A76JpF7ktCI</a:t>
              </a:r>
              <a:r>
                <a:rPr lang="de-CH" sz="1400" dirty="0"/>
                <a:t>)</a:t>
              </a:r>
            </a:p>
            <a:p>
              <a:r>
                <a:rPr lang="de-CH" dirty="0"/>
                <a:t>#03 – Vereinfachung Oberflächenintegral </a:t>
              </a:r>
              <a:r>
                <a:rPr lang="de-CH" sz="1400" dirty="0"/>
                <a:t>(</a:t>
              </a:r>
              <a:r>
                <a:rPr lang="de-CH" sz="1400" dirty="0">
                  <a:hlinkClick r:id="rId7"/>
                </a:rPr>
                <a:t>https://www.youtube.com/watch?v=NlGysPeUliY</a:t>
              </a:r>
              <a:r>
                <a:rPr lang="de-CH" sz="1400" dirty="0"/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310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B4D1-74D8-97C2-C379-21BE7E8E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DC1B3B0-D8E6-3871-B68F-0C4B244B687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425F5-89F2-CBD2-D8B5-503E8CFA14B3}"/>
              </a:ext>
            </a:extLst>
          </p:cNvPr>
          <p:cNvSpPr txBox="1"/>
          <p:nvPr/>
        </p:nvSpPr>
        <p:spPr>
          <a:xfrm>
            <a:off x="933926" y="542673"/>
            <a:ext cx="290143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Tipps 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A2DFC-FB74-69C9-1941-699F32029BF3}"/>
              </a:ext>
            </a:extLst>
          </p:cNvPr>
          <p:cNvSpPr txBox="1"/>
          <p:nvPr/>
        </p:nvSpPr>
        <p:spPr>
          <a:xfrm>
            <a:off x="594360" y="932688"/>
            <a:ext cx="97622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Tipps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275FED63-5E0E-73C0-B176-36C60BF4764E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E650F4-952D-6710-5B80-38306D561920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0EEEC-E940-FA94-F0EE-4A2C98A9AFF1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880BB-7673-E923-4EE8-E00FFD6AF775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4F4BA-CBB6-A6B2-2BCC-BB2E841CD1B3}"/>
              </a:ext>
            </a:extLst>
          </p:cNvPr>
          <p:cNvSpPr txBox="1"/>
          <p:nvPr/>
        </p:nvSpPr>
        <p:spPr>
          <a:xfrm>
            <a:off x="914400" y="1959382"/>
            <a:ext cx="7643183" cy="24622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Bleibt am Ball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Niemand kann alles sofort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Versucht das Study Center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Probiert Übungsstunden aus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Nus Infos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-Buch/Vorlesung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-Übungen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-Pearson Lernplattform (https://iml.pearson.com/LMS/login2.php)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5" name="Grafik 4" descr="Messi bis 2018 bei Barcelona - Vorarlberger Nachrichten | VN.at">
            <a:extLst>
              <a:ext uri="{FF2B5EF4-FFF2-40B4-BE49-F238E27FC236}">
                <a16:creationId xmlns:a16="http://schemas.microsoft.com/office/drawing/2014/main" id="{1F4AAACA-20B9-404C-3BCA-91EEF9AD7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283" y="1189502"/>
            <a:ext cx="1436221" cy="180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9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4AFF-4317-3391-A0C0-78363581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31C4D0-7908-3B56-41AB-7F6A9B0F025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94355-F808-547E-DCD5-D11CEEAB88AF}"/>
              </a:ext>
            </a:extLst>
          </p:cNvPr>
          <p:cNvSpPr txBox="1"/>
          <p:nvPr/>
        </p:nvSpPr>
        <p:spPr>
          <a:xfrm>
            <a:off x="933926" y="542673"/>
            <a:ext cx="290143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Tipps 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305AE-AFF9-04B2-38AE-48DB9D7F9683}"/>
              </a:ext>
            </a:extLst>
          </p:cNvPr>
          <p:cNvSpPr txBox="1"/>
          <p:nvPr/>
        </p:nvSpPr>
        <p:spPr>
          <a:xfrm>
            <a:off x="594360" y="932688"/>
            <a:ext cx="300755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Apps/Webseiten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41DD580-D8DE-3B08-A36C-99FB586C5515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018A80-7E63-69BD-B549-43C36E3FDC94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0E35C-C0E6-2D4A-C623-E2594295C594}"/>
              </a:ext>
            </a:extLst>
          </p:cNvPr>
          <p:cNvSpPr txBox="1"/>
          <p:nvPr/>
        </p:nvSpPr>
        <p:spPr>
          <a:xfrm>
            <a:off x="10074075" y="6492240"/>
            <a:ext cx="578685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60277-AFC3-96E2-D29F-E5282C632803}"/>
              </a:ext>
            </a:extLst>
          </p:cNvPr>
          <p:cNvSpPr txBox="1"/>
          <p:nvPr/>
        </p:nvSpPr>
        <p:spPr>
          <a:xfrm>
            <a:off x="10835640" y="6492240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737373"/>
                </a:solidFill>
                <a:latin typeface="Aptos"/>
              </a:rPr>
              <a:t>W01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25E55-3830-04F7-7895-C5432A7C2748}"/>
              </a:ext>
            </a:extLst>
          </p:cNvPr>
          <p:cNvSpPr txBox="1"/>
          <p:nvPr/>
        </p:nvSpPr>
        <p:spPr>
          <a:xfrm>
            <a:off x="914400" y="1959382"/>
            <a:ext cx="5987858" cy="18466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 err="1">
                <a:solidFill>
                  <a:srgbClr val="171717"/>
                </a:solidFill>
                <a:latin typeface="Aptos"/>
              </a:rPr>
              <a:t>MyStudies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: Belegungen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 err="1">
                <a:solidFill>
                  <a:srgbClr val="171717"/>
                </a:solidFill>
                <a:latin typeface="Aptos"/>
              </a:rPr>
              <a:t>EduApp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: Klickerfragen, Stundenpläne und ETH-Link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ASVZ: Sport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ETH Zürich: Menüpläne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AMIV: Zusammenfassungen und Altklausuren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 err="1">
                <a:solidFill>
                  <a:srgbClr val="171717"/>
                </a:solidFill>
                <a:latin typeface="Aptos"/>
              </a:rPr>
              <a:t>Polybox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: Speicher </a:t>
            </a:r>
          </a:p>
        </p:txBody>
      </p:sp>
    </p:spTree>
    <p:extLst>
      <p:ext uri="{BB962C8B-B14F-4D97-AF65-F5344CB8AC3E}">
        <p14:creationId xmlns:p14="http://schemas.microsoft.com/office/powerpoint/2010/main" val="4243712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Breitbild</PresentationFormat>
  <Paragraphs>91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Organisatorisches zu NUS1</dc:title>
  <dc:subject/>
  <dc:creator>Enrico Putzi</dc:creator>
  <cp:keywords/>
  <dc:description>generated using python-pptx</dc:description>
  <cp:lastModifiedBy>Putzi  Enrico</cp:lastModifiedBy>
  <cp:revision>16</cp:revision>
  <dcterms:created xsi:type="dcterms:W3CDTF">2013-01-27T09:14:16Z</dcterms:created>
  <dcterms:modified xsi:type="dcterms:W3CDTF">2026-09-16T19:11:18Z</dcterms:modified>
  <cp:category/>
</cp:coreProperties>
</file>